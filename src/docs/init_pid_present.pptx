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8" r:id="rId3"/>
    <p:sldId id="259" r:id="rId4"/>
    <p:sldId id="260" r:id="rId5"/>
    <p:sldId id="262" r:id="rId6"/>
    <p:sldId id="257" r:id="rId7"/>
    <p:sldId id="263" r:id="rId8"/>
    <p:sldId id="264" r:id="rId9"/>
    <p:sldId id="287" r:id="rId10"/>
    <p:sldId id="272" r:id="rId11"/>
    <p:sldId id="289" r:id="rId12"/>
    <p:sldId id="267" r:id="rId13"/>
    <p:sldId id="273" r:id="rId14"/>
    <p:sldId id="274" r:id="rId15"/>
    <p:sldId id="275" r:id="rId16"/>
    <p:sldId id="276" r:id="rId17"/>
    <p:sldId id="277" r:id="rId18"/>
    <p:sldId id="278" r:id="rId19"/>
    <p:sldId id="280" r:id="rId20"/>
    <p:sldId id="288" r:id="rId21"/>
    <p:sldId id="282" r:id="rId22"/>
    <p:sldId id="283" r:id="rId23"/>
    <p:sldId id="284" r:id="rId24"/>
    <p:sldId id="285" r:id="rId25"/>
    <p:sldId id="28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85CEFC-9A99-4247-8146-A0F4CE87794F}" type="doc">
      <dgm:prSet loTypeId="urn:microsoft.com/office/officeart/2016/7/layout/VerticalDownArrowProcess" loCatId="process" qsTypeId="urn:microsoft.com/office/officeart/2005/8/quickstyle/simple1" qsCatId="simple" csTypeId="urn:microsoft.com/office/officeart/2005/8/colors/colorful5" csCatId="colorful" phldr="1"/>
      <dgm:spPr/>
      <dgm:t>
        <a:bodyPr/>
        <a:lstStyle/>
        <a:p>
          <a:endParaRPr lang="en-US"/>
        </a:p>
      </dgm:t>
    </dgm:pt>
    <dgm:pt modelId="{C33F000C-02EE-4085-BD64-BF8F7165F9BC}">
      <dgm:prSet custT="1"/>
      <dgm:spPr/>
      <dgm:t>
        <a:bodyPr/>
        <a:lstStyle/>
        <a:p>
          <a:endParaRPr lang="en-US" sz="1300"/>
        </a:p>
        <a:p>
          <a:r>
            <a:rPr lang="en-US" sz="1500">
              <a:latin typeface="Arial" panose="020B0604020202020204" pitchFamily="34" charset="0"/>
              <a:cs typeface="Arial" panose="020B0604020202020204" pitchFamily="34" charset="0"/>
            </a:rPr>
            <a:t>Packing Density Model</a:t>
          </a:r>
          <a:endParaRPr lang="en-US" sz="1500" dirty="0">
            <a:latin typeface="Arial" panose="020B0604020202020204" pitchFamily="34" charset="0"/>
            <a:cs typeface="Arial" panose="020B0604020202020204" pitchFamily="34" charset="0"/>
          </a:endParaRPr>
        </a:p>
      </dgm:t>
    </dgm:pt>
    <dgm:pt modelId="{FBF92A0B-D82E-4C7C-AF22-D009D7AB2D34}" type="parTrans" cxnId="{F715BE65-44D1-4AB2-BA78-D291AE083838}">
      <dgm:prSet/>
      <dgm:spPr/>
      <dgm:t>
        <a:bodyPr/>
        <a:lstStyle/>
        <a:p>
          <a:endParaRPr lang="en-US"/>
        </a:p>
      </dgm:t>
    </dgm:pt>
    <dgm:pt modelId="{6B007751-E818-44DF-A7C0-38DD7B91EE11}" type="sibTrans" cxnId="{F715BE65-44D1-4AB2-BA78-D291AE083838}">
      <dgm:prSet/>
      <dgm:spPr/>
      <dgm:t>
        <a:bodyPr/>
        <a:lstStyle/>
        <a:p>
          <a:endParaRPr lang="en-US"/>
        </a:p>
      </dgm:t>
    </dgm:pt>
    <dgm:pt modelId="{920FE240-380B-4954-A152-4108064F7346}">
      <dgm:prSet custT="1"/>
      <dgm:spPr/>
      <dgm:t>
        <a:bodyPr/>
        <a:lstStyle/>
        <a:p>
          <a:r>
            <a:rPr lang="en-US" sz="1500">
              <a:latin typeface="Arial" panose="020B0604020202020204" pitchFamily="34" charset="0"/>
              <a:cs typeface="Arial" panose="020B0604020202020204" pitchFamily="34" charset="0"/>
            </a:rPr>
            <a:t>Fragment Size and Spatial Distribution Considerations</a:t>
          </a:r>
          <a:endParaRPr lang="en-US" sz="1500" dirty="0">
            <a:latin typeface="Arial" panose="020B0604020202020204" pitchFamily="34" charset="0"/>
            <a:cs typeface="Arial" panose="020B0604020202020204" pitchFamily="34" charset="0"/>
          </a:endParaRPr>
        </a:p>
      </dgm:t>
    </dgm:pt>
    <dgm:pt modelId="{0240A66C-BDDE-40CB-BF17-1C84D86C1A18}" type="parTrans" cxnId="{5B3B2F7B-BC90-415A-BEAF-B818224EC31D}">
      <dgm:prSet/>
      <dgm:spPr/>
      <dgm:t>
        <a:bodyPr/>
        <a:lstStyle/>
        <a:p>
          <a:endParaRPr lang="en-US"/>
        </a:p>
      </dgm:t>
    </dgm:pt>
    <dgm:pt modelId="{4886A551-4D45-4149-B095-47A7ACFF410E}" type="sibTrans" cxnId="{5B3B2F7B-BC90-415A-BEAF-B818224EC31D}">
      <dgm:prSet/>
      <dgm:spPr/>
      <dgm:t>
        <a:bodyPr/>
        <a:lstStyle/>
        <a:p>
          <a:endParaRPr lang="en-US"/>
        </a:p>
      </dgm:t>
    </dgm:pt>
    <dgm:pt modelId="{15E5A457-8F6A-46B4-9681-18C38890C43D}">
      <dgm:prSet custT="1"/>
      <dgm:spPr/>
      <dgm:t>
        <a:bodyPr/>
        <a:lstStyle/>
        <a:p>
          <a:r>
            <a:rPr lang="en-US" sz="1300">
              <a:latin typeface="Arial" panose="020B0604020202020204" pitchFamily="34" charset="0"/>
              <a:cs typeface="Arial" panose="020B0604020202020204" pitchFamily="34" charset="0"/>
            </a:rPr>
            <a:t>Normal Distribution of Fragments  </a:t>
          </a:r>
          <a:r>
            <a:rPr lang="en-US" sz="1300" b="0">
              <a:solidFill>
                <a:srgbClr val="FFC000"/>
              </a:solidFill>
              <a:latin typeface="Arial" panose="020B0604020202020204" pitchFamily="34" charset="0"/>
              <a:cs typeface="Arial" panose="020B0604020202020204" pitchFamily="34" charset="0"/>
            </a:rPr>
            <a:t>★</a:t>
          </a:r>
          <a:endParaRPr lang="en-US" sz="1300" dirty="0">
            <a:solidFill>
              <a:srgbClr val="FFC000"/>
            </a:solidFill>
            <a:latin typeface="Arial" panose="020B0604020202020204" pitchFamily="34" charset="0"/>
            <a:cs typeface="Arial" panose="020B0604020202020204" pitchFamily="34" charset="0"/>
          </a:endParaRPr>
        </a:p>
      </dgm:t>
    </dgm:pt>
    <dgm:pt modelId="{3730776F-020F-435F-8E52-92D36B493D5B}" type="parTrans" cxnId="{F5E7B5E3-5A2B-4DEE-ADBB-8610A802E6FA}">
      <dgm:prSet/>
      <dgm:spPr/>
      <dgm:t>
        <a:bodyPr/>
        <a:lstStyle/>
        <a:p>
          <a:endParaRPr lang="en-US"/>
        </a:p>
      </dgm:t>
    </dgm:pt>
    <dgm:pt modelId="{F92884A0-26EA-4C66-A39B-C36085CBD45A}" type="sibTrans" cxnId="{F5E7B5E3-5A2B-4DEE-ADBB-8610A802E6FA}">
      <dgm:prSet/>
      <dgm:spPr/>
      <dgm:t>
        <a:bodyPr/>
        <a:lstStyle/>
        <a:p>
          <a:endParaRPr lang="en-US"/>
        </a:p>
      </dgm:t>
    </dgm:pt>
    <dgm:pt modelId="{D5054D3F-A5E8-4D19-BD61-A71EB3405B51}">
      <dgm:prSet custT="1"/>
      <dgm:spPr/>
      <dgm:t>
        <a:bodyPr/>
        <a:lstStyle/>
        <a:p>
          <a:r>
            <a:rPr lang="en-US" sz="1300">
              <a:latin typeface="Arial" panose="020B0604020202020204" pitchFamily="34" charset="0"/>
              <a:cs typeface="Arial" panose="020B0604020202020204" pitchFamily="34" charset="0"/>
            </a:rPr>
            <a:t>Fragment Size Dependency</a:t>
          </a:r>
          <a:endParaRPr lang="en-US" sz="1300" dirty="0">
            <a:latin typeface="Arial" panose="020B0604020202020204" pitchFamily="34" charset="0"/>
            <a:cs typeface="Arial" panose="020B0604020202020204" pitchFamily="34" charset="0"/>
          </a:endParaRPr>
        </a:p>
      </dgm:t>
    </dgm:pt>
    <dgm:pt modelId="{9FF8E683-005B-42CB-9189-AA123C17C6A2}" type="parTrans" cxnId="{7D280D24-698B-42DD-B153-BFF64282B2C1}">
      <dgm:prSet/>
      <dgm:spPr/>
      <dgm:t>
        <a:bodyPr/>
        <a:lstStyle/>
        <a:p>
          <a:endParaRPr lang="en-US"/>
        </a:p>
      </dgm:t>
    </dgm:pt>
    <dgm:pt modelId="{30909451-50F1-42B6-BEE8-CEF7DC996BBB}" type="sibTrans" cxnId="{7D280D24-698B-42DD-B153-BFF64282B2C1}">
      <dgm:prSet/>
      <dgm:spPr/>
      <dgm:t>
        <a:bodyPr/>
        <a:lstStyle/>
        <a:p>
          <a:endParaRPr lang="en-US"/>
        </a:p>
      </dgm:t>
    </dgm:pt>
    <dgm:pt modelId="{4C5D4C58-7156-477D-BF53-4A7FDBE497A4}">
      <dgm:prSet custT="1"/>
      <dgm:spPr/>
      <dgm:t>
        <a:bodyPr/>
        <a:lstStyle/>
        <a:p>
          <a:endParaRPr lang="en-US" sz="13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Evolution of PID Cloud with Time</a:t>
          </a:r>
        </a:p>
      </dgm:t>
    </dgm:pt>
    <dgm:pt modelId="{87485C08-A431-4066-9B4B-B94CA7AF7101}" type="parTrans" cxnId="{CA9F0475-66D9-45FC-B63A-01F9A95309EE}">
      <dgm:prSet/>
      <dgm:spPr/>
      <dgm:t>
        <a:bodyPr/>
        <a:lstStyle/>
        <a:p>
          <a:endParaRPr lang="en-US"/>
        </a:p>
      </dgm:t>
    </dgm:pt>
    <dgm:pt modelId="{A7516B82-304E-45B3-8FEF-E82B08F3E72C}" type="sibTrans" cxnId="{CA9F0475-66D9-45FC-B63A-01F9A95309EE}">
      <dgm:prSet/>
      <dgm:spPr/>
      <dgm:t>
        <a:bodyPr/>
        <a:lstStyle/>
        <a:p>
          <a:endParaRPr lang="en-US"/>
        </a:p>
      </dgm:t>
    </dgm:pt>
    <dgm:pt modelId="{74F64B91-BA1E-4885-8555-CE202A4278A4}">
      <dgm:prSet custT="1"/>
      <dgm:spPr/>
      <dgm:t>
        <a:bodyPr/>
        <a:lstStyle/>
        <a:p>
          <a:r>
            <a:rPr lang="en-US" sz="1500">
              <a:latin typeface="Arial" panose="020B0604020202020204" pitchFamily="34" charset="0"/>
              <a:cs typeface="Arial" panose="020B0604020202020204" pitchFamily="34" charset="0"/>
            </a:rPr>
            <a:t>Orbital Mechanics</a:t>
          </a:r>
          <a:endParaRPr lang="en-US" sz="1500" dirty="0">
            <a:latin typeface="Arial" panose="020B0604020202020204" pitchFamily="34" charset="0"/>
            <a:cs typeface="Arial" panose="020B0604020202020204" pitchFamily="34" charset="0"/>
          </a:endParaRPr>
        </a:p>
      </dgm:t>
    </dgm:pt>
    <dgm:pt modelId="{F51A29CD-21AF-4DBD-BDFF-D0FF65819B0B}" type="parTrans" cxnId="{FB3749AC-5194-4EB0-8DFB-5ED1494D538B}">
      <dgm:prSet/>
      <dgm:spPr/>
      <dgm:t>
        <a:bodyPr/>
        <a:lstStyle/>
        <a:p>
          <a:endParaRPr lang="en-US"/>
        </a:p>
      </dgm:t>
    </dgm:pt>
    <dgm:pt modelId="{8E387565-2203-44F4-BB43-522AC9A4A64E}" type="sibTrans" cxnId="{FB3749AC-5194-4EB0-8DFB-5ED1494D538B}">
      <dgm:prSet/>
      <dgm:spPr/>
      <dgm:t>
        <a:bodyPr/>
        <a:lstStyle/>
        <a:p>
          <a:endParaRPr lang="en-US"/>
        </a:p>
      </dgm:t>
    </dgm:pt>
    <dgm:pt modelId="{EDE7E4B4-B15C-41AC-B0BA-BBE80BE80395}">
      <dgm:prSet custT="1"/>
      <dgm:spPr/>
      <dgm:t>
        <a:bodyPr/>
        <a:lstStyle/>
        <a:p>
          <a:endParaRPr lang="en-US" sz="1300" dirty="0">
            <a:latin typeface="Arial" panose="020B0604020202020204" pitchFamily="34" charset="0"/>
            <a:cs typeface="Arial" panose="020B0604020202020204" pitchFamily="34" charset="0"/>
          </a:endParaRPr>
        </a:p>
      </dgm:t>
    </dgm:pt>
    <dgm:pt modelId="{C185C7F2-19C3-404D-8FDD-7C0991D2EBE5}" type="parTrans" cxnId="{203D4C34-DB5B-42C3-B0DE-4E835133D391}">
      <dgm:prSet/>
      <dgm:spPr/>
      <dgm:t>
        <a:bodyPr/>
        <a:lstStyle/>
        <a:p>
          <a:endParaRPr lang="en-US"/>
        </a:p>
      </dgm:t>
    </dgm:pt>
    <dgm:pt modelId="{07B01C32-F165-44D0-B7FE-B07910060020}" type="sibTrans" cxnId="{203D4C34-DB5B-42C3-B0DE-4E835133D391}">
      <dgm:prSet/>
      <dgm:spPr/>
      <dgm:t>
        <a:bodyPr/>
        <a:lstStyle/>
        <a:p>
          <a:endParaRPr lang="en-US"/>
        </a:p>
      </dgm:t>
    </dgm:pt>
    <dgm:pt modelId="{6E04B011-07ED-4F9F-9B51-55519B5C10CA}" type="pres">
      <dgm:prSet presAssocID="{AA85CEFC-9A99-4247-8146-A0F4CE87794F}" presName="Name0" presStyleCnt="0">
        <dgm:presLayoutVars>
          <dgm:dir/>
          <dgm:animLvl val="lvl"/>
          <dgm:resizeHandles val="exact"/>
        </dgm:presLayoutVars>
      </dgm:prSet>
      <dgm:spPr/>
    </dgm:pt>
    <dgm:pt modelId="{B4F5EE00-60AF-4900-A93B-B1E370F1959B}" type="pres">
      <dgm:prSet presAssocID="{74F64B91-BA1E-4885-8555-CE202A4278A4}" presName="boxAndChildren" presStyleCnt="0"/>
      <dgm:spPr/>
    </dgm:pt>
    <dgm:pt modelId="{F5F7740B-616F-4ADC-82F5-F42BA159A8F9}" type="pres">
      <dgm:prSet presAssocID="{74F64B91-BA1E-4885-8555-CE202A4278A4}" presName="parentTextBox" presStyleLbl="alignNode1" presStyleIdx="0" presStyleCnt="4"/>
      <dgm:spPr/>
    </dgm:pt>
    <dgm:pt modelId="{C28DD420-50D1-486D-9829-6523FA87B0EC}" type="pres">
      <dgm:prSet presAssocID="{74F64B91-BA1E-4885-8555-CE202A4278A4}" presName="descendantBox" presStyleLbl="bgAccFollowNode1" presStyleIdx="0" presStyleCnt="4"/>
      <dgm:spPr/>
    </dgm:pt>
    <dgm:pt modelId="{44E557E5-48BC-415B-B8CC-20E72E9A0E90}" type="pres">
      <dgm:prSet presAssocID="{A7516B82-304E-45B3-8FEF-E82B08F3E72C}" presName="sp" presStyleCnt="0"/>
      <dgm:spPr/>
    </dgm:pt>
    <dgm:pt modelId="{95957AB2-08B9-4A10-BA88-A9A8E2FADE12}" type="pres">
      <dgm:prSet presAssocID="{4C5D4C58-7156-477D-BF53-4A7FDBE497A4}" presName="arrowAndChildren" presStyleCnt="0"/>
      <dgm:spPr/>
    </dgm:pt>
    <dgm:pt modelId="{9AEB512C-9996-4C05-B1CE-416236457950}" type="pres">
      <dgm:prSet presAssocID="{4C5D4C58-7156-477D-BF53-4A7FDBE497A4}" presName="parentTextArrow" presStyleLbl="node1" presStyleIdx="0" presStyleCnt="2"/>
      <dgm:spPr/>
    </dgm:pt>
    <dgm:pt modelId="{50C4B0E1-C372-4F26-BDC6-1B09DBCC7978}" type="pres">
      <dgm:prSet presAssocID="{4C5D4C58-7156-477D-BF53-4A7FDBE497A4}" presName="arrow" presStyleLbl="alignNode1" presStyleIdx="1" presStyleCnt="4"/>
      <dgm:spPr/>
    </dgm:pt>
    <dgm:pt modelId="{63E306DE-E52B-49E8-B33D-CE7B22D9EB17}" type="pres">
      <dgm:prSet presAssocID="{4C5D4C58-7156-477D-BF53-4A7FDBE497A4}" presName="descendantArrow" presStyleLbl="bgAccFollowNode1" presStyleIdx="1" presStyleCnt="4"/>
      <dgm:spPr/>
    </dgm:pt>
    <dgm:pt modelId="{6AE477AA-3086-4062-B30B-C31592E6C8F7}" type="pres">
      <dgm:prSet presAssocID="{4886A551-4D45-4149-B095-47A7ACFF410E}" presName="sp" presStyleCnt="0"/>
      <dgm:spPr/>
    </dgm:pt>
    <dgm:pt modelId="{D952FCD1-6BCC-4721-A4CC-8D38904F429E}" type="pres">
      <dgm:prSet presAssocID="{920FE240-380B-4954-A152-4108064F7346}" presName="arrowAndChildren" presStyleCnt="0"/>
      <dgm:spPr/>
    </dgm:pt>
    <dgm:pt modelId="{764298B6-3C3A-4C04-AF0E-4025674AB330}" type="pres">
      <dgm:prSet presAssocID="{920FE240-380B-4954-A152-4108064F7346}" presName="parentTextArrow" presStyleLbl="node1" presStyleIdx="0" presStyleCnt="2"/>
      <dgm:spPr/>
    </dgm:pt>
    <dgm:pt modelId="{2E355E5F-B739-4DC0-B3F9-5C3C5E9A0F11}" type="pres">
      <dgm:prSet presAssocID="{920FE240-380B-4954-A152-4108064F7346}" presName="arrow" presStyleLbl="alignNode1" presStyleIdx="2" presStyleCnt="4"/>
      <dgm:spPr/>
    </dgm:pt>
    <dgm:pt modelId="{EF60398D-F157-408C-B863-95860EA65B6B}" type="pres">
      <dgm:prSet presAssocID="{920FE240-380B-4954-A152-4108064F7346}" presName="descendantArrow" presStyleLbl="bgAccFollowNode1" presStyleIdx="2" presStyleCnt="4"/>
      <dgm:spPr/>
    </dgm:pt>
    <dgm:pt modelId="{21A6BCE1-BB81-4E93-9B37-C261B44BF108}" type="pres">
      <dgm:prSet presAssocID="{6B007751-E818-44DF-A7C0-38DD7B91EE11}" presName="sp" presStyleCnt="0"/>
      <dgm:spPr/>
    </dgm:pt>
    <dgm:pt modelId="{EBB90C79-76A0-4F79-9FB7-4F9081EFE12F}" type="pres">
      <dgm:prSet presAssocID="{C33F000C-02EE-4085-BD64-BF8F7165F9BC}" presName="arrowAndChildren" presStyleCnt="0"/>
      <dgm:spPr/>
    </dgm:pt>
    <dgm:pt modelId="{9B3B6DC1-CFA5-4DE8-A9C6-DB28BAD0E2BF}" type="pres">
      <dgm:prSet presAssocID="{C33F000C-02EE-4085-BD64-BF8F7165F9BC}" presName="parentTextArrow" presStyleLbl="node1" presStyleIdx="1" presStyleCnt="2"/>
      <dgm:spPr/>
    </dgm:pt>
    <dgm:pt modelId="{34B2604F-D61E-42B9-AA37-F04B38352CDD}" type="pres">
      <dgm:prSet presAssocID="{C33F000C-02EE-4085-BD64-BF8F7165F9BC}" presName="arrow" presStyleLbl="alignNode1" presStyleIdx="3" presStyleCnt="4"/>
      <dgm:spPr/>
    </dgm:pt>
    <dgm:pt modelId="{887A4948-FCDC-48DF-B347-693EE5F4731C}" type="pres">
      <dgm:prSet presAssocID="{C33F000C-02EE-4085-BD64-BF8F7165F9BC}" presName="descendantArrow" presStyleLbl="bgAccFollowNode1" presStyleIdx="3" presStyleCnt="4"/>
      <dgm:spPr/>
    </dgm:pt>
  </dgm:ptLst>
  <dgm:cxnLst>
    <dgm:cxn modelId="{1FD0861B-54A4-4302-817E-3CCFFD310387}" type="presOf" srcId="{15E5A457-8F6A-46B4-9681-18C38890C43D}" destId="{EF60398D-F157-408C-B863-95860EA65B6B}" srcOrd="0" destOrd="0" presId="urn:microsoft.com/office/officeart/2016/7/layout/VerticalDownArrowProcess"/>
    <dgm:cxn modelId="{7D280D24-698B-42DD-B153-BFF64282B2C1}" srcId="{920FE240-380B-4954-A152-4108064F7346}" destId="{D5054D3F-A5E8-4D19-BD61-A71EB3405B51}" srcOrd="1" destOrd="0" parTransId="{9FF8E683-005B-42CB-9189-AA123C17C6A2}" sibTransId="{30909451-50F1-42B6-BEE8-CEF7DC996BBB}"/>
    <dgm:cxn modelId="{203D4C34-DB5B-42C3-B0DE-4E835133D391}" srcId="{74F64B91-BA1E-4885-8555-CE202A4278A4}" destId="{EDE7E4B4-B15C-41AC-B0BA-BBE80BE80395}" srcOrd="0" destOrd="0" parTransId="{C185C7F2-19C3-404D-8FDD-7C0991D2EBE5}" sibTransId="{07B01C32-F165-44D0-B7FE-B07910060020}"/>
    <dgm:cxn modelId="{8F39DD39-5643-4876-A8AF-0EEDB33AA097}" type="presOf" srcId="{D5054D3F-A5E8-4D19-BD61-A71EB3405B51}" destId="{EF60398D-F157-408C-B863-95860EA65B6B}" srcOrd="0" destOrd="1" presId="urn:microsoft.com/office/officeart/2016/7/layout/VerticalDownArrowProcess"/>
    <dgm:cxn modelId="{10DB313A-5EB3-4F3A-8D0A-8C5C00BAC2CF}" type="presOf" srcId="{C33F000C-02EE-4085-BD64-BF8F7165F9BC}" destId="{34B2604F-D61E-42B9-AA37-F04B38352CDD}" srcOrd="1" destOrd="0" presId="urn:microsoft.com/office/officeart/2016/7/layout/VerticalDownArrowProcess"/>
    <dgm:cxn modelId="{98569E3A-7885-4398-BFB3-E7DC6F40C47A}" type="presOf" srcId="{4C5D4C58-7156-477D-BF53-4A7FDBE497A4}" destId="{50C4B0E1-C372-4F26-BDC6-1B09DBCC7978}" srcOrd="1" destOrd="0" presId="urn:microsoft.com/office/officeart/2016/7/layout/VerticalDownArrowProcess"/>
    <dgm:cxn modelId="{CC80B73E-878E-447E-9A54-407C863CF653}" type="presOf" srcId="{AA85CEFC-9A99-4247-8146-A0F4CE87794F}" destId="{6E04B011-07ED-4F9F-9B51-55519B5C10CA}" srcOrd="0" destOrd="0" presId="urn:microsoft.com/office/officeart/2016/7/layout/VerticalDownArrowProcess"/>
    <dgm:cxn modelId="{1D04B75D-3B66-4DB9-A43C-6B9C7F32F594}" type="presOf" srcId="{920FE240-380B-4954-A152-4108064F7346}" destId="{2E355E5F-B739-4DC0-B3F9-5C3C5E9A0F11}" srcOrd="1" destOrd="0" presId="urn:microsoft.com/office/officeart/2016/7/layout/VerticalDownArrowProcess"/>
    <dgm:cxn modelId="{F715BE65-44D1-4AB2-BA78-D291AE083838}" srcId="{AA85CEFC-9A99-4247-8146-A0F4CE87794F}" destId="{C33F000C-02EE-4085-BD64-BF8F7165F9BC}" srcOrd="0" destOrd="0" parTransId="{FBF92A0B-D82E-4C7C-AF22-D009D7AB2D34}" sibTransId="{6B007751-E818-44DF-A7C0-38DD7B91EE11}"/>
    <dgm:cxn modelId="{CA9F0475-66D9-45FC-B63A-01F9A95309EE}" srcId="{AA85CEFC-9A99-4247-8146-A0F4CE87794F}" destId="{4C5D4C58-7156-477D-BF53-4A7FDBE497A4}" srcOrd="2" destOrd="0" parTransId="{87485C08-A431-4066-9B4B-B94CA7AF7101}" sibTransId="{A7516B82-304E-45B3-8FEF-E82B08F3E72C}"/>
    <dgm:cxn modelId="{CA2E5479-AB8C-4789-B9E5-C22E318D843A}" type="presOf" srcId="{EDE7E4B4-B15C-41AC-B0BA-BBE80BE80395}" destId="{C28DD420-50D1-486D-9829-6523FA87B0EC}" srcOrd="0" destOrd="0" presId="urn:microsoft.com/office/officeart/2016/7/layout/VerticalDownArrowProcess"/>
    <dgm:cxn modelId="{5B3B2F7B-BC90-415A-BEAF-B818224EC31D}" srcId="{AA85CEFC-9A99-4247-8146-A0F4CE87794F}" destId="{920FE240-380B-4954-A152-4108064F7346}" srcOrd="1" destOrd="0" parTransId="{0240A66C-BDDE-40CB-BF17-1C84D86C1A18}" sibTransId="{4886A551-4D45-4149-B095-47A7ACFF410E}"/>
    <dgm:cxn modelId="{5CE02D84-6DD3-4229-B75D-A36FD17575AA}" type="presOf" srcId="{C33F000C-02EE-4085-BD64-BF8F7165F9BC}" destId="{9B3B6DC1-CFA5-4DE8-A9C6-DB28BAD0E2BF}" srcOrd="0" destOrd="0" presId="urn:microsoft.com/office/officeart/2016/7/layout/VerticalDownArrowProcess"/>
    <dgm:cxn modelId="{31E940AB-6BA2-4CD8-906B-2FE20BD6A5F8}" type="presOf" srcId="{4C5D4C58-7156-477D-BF53-4A7FDBE497A4}" destId="{9AEB512C-9996-4C05-B1CE-416236457950}" srcOrd="0" destOrd="0" presId="urn:microsoft.com/office/officeart/2016/7/layout/VerticalDownArrowProcess"/>
    <dgm:cxn modelId="{FB3749AC-5194-4EB0-8DFB-5ED1494D538B}" srcId="{AA85CEFC-9A99-4247-8146-A0F4CE87794F}" destId="{74F64B91-BA1E-4885-8555-CE202A4278A4}" srcOrd="3" destOrd="0" parTransId="{F51A29CD-21AF-4DBD-BDFF-D0FF65819B0B}" sibTransId="{8E387565-2203-44F4-BB43-522AC9A4A64E}"/>
    <dgm:cxn modelId="{F5E7B5E3-5A2B-4DEE-ADBB-8610A802E6FA}" srcId="{920FE240-380B-4954-A152-4108064F7346}" destId="{15E5A457-8F6A-46B4-9681-18C38890C43D}" srcOrd="0" destOrd="0" parTransId="{3730776F-020F-435F-8E52-92D36B493D5B}" sibTransId="{F92884A0-26EA-4C66-A39B-C36085CBD45A}"/>
    <dgm:cxn modelId="{5B3DF0EC-A286-4BDF-A945-388A1160643A}" type="presOf" srcId="{920FE240-380B-4954-A152-4108064F7346}" destId="{764298B6-3C3A-4C04-AF0E-4025674AB330}" srcOrd="0" destOrd="0" presId="urn:microsoft.com/office/officeart/2016/7/layout/VerticalDownArrowProcess"/>
    <dgm:cxn modelId="{5651D8EF-1693-4BD6-9CD6-65FB74514810}" type="presOf" srcId="{74F64B91-BA1E-4885-8555-CE202A4278A4}" destId="{F5F7740B-616F-4ADC-82F5-F42BA159A8F9}" srcOrd="0" destOrd="0" presId="urn:microsoft.com/office/officeart/2016/7/layout/VerticalDownArrowProcess"/>
    <dgm:cxn modelId="{A97B83F8-0360-4D55-98EE-0F9A7E85F7E7}" type="presParOf" srcId="{6E04B011-07ED-4F9F-9B51-55519B5C10CA}" destId="{B4F5EE00-60AF-4900-A93B-B1E370F1959B}" srcOrd="0" destOrd="0" presId="urn:microsoft.com/office/officeart/2016/7/layout/VerticalDownArrowProcess"/>
    <dgm:cxn modelId="{D37EEC8B-D933-49BA-936F-301523BA8871}" type="presParOf" srcId="{B4F5EE00-60AF-4900-A93B-B1E370F1959B}" destId="{F5F7740B-616F-4ADC-82F5-F42BA159A8F9}" srcOrd="0" destOrd="0" presId="urn:microsoft.com/office/officeart/2016/7/layout/VerticalDownArrowProcess"/>
    <dgm:cxn modelId="{80F62E18-3D00-4F5C-96E0-BF6473D3443D}" type="presParOf" srcId="{B4F5EE00-60AF-4900-A93B-B1E370F1959B}" destId="{C28DD420-50D1-486D-9829-6523FA87B0EC}" srcOrd="1" destOrd="0" presId="urn:microsoft.com/office/officeart/2016/7/layout/VerticalDownArrowProcess"/>
    <dgm:cxn modelId="{8C44942F-5882-4216-AC66-F7300FEF2E2B}" type="presParOf" srcId="{6E04B011-07ED-4F9F-9B51-55519B5C10CA}" destId="{44E557E5-48BC-415B-B8CC-20E72E9A0E90}" srcOrd="1" destOrd="0" presId="urn:microsoft.com/office/officeart/2016/7/layout/VerticalDownArrowProcess"/>
    <dgm:cxn modelId="{83C17C87-F3C9-4554-8B49-CCC608C16D67}" type="presParOf" srcId="{6E04B011-07ED-4F9F-9B51-55519B5C10CA}" destId="{95957AB2-08B9-4A10-BA88-A9A8E2FADE12}" srcOrd="2" destOrd="0" presId="urn:microsoft.com/office/officeart/2016/7/layout/VerticalDownArrowProcess"/>
    <dgm:cxn modelId="{0764C0C0-6FCE-4158-B7E7-3E9588A4647F}" type="presParOf" srcId="{95957AB2-08B9-4A10-BA88-A9A8E2FADE12}" destId="{9AEB512C-9996-4C05-B1CE-416236457950}" srcOrd="0" destOrd="0" presId="urn:microsoft.com/office/officeart/2016/7/layout/VerticalDownArrowProcess"/>
    <dgm:cxn modelId="{96421260-70C1-4C07-84FC-F9BD0DAA9BAF}" type="presParOf" srcId="{95957AB2-08B9-4A10-BA88-A9A8E2FADE12}" destId="{50C4B0E1-C372-4F26-BDC6-1B09DBCC7978}" srcOrd="1" destOrd="0" presId="urn:microsoft.com/office/officeart/2016/7/layout/VerticalDownArrowProcess"/>
    <dgm:cxn modelId="{8A1ED193-2C2C-474E-8AB0-9EA00A4E250E}" type="presParOf" srcId="{95957AB2-08B9-4A10-BA88-A9A8E2FADE12}" destId="{63E306DE-E52B-49E8-B33D-CE7B22D9EB17}" srcOrd="2" destOrd="0" presId="urn:microsoft.com/office/officeart/2016/7/layout/VerticalDownArrowProcess"/>
    <dgm:cxn modelId="{968BF47B-8735-4638-B41B-386637C08639}" type="presParOf" srcId="{6E04B011-07ED-4F9F-9B51-55519B5C10CA}" destId="{6AE477AA-3086-4062-B30B-C31592E6C8F7}" srcOrd="3" destOrd="0" presId="urn:microsoft.com/office/officeart/2016/7/layout/VerticalDownArrowProcess"/>
    <dgm:cxn modelId="{73CF61B0-5BFD-4227-9C42-5391F883C242}" type="presParOf" srcId="{6E04B011-07ED-4F9F-9B51-55519B5C10CA}" destId="{D952FCD1-6BCC-4721-A4CC-8D38904F429E}" srcOrd="4" destOrd="0" presId="urn:microsoft.com/office/officeart/2016/7/layout/VerticalDownArrowProcess"/>
    <dgm:cxn modelId="{16E5C595-2E30-4F23-BC76-05C9406A8BC5}" type="presParOf" srcId="{D952FCD1-6BCC-4721-A4CC-8D38904F429E}" destId="{764298B6-3C3A-4C04-AF0E-4025674AB330}" srcOrd="0" destOrd="0" presId="urn:microsoft.com/office/officeart/2016/7/layout/VerticalDownArrowProcess"/>
    <dgm:cxn modelId="{FB03F127-683A-4437-BCD8-356E7C42FDF3}" type="presParOf" srcId="{D952FCD1-6BCC-4721-A4CC-8D38904F429E}" destId="{2E355E5F-B739-4DC0-B3F9-5C3C5E9A0F11}" srcOrd="1" destOrd="0" presId="urn:microsoft.com/office/officeart/2016/7/layout/VerticalDownArrowProcess"/>
    <dgm:cxn modelId="{6E17228D-F13F-47F5-8E7B-2C91DDBD0C12}" type="presParOf" srcId="{D952FCD1-6BCC-4721-A4CC-8D38904F429E}" destId="{EF60398D-F157-408C-B863-95860EA65B6B}" srcOrd="2" destOrd="0" presId="urn:microsoft.com/office/officeart/2016/7/layout/VerticalDownArrowProcess"/>
    <dgm:cxn modelId="{925AC6F2-FD00-4F1C-A96C-B8090838613B}" type="presParOf" srcId="{6E04B011-07ED-4F9F-9B51-55519B5C10CA}" destId="{21A6BCE1-BB81-4E93-9B37-C261B44BF108}" srcOrd="5" destOrd="0" presId="urn:microsoft.com/office/officeart/2016/7/layout/VerticalDownArrowProcess"/>
    <dgm:cxn modelId="{7D4B097F-374A-4A01-BFBE-3BB2842FE799}" type="presParOf" srcId="{6E04B011-07ED-4F9F-9B51-55519B5C10CA}" destId="{EBB90C79-76A0-4F79-9FB7-4F9081EFE12F}" srcOrd="6" destOrd="0" presId="urn:microsoft.com/office/officeart/2016/7/layout/VerticalDownArrowProcess"/>
    <dgm:cxn modelId="{79C9ED19-E025-420B-AF47-A146438AB6CE}" type="presParOf" srcId="{EBB90C79-76A0-4F79-9FB7-4F9081EFE12F}" destId="{9B3B6DC1-CFA5-4DE8-A9C6-DB28BAD0E2BF}" srcOrd="0" destOrd="0" presId="urn:microsoft.com/office/officeart/2016/7/layout/VerticalDownArrowProcess"/>
    <dgm:cxn modelId="{6576833D-D326-45B2-898B-F3FB1042BC66}" type="presParOf" srcId="{EBB90C79-76A0-4F79-9FB7-4F9081EFE12F}" destId="{34B2604F-D61E-42B9-AA37-F04B38352CDD}" srcOrd="1" destOrd="0" presId="urn:microsoft.com/office/officeart/2016/7/layout/VerticalDownArrowProcess"/>
    <dgm:cxn modelId="{176853AF-32A8-4AA2-AE07-B78DBDBA9F48}" type="presParOf" srcId="{EBB90C79-76A0-4F79-9FB7-4F9081EFE12F}" destId="{887A4948-FCDC-48DF-B347-693EE5F4731C}"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F904F0-7E88-41A9-8D84-30A4D22518E8}"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9AB1251D-3D68-469D-9001-083BC94EB816}">
      <dgm:prSet/>
      <dgm:spPr/>
      <dgm:t>
        <a:bodyPr/>
        <a:lstStyle/>
        <a:p>
          <a:r>
            <a:rPr lang="en-US"/>
            <a:t>Assumes all debris fragments are identical.</a:t>
          </a:r>
        </a:p>
      </dgm:t>
    </dgm:pt>
    <dgm:pt modelId="{2503064A-34B1-41F8-9A42-9B16BDB88DDF}" type="parTrans" cxnId="{1E2545A2-3A5C-4F48-897F-06A1112C7FE4}">
      <dgm:prSet/>
      <dgm:spPr/>
      <dgm:t>
        <a:bodyPr/>
        <a:lstStyle/>
        <a:p>
          <a:endParaRPr lang="en-US"/>
        </a:p>
      </dgm:t>
    </dgm:pt>
    <dgm:pt modelId="{D9A60686-11DB-45B7-991A-499520DF0F0A}" type="sibTrans" cxnId="{1E2545A2-3A5C-4F48-897F-06A1112C7FE4}">
      <dgm:prSet/>
      <dgm:spPr/>
      <dgm:t>
        <a:bodyPr/>
        <a:lstStyle/>
        <a:p>
          <a:endParaRPr lang="en-US"/>
        </a:p>
      </dgm:t>
    </dgm:pt>
    <dgm:pt modelId="{21B09EBE-5D30-4919-8863-803FDFDAF4E1}">
      <dgm:prSet/>
      <dgm:spPr/>
      <dgm:t>
        <a:bodyPr/>
        <a:lstStyle/>
        <a:p>
          <a:r>
            <a:rPr lang="en-US" dirty="0"/>
            <a:t>Assumes all fragments are evenly spaced.</a:t>
          </a:r>
        </a:p>
      </dgm:t>
    </dgm:pt>
    <dgm:pt modelId="{77EFFCC3-F4C2-4736-98C0-CB693444ACC3}" type="parTrans" cxnId="{8F196F63-DA95-4C0C-BDFF-63F9E20747F1}">
      <dgm:prSet/>
      <dgm:spPr/>
      <dgm:t>
        <a:bodyPr/>
        <a:lstStyle/>
        <a:p>
          <a:endParaRPr lang="en-US"/>
        </a:p>
      </dgm:t>
    </dgm:pt>
    <dgm:pt modelId="{1F61D95B-A7E6-4DD5-9BF6-A45EBA6F894A}" type="sibTrans" cxnId="{8F196F63-DA95-4C0C-BDFF-63F9E20747F1}">
      <dgm:prSet/>
      <dgm:spPr/>
      <dgm:t>
        <a:bodyPr/>
        <a:lstStyle/>
        <a:p>
          <a:endParaRPr lang="en-US"/>
        </a:p>
      </dgm:t>
    </dgm:pt>
    <dgm:pt modelId="{DCDB3018-EBE1-457A-A8C5-1527B7EB4ACA}" type="pres">
      <dgm:prSet presAssocID="{D3F904F0-7E88-41A9-8D84-30A4D22518E8}" presName="hierChild1" presStyleCnt="0">
        <dgm:presLayoutVars>
          <dgm:chPref val="1"/>
          <dgm:dir/>
          <dgm:animOne val="branch"/>
          <dgm:animLvl val="lvl"/>
          <dgm:resizeHandles/>
        </dgm:presLayoutVars>
      </dgm:prSet>
      <dgm:spPr/>
    </dgm:pt>
    <dgm:pt modelId="{0962D3E0-8BBD-489D-A532-298635F2FD0C}" type="pres">
      <dgm:prSet presAssocID="{9AB1251D-3D68-469D-9001-083BC94EB816}" presName="hierRoot1" presStyleCnt="0"/>
      <dgm:spPr/>
    </dgm:pt>
    <dgm:pt modelId="{2951402D-FF55-4283-9D5A-9289891F0192}" type="pres">
      <dgm:prSet presAssocID="{9AB1251D-3D68-469D-9001-083BC94EB816}" presName="composite" presStyleCnt="0"/>
      <dgm:spPr/>
    </dgm:pt>
    <dgm:pt modelId="{2D52D276-1959-4543-BD1F-FAD3CB9FAC40}" type="pres">
      <dgm:prSet presAssocID="{9AB1251D-3D68-469D-9001-083BC94EB816}" presName="background" presStyleLbl="node0" presStyleIdx="0" presStyleCnt="2"/>
      <dgm:spPr/>
    </dgm:pt>
    <dgm:pt modelId="{0DF0C30F-5181-45EC-9D4D-AB7E370DA5EF}" type="pres">
      <dgm:prSet presAssocID="{9AB1251D-3D68-469D-9001-083BC94EB816}" presName="text" presStyleLbl="fgAcc0" presStyleIdx="0" presStyleCnt="2">
        <dgm:presLayoutVars>
          <dgm:chPref val="3"/>
        </dgm:presLayoutVars>
      </dgm:prSet>
      <dgm:spPr/>
    </dgm:pt>
    <dgm:pt modelId="{0231810E-AC04-41B3-85D7-BC585893C19A}" type="pres">
      <dgm:prSet presAssocID="{9AB1251D-3D68-469D-9001-083BC94EB816}" presName="hierChild2" presStyleCnt="0"/>
      <dgm:spPr/>
    </dgm:pt>
    <dgm:pt modelId="{C64FE286-C191-4AF4-BB50-CFDE21C58E5E}" type="pres">
      <dgm:prSet presAssocID="{21B09EBE-5D30-4919-8863-803FDFDAF4E1}" presName="hierRoot1" presStyleCnt="0"/>
      <dgm:spPr/>
    </dgm:pt>
    <dgm:pt modelId="{990B20FB-C72B-438A-BAE6-4C053D51EA94}" type="pres">
      <dgm:prSet presAssocID="{21B09EBE-5D30-4919-8863-803FDFDAF4E1}" presName="composite" presStyleCnt="0"/>
      <dgm:spPr/>
    </dgm:pt>
    <dgm:pt modelId="{14915930-82C4-4DF1-A33C-71290C9BFAF1}" type="pres">
      <dgm:prSet presAssocID="{21B09EBE-5D30-4919-8863-803FDFDAF4E1}" presName="background" presStyleLbl="node0" presStyleIdx="1" presStyleCnt="2"/>
      <dgm:spPr/>
    </dgm:pt>
    <dgm:pt modelId="{A558F6F4-250B-47A4-A72D-6BAE85D2F4E3}" type="pres">
      <dgm:prSet presAssocID="{21B09EBE-5D30-4919-8863-803FDFDAF4E1}" presName="text" presStyleLbl="fgAcc0" presStyleIdx="1" presStyleCnt="2">
        <dgm:presLayoutVars>
          <dgm:chPref val="3"/>
        </dgm:presLayoutVars>
      </dgm:prSet>
      <dgm:spPr/>
    </dgm:pt>
    <dgm:pt modelId="{528715E3-5060-4FCE-96E8-802A3840BAAA}" type="pres">
      <dgm:prSet presAssocID="{21B09EBE-5D30-4919-8863-803FDFDAF4E1}" presName="hierChild2" presStyleCnt="0"/>
      <dgm:spPr/>
    </dgm:pt>
  </dgm:ptLst>
  <dgm:cxnLst>
    <dgm:cxn modelId="{8F196F63-DA95-4C0C-BDFF-63F9E20747F1}" srcId="{D3F904F0-7E88-41A9-8D84-30A4D22518E8}" destId="{21B09EBE-5D30-4919-8863-803FDFDAF4E1}" srcOrd="1" destOrd="0" parTransId="{77EFFCC3-F4C2-4736-98C0-CB693444ACC3}" sibTransId="{1F61D95B-A7E6-4DD5-9BF6-A45EBA6F894A}"/>
    <dgm:cxn modelId="{A783A748-BAA9-439C-B06A-8A8C66106940}" type="presOf" srcId="{D3F904F0-7E88-41A9-8D84-30A4D22518E8}" destId="{DCDB3018-EBE1-457A-A8C5-1527B7EB4ACA}" srcOrd="0" destOrd="0" presId="urn:microsoft.com/office/officeart/2005/8/layout/hierarchy1"/>
    <dgm:cxn modelId="{5AE7A897-28A2-4342-86C3-582DD0FF21AA}" type="presOf" srcId="{9AB1251D-3D68-469D-9001-083BC94EB816}" destId="{0DF0C30F-5181-45EC-9D4D-AB7E370DA5EF}" srcOrd="0" destOrd="0" presId="urn:microsoft.com/office/officeart/2005/8/layout/hierarchy1"/>
    <dgm:cxn modelId="{1E2545A2-3A5C-4F48-897F-06A1112C7FE4}" srcId="{D3F904F0-7E88-41A9-8D84-30A4D22518E8}" destId="{9AB1251D-3D68-469D-9001-083BC94EB816}" srcOrd="0" destOrd="0" parTransId="{2503064A-34B1-41F8-9A42-9B16BDB88DDF}" sibTransId="{D9A60686-11DB-45B7-991A-499520DF0F0A}"/>
    <dgm:cxn modelId="{9EF368F8-4A12-45C1-B67A-8C5454F23853}" type="presOf" srcId="{21B09EBE-5D30-4919-8863-803FDFDAF4E1}" destId="{A558F6F4-250B-47A4-A72D-6BAE85D2F4E3}" srcOrd="0" destOrd="0" presId="urn:microsoft.com/office/officeart/2005/8/layout/hierarchy1"/>
    <dgm:cxn modelId="{6ECCAE41-DF93-428E-88D2-BBB65287B8B9}" type="presParOf" srcId="{DCDB3018-EBE1-457A-A8C5-1527B7EB4ACA}" destId="{0962D3E0-8BBD-489D-A532-298635F2FD0C}" srcOrd="0" destOrd="0" presId="urn:microsoft.com/office/officeart/2005/8/layout/hierarchy1"/>
    <dgm:cxn modelId="{0129285E-F429-467D-8F5E-A93120A24DB3}" type="presParOf" srcId="{0962D3E0-8BBD-489D-A532-298635F2FD0C}" destId="{2951402D-FF55-4283-9D5A-9289891F0192}" srcOrd="0" destOrd="0" presId="urn:microsoft.com/office/officeart/2005/8/layout/hierarchy1"/>
    <dgm:cxn modelId="{8AF0B978-11C1-4C3B-8B0C-252E434F871D}" type="presParOf" srcId="{2951402D-FF55-4283-9D5A-9289891F0192}" destId="{2D52D276-1959-4543-BD1F-FAD3CB9FAC40}" srcOrd="0" destOrd="0" presId="urn:microsoft.com/office/officeart/2005/8/layout/hierarchy1"/>
    <dgm:cxn modelId="{1E3E53DF-4182-433C-92E9-593F05165152}" type="presParOf" srcId="{2951402D-FF55-4283-9D5A-9289891F0192}" destId="{0DF0C30F-5181-45EC-9D4D-AB7E370DA5EF}" srcOrd="1" destOrd="0" presId="urn:microsoft.com/office/officeart/2005/8/layout/hierarchy1"/>
    <dgm:cxn modelId="{A618527E-B123-4DA0-AF2A-8CBB256231E7}" type="presParOf" srcId="{0962D3E0-8BBD-489D-A532-298635F2FD0C}" destId="{0231810E-AC04-41B3-85D7-BC585893C19A}" srcOrd="1" destOrd="0" presId="urn:microsoft.com/office/officeart/2005/8/layout/hierarchy1"/>
    <dgm:cxn modelId="{DA26248B-9A30-4FC7-B2F4-8791E24D8592}" type="presParOf" srcId="{DCDB3018-EBE1-457A-A8C5-1527B7EB4ACA}" destId="{C64FE286-C191-4AF4-BB50-CFDE21C58E5E}" srcOrd="1" destOrd="0" presId="urn:microsoft.com/office/officeart/2005/8/layout/hierarchy1"/>
    <dgm:cxn modelId="{9D886F26-786D-41DA-B795-684A324D06DB}" type="presParOf" srcId="{C64FE286-C191-4AF4-BB50-CFDE21C58E5E}" destId="{990B20FB-C72B-438A-BAE6-4C053D51EA94}" srcOrd="0" destOrd="0" presId="urn:microsoft.com/office/officeart/2005/8/layout/hierarchy1"/>
    <dgm:cxn modelId="{C532FC19-C267-4158-B1FB-6E06A81B0F93}" type="presParOf" srcId="{990B20FB-C72B-438A-BAE6-4C053D51EA94}" destId="{14915930-82C4-4DF1-A33C-71290C9BFAF1}" srcOrd="0" destOrd="0" presId="urn:microsoft.com/office/officeart/2005/8/layout/hierarchy1"/>
    <dgm:cxn modelId="{472CD4CF-39EB-4374-AE5D-0F56BC8D0267}" type="presParOf" srcId="{990B20FB-C72B-438A-BAE6-4C053D51EA94}" destId="{A558F6F4-250B-47A4-A72D-6BAE85D2F4E3}" srcOrd="1" destOrd="0" presId="urn:microsoft.com/office/officeart/2005/8/layout/hierarchy1"/>
    <dgm:cxn modelId="{190BBA62-3E2A-485D-9DDD-817E243E6E07}" type="presParOf" srcId="{C64FE286-C191-4AF4-BB50-CFDE21C58E5E}" destId="{528715E3-5060-4FCE-96E8-802A3840BAA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7740B-616F-4ADC-82F5-F42BA159A8F9}">
      <dsp:nvSpPr>
        <dsp:cNvPr id="0" name=""/>
        <dsp:cNvSpPr/>
      </dsp:nvSpPr>
      <dsp:spPr>
        <a:xfrm>
          <a:off x="0" y="5253990"/>
          <a:ext cx="1591978" cy="1149444"/>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221" tIns="106680" rIns="113221" bIns="106680" numCol="1" spcCol="1270" anchor="ctr" anchorCtr="0">
          <a:noAutofit/>
        </a:bodyPr>
        <a:lstStyle/>
        <a:p>
          <a:pPr marL="0" lvl="0" indent="0" algn="ctr" defTabSz="666750">
            <a:lnSpc>
              <a:spcPct val="90000"/>
            </a:lnSpc>
            <a:spcBef>
              <a:spcPct val="0"/>
            </a:spcBef>
            <a:spcAft>
              <a:spcPct val="35000"/>
            </a:spcAft>
            <a:buNone/>
          </a:pPr>
          <a:r>
            <a:rPr lang="en-US" sz="1500" kern="1200">
              <a:latin typeface="Arial" panose="020B0604020202020204" pitchFamily="34" charset="0"/>
              <a:cs typeface="Arial" panose="020B0604020202020204" pitchFamily="34" charset="0"/>
            </a:rPr>
            <a:t>Orbital Mechanics</a:t>
          </a:r>
          <a:endParaRPr lang="en-US" sz="1500" kern="1200" dirty="0">
            <a:latin typeface="Arial" panose="020B0604020202020204" pitchFamily="34" charset="0"/>
            <a:cs typeface="Arial" panose="020B0604020202020204" pitchFamily="34" charset="0"/>
          </a:endParaRPr>
        </a:p>
      </dsp:txBody>
      <dsp:txXfrm>
        <a:off x="0" y="5253990"/>
        <a:ext cx="1591978" cy="1149444"/>
      </dsp:txXfrm>
    </dsp:sp>
    <dsp:sp modelId="{C28DD420-50D1-486D-9829-6523FA87B0EC}">
      <dsp:nvSpPr>
        <dsp:cNvPr id="0" name=""/>
        <dsp:cNvSpPr/>
      </dsp:nvSpPr>
      <dsp:spPr>
        <a:xfrm>
          <a:off x="1591978" y="5253990"/>
          <a:ext cx="4775934" cy="1149444"/>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879" tIns="165100" rIns="96879" bIns="165100" numCol="1" spcCol="1270" anchor="ctr" anchorCtr="0">
          <a:noAutofit/>
        </a:bodyPr>
        <a:lstStyle/>
        <a:p>
          <a:pPr marL="0" lvl="0" indent="0" algn="l" defTabSz="577850">
            <a:lnSpc>
              <a:spcPct val="90000"/>
            </a:lnSpc>
            <a:spcBef>
              <a:spcPct val="0"/>
            </a:spcBef>
            <a:spcAft>
              <a:spcPct val="35000"/>
            </a:spcAft>
            <a:buNone/>
          </a:pPr>
          <a:endParaRPr lang="en-US" sz="1300" kern="1200" dirty="0">
            <a:latin typeface="Arial" panose="020B0604020202020204" pitchFamily="34" charset="0"/>
            <a:cs typeface="Arial" panose="020B0604020202020204" pitchFamily="34" charset="0"/>
          </a:endParaRPr>
        </a:p>
      </dsp:txBody>
      <dsp:txXfrm>
        <a:off x="1591978" y="5253990"/>
        <a:ext cx="4775934" cy="1149444"/>
      </dsp:txXfrm>
    </dsp:sp>
    <dsp:sp modelId="{9AEB512C-9996-4C05-B1CE-416236457950}">
      <dsp:nvSpPr>
        <dsp:cNvPr id="0" name=""/>
        <dsp:cNvSpPr/>
      </dsp:nvSpPr>
      <dsp:spPr>
        <a:xfrm rot="10800000">
          <a:off x="0" y="3503386"/>
          <a:ext cx="1591978" cy="1149099"/>
        </a:xfrm>
        <a:prstGeom prst="upArrowCallou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221" tIns="92456" rIns="113221" bIns="92456" numCol="1" spcCol="1270" anchor="ctr" anchorCtr="0">
          <a:noAutofit/>
        </a:bodyPr>
        <a:lstStyle/>
        <a:p>
          <a:pPr marL="0" lvl="0" indent="0" algn="ctr" defTabSz="577850">
            <a:lnSpc>
              <a:spcPct val="90000"/>
            </a:lnSpc>
            <a:spcBef>
              <a:spcPct val="0"/>
            </a:spcBef>
            <a:spcAft>
              <a:spcPct val="35000"/>
            </a:spcAft>
            <a:buNone/>
          </a:pPr>
          <a:endParaRPr lang="en-US" sz="1300" kern="1200" dirty="0">
            <a:latin typeface="Arial" panose="020B0604020202020204" pitchFamily="34" charset="0"/>
            <a:cs typeface="Arial" panose="020B0604020202020204" pitchFamily="34" charset="0"/>
          </a:endParaRPr>
        </a:p>
        <a:p>
          <a:pPr marL="0" lvl="0" indent="0" algn="ctr" defTabSz="5778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Evolution of PID Cloud with Time</a:t>
          </a:r>
        </a:p>
      </dsp:txBody>
      <dsp:txXfrm rot="10800000">
        <a:off x="0" y="3503386"/>
        <a:ext cx="1591978" cy="746650"/>
      </dsp:txXfrm>
    </dsp:sp>
    <dsp:sp modelId="{50C4B0E1-C372-4F26-BDC6-1B09DBCC7978}">
      <dsp:nvSpPr>
        <dsp:cNvPr id="0" name=""/>
        <dsp:cNvSpPr/>
      </dsp:nvSpPr>
      <dsp:spPr>
        <a:xfrm rot="10800000">
          <a:off x="0" y="3503386"/>
          <a:ext cx="1591978" cy="1767845"/>
        </a:xfrm>
        <a:prstGeom prst="upArrowCallout">
          <a:avLst>
            <a:gd name="adj1" fmla="val 5000"/>
            <a:gd name="adj2" fmla="val 10000"/>
            <a:gd name="adj3" fmla="val 15000"/>
            <a:gd name="adj4" fmla="val 64977"/>
          </a:avLst>
        </a:prstGeom>
        <a:solidFill>
          <a:schemeClr val="accent5">
            <a:hueOff val="-4050717"/>
            <a:satOff val="-275"/>
            <a:lumOff val="654"/>
            <a:alphaOff val="0"/>
          </a:schemeClr>
        </a:solidFill>
        <a:ln w="19050" cap="flat" cmpd="sng" algn="ctr">
          <a:solidFill>
            <a:schemeClr val="accent5">
              <a:hueOff val="-4050717"/>
              <a:satOff val="-275"/>
              <a:lumOff val="6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221" tIns="92456" rIns="113221" bIns="92456" numCol="1" spcCol="1270" anchor="ctr" anchorCtr="0">
          <a:noAutofit/>
        </a:bodyPr>
        <a:lstStyle/>
        <a:p>
          <a:pPr marL="0" lvl="0" indent="0" algn="ctr" defTabSz="577850">
            <a:lnSpc>
              <a:spcPct val="90000"/>
            </a:lnSpc>
            <a:spcBef>
              <a:spcPct val="0"/>
            </a:spcBef>
            <a:spcAft>
              <a:spcPct val="35000"/>
            </a:spcAft>
            <a:buNone/>
          </a:pPr>
          <a:endParaRPr lang="en-US" sz="1300" kern="1200" dirty="0">
            <a:latin typeface="Arial" panose="020B0604020202020204" pitchFamily="34" charset="0"/>
            <a:cs typeface="Arial" panose="020B0604020202020204" pitchFamily="34" charset="0"/>
          </a:endParaRPr>
        </a:p>
        <a:p>
          <a:pPr marL="0" lvl="0" indent="0" algn="ctr" defTabSz="5778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Evolution of PID Cloud with Time</a:t>
          </a:r>
        </a:p>
      </dsp:txBody>
      <dsp:txXfrm rot="10800000">
        <a:off x="0" y="3503386"/>
        <a:ext cx="1591978" cy="746650"/>
      </dsp:txXfrm>
    </dsp:sp>
    <dsp:sp modelId="{63E306DE-E52B-49E8-B33D-CE7B22D9EB17}">
      <dsp:nvSpPr>
        <dsp:cNvPr id="0" name=""/>
        <dsp:cNvSpPr/>
      </dsp:nvSpPr>
      <dsp:spPr>
        <a:xfrm>
          <a:off x="1591978" y="3503386"/>
          <a:ext cx="4775934" cy="1149099"/>
        </a:xfrm>
        <a:prstGeom prst="rect">
          <a:avLst/>
        </a:prstGeom>
        <a:solidFill>
          <a:schemeClr val="accent5">
            <a:tint val="40000"/>
            <a:alpha val="90000"/>
            <a:hueOff val="-3981555"/>
            <a:satOff val="889"/>
            <a:lumOff val="134"/>
            <a:alphaOff val="0"/>
          </a:schemeClr>
        </a:solidFill>
        <a:ln w="19050" cap="flat" cmpd="sng" algn="ctr">
          <a:solidFill>
            <a:schemeClr val="accent5">
              <a:tint val="40000"/>
              <a:alpha val="90000"/>
              <a:hueOff val="-3981555"/>
              <a:satOff val="889"/>
              <a:lumOff val="134"/>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355E5F-B739-4DC0-B3F9-5C3C5E9A0F11}">
      <dsp:nvSpPr>
        <dsp:cNvPr id="0" name=""/>
        <dsp:cNvSpPr/>
      </dsp:nvSpPr>
      <dsp:spPr>
        <a:xfrm rot="10800000">
          <a:off x="0" y="1752781"/>
          <a:ext cx="1591978" cy="1767845"/>
        </a:xfrm>
        <a:prstGeom prst="upArrowCallout">
          <a:avLst>
            <a:gd name="adj1" fmla="val 5000"/>
            <a:gd name="adj2" fmla="val 10000"/>
            <a:gd name="adj3" fmla="val 15000"/>
            <a:gd name="adj4" fmla="val 64977"/>
          </a:avLst>
        </a:prstGeom>
        <a:solidFill>
          <a:schemeClr val="accent5">
            <a:hueOff val="-8101434"/>
            <a:satOff val="-551"/>
            <a:lumOff val="1307"/>
            <a:alphaOff val="0"/>
          </a:schemeClr>
        </a:solidFill>
        <a:ln w="19050" cap="flat" cmpd="sng" algn="ctr">
          <a:solidFill>
            <a:schemeClr val="accent5">
              <a:hueOff val="-8101434"/>
              <a:satOff val="-551"/>
              <a:lumOff val="13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221" tIns="106680" rIns="113221" bIns="106680" numCol="1" spcCol="1270" anchor="ctr" anchorCtr="0">
          <a:noAutofit/>
        </a:bodyPr>
        <a:lstStyle/>
        <a:p>
          <a:pPr marL="0" lvl="0" indent="0" algn="ctr" defTabSz="666750">
            <a:lnSpc>
              <a:spcPct val="90000"/>
            </a:lnSpc>
            <a:spcBef>
              <a:spcPct val="0"/>
            </a:spcBef>
            <a:spcAft>
              <a:spcPct val="35000"/>
            </a:spcAft>
            <a:buNone/>
          </a:pPr>
          <a:r>
            <a:rPr lang="en-US" sz="1500" kern="1200">
              <a:latin typeface="Arial" panose="020B0604020202020204" pitchFamily="34" charset="0"/>
              <a:cs typeface="Arial" panose="020B0604020202020204" pitchFamily="34" charset="0"/>
            </a:rPr>
            <a:t>Fragment Size and Spatial Distribution Considerations</a:t>
          </a:r>
          <a:endParaRPr lang="en-US" sz="1500" kern="1200" dirty="0">
            <a:latin typeface="Arial" panose="020B0604020202020204" pitchFamily="34" charset="0"/>
            <a:cs typeface="Arial" panose="020B0604020202020204" pitchFamily="34" charset="0"/>
          </a:endParaRPr>
        </a:p>
      </dsp:txBody>
      <dsp:txXfrm rot="-10800000">
        <a:off x="0" y="1752781"/>
        <a:ext cx="1591978" cy="1149099"/>
      </dsp:txXfrm>
    </dsp:sp>
    <dsp:sp modelId="{EF60398D-F157-408C-B863-95860EA65B6B}">
      <dsp:nvSpPr>
        <dsp:cNvPr id="0" name=""/>
        <dsp:cNvSpPr/>
      </dsp:nvSpPr>
      <dsp:spPr>
        <a:xfrm>
          <a:off x="1591978" y="1752781"/>
          <a:ext cx="4775934" cy="1149099"/>
        </a:xfrm>
        <a:prstGeom prst="rect">
          <a:avLst/>
        </a:prstGeom>
        <a:solidFill>
          <a:schemeClr val="accent5">
            <a:tint val="40000"/>
            <a:alpha val="90000"/>
            <a:hueOff val="-7963110"/>
            <a:satOff val="1778"/>
            <a:lumOff val="267"/>
            <a:alphaOff val="0"/>
          </a:schemeClr>
        </a:solidFill>
        <a:ln w="19050" cap="flat" cmpd="sng" algn="ctr">
          <a:solidFill>
            <a:schemeClr val="accent5">
              <a:tint val="40000"/>
              <a:alpha val="90000"/>
              <a:hueOff val="-7963110"/>
              <a:satOff val="1778"/>
              <a:lumOff val="2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879" tIns="165100" rIns="96879" bIns="165100" numCol="1" spcCol="1270" anchor="ctr" anchorCtr="0">
          <a:noAutofit/>
        </a:bodyPr>
        <a:lstStyle/>
        <a:p>
          <a:pPr marL="0" lvl="0" indent="0" algn="l" defTabSz="577850">
            <a:lnSpc>
              <a:spcPct val="90000"/>
            </a:lnSpc>
            <a:spcBef>
              <a:spcPct val="0"/>
            </a:spcBef>
            <a:spcAft>
              <a:spcPct val="35000"/>
            </a:spcAft>
            <a:buNone/>
          </a:pPr>
          <a:r>
            <a:rPr lang="en-US" sz="1300" kern="1200">
              <a:latin typeface="Arial" panose="020B0604020202020204" pitchFamily="34" charset="0"/>
              <a:cs typeface="Arial" panose="020B0604020202020204" pitchFamily="34" charset="0"/>
            </a:rPr>
            <a:t>Normal Distribution of Fragments  </a:t>
          </a:r>
          <a:r>
            <a:rPr lang="en-US" sz="1300" b="0" kern="1200">
              <a:solidFill>
                <a:srgbClr val="FFC000"/>
              </a:solidFill>
              <a:latin typeface="Arial" panose="020B0604020202020204" pitchFamily="34" charset="0"/>
              <a:cs typeface="Arial" panose="020B0604020202020204" pitchFamily="34" charset="0"/>
            </a:rPr>
            <a:t>★</a:t>
          </a:r>
          <a:endParaRPr lang="en-US" sz="1300" kern="1200" dirty="0">
            <a:solidFill>
              <a:srgbClr val="FFC000"/>
            </a:solidFill>
            <a:latin typeface="Arial" panose="020B0604020202020204" pitchFamily="34" charset="0"/>
            <a:cs typeface="Arial" panose="020B0604020202020204" pitchFamily="34" charset="0"/>
          </a:endParaRPr>
        </a:p>
        <a:p>
          <a:pPr marL="0" lvl="0" indent="0" algn="l" defTabSz="577850">
            <a:lnSpc>
              <a:spcPct val="90000"/>
            </a:lnSpc>
            <a:spcBef>
              <a:spcPct val="0"/>
            </a:spcBef>
            <a:spcAft>
              <a:spcPct val="35000"/>
            </a:spcAft>
            <a:buNone/>
          </a:pPr>
          <a:r>
            <a:rPr lang="en-US" sz="1300" kern="1200">
              <a:latin typeface="Arial" panose="020B0604020202020204" pitchFamily="34" charset="0"/>
              <a:cs typeface="Arial" panose="020B0604020202020204" pitchFamily="34" charset="0"/>
            </a:rPr>
            <a:t>Fragment Size Dependency</a:t>
          </a:r>
          <a:endParaRPr lang="en-US" sz="1300" kern="1200" dirty="0">
            <a:latin typeface="Arial" panose="020B0604020202020204" pitchFamily="34" charset="0"/>
            <a:cs typeface="Arial" panose="020B0604020202020204" pitchFamily="34" charset="0"/>
          </a:endParaRPr>
        </a:p>
      </dsp:txBody>
      <dsp:txXfrm>
        <a:off x="1591978" y="1752781"/>
        <a:ext cx="4775934" cy="1149099"/>
      </dsp:txXfrm>
    </dsp:sp>
    <dsp:sp modelId="{9B3B6DC1-CFA5-4DE8-A9C6-DB28BAD0E2BF}">
      <dsp:nvSpPr>
        <dsp:cNvPr id="0" name=""/>
        <dsp:cNvSpPr/>
      </dsp:nvSpPr>
      <dsp:spPr>
        <a:xfrm rot="10800000">
          <a:off x="0" y="2177"/>
          <a:ext cx="1591978" cy="1149099"/>
        </a:xfrm>
        <a:prstGeom prst="upArrowCallou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221" tIns="92456" rIns="113221" bIns="92456" numCol="1" spcCol="1270" anchor="ctr" anchorCtr="0">
          <a:noAutofit/>
        </a:bodyPr>
        <a:lstStyle/>
        <a:p>
          <a:pPr marL="0" lvl="0" indent="0" algn="ctr" defTabSz="577850">
            <a:lnSpc>
              <a:spcPct val="90000"/>
            </a:lnSpc>
            <a:spcBef>
              <a:spcPct val="0"/>
            </a:spcBef>
            <a:spcAft>
              <a:spcPct val="35000"/>
            </a:spcAft>
            <a:buNone/>
          </a:pPr>
          <a:endParaRPr lang="en-US" sz="1300" kern="1200"/>
        </a:p>
        <a:p>
          <a:pPr marL="0" lvl="0" indent="0" algn="ctr" defTabSz="577850">
            <a:lnSpc>
              <a:spcPct val="90000"/>
            </a:lnSpc>
            <a:spcBef>
              <a:spcPct val="0"/>
            </a:spcBef>
            <a:spcAft>
              <a:spcPct val="35000"/>
            </a:spcAft>
            <a:buNone/>
          </a:pPr>
          <a:r>
            <a:rPr lang="en-US" sz="1500" kern="1200">
              <a:latin typeface="Arial" panose="020B0604020202020204" pitchFamily="34" charset="0"/>
              <a:cs typeface="Arial" panose="020B0604020202020204" pitchFamily="34" charset="0"/>
            </a:rPr>
            <a:t>Packing Density Model</a:t>
          </a:r>
          <a:endParaRPr lang="en-US" sz="1500" kern="1200" dirty="0">
            <a:latin typeface="Arial" panose="020B0604020202020204" pitchFamily="34" charset="0"/>
            <a:cs typeface="Arial" panose="020B0604020202020204" pitchFamily="34" charset="0"/>
          </a:endParaRPr>
        </a:p>
      </dsp:txBody>
      <dsp:txXfrm rot="10800000">
        <a:off x="0" y="2177"/>
        <a:ext cx="1591978" cy="746650"/>
      </dsp:txXfrm>
    </dsp:sp>
    <dsp:sp modelId="{34B2604F-D61E-42B9-AA37-F04B38352CDD}">
      <dsp:nvSpPr>
        <dsp:cNvPr id="0" name=""/>
        <dsp:cNvSpPr/>
      </dsp:nvSpPr>
      <dsp:spPr>
        <a:xfrm rot="10800000">
          <a:off x="0" y="2177"/>
          <a:ext cx="1591978" cy="1767845"/>
        </a:xfrm>
        <a:prstGeom prst="upArrowCallout">
          <a:avLst>
            <a:gd name="adj1" fmla="val 5000"/>
            <a:gd name="adj2" fmla="val 10000"/>
            <a:gd name="adj3" fmla="val 15000"/>
            <a:gd name="adj4" fmla="val 64977"/>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221" tIns="92456" rIns="113221" bIns="92456" numCol="1" spcCol="1270" anchor="ctr" anchorCtr="0">
          <a:noAutofit/>
        </a:bodyPr>
        <a:lstStyle/>
        <a:p>
          <a:pPr marL="0" lvl="0" indent="0" algn="ctr" defTabSz="577850">
            <a:lnSpc>
              <a:spcPct val="90000"/>
            </a:lnSpc>
            <a:spcBef>
              <a:spcPct val="0"/>
            </a:spcBef>
            <a:spcAft>
              <a:spcPct val="35000"/>
            </a:spcAft>
            <a:buNone/>
          </a:pPr>
          <a:endParaRPr lang="en-US" sz="1300" kern="1200"/>
        </a:p>
        <a:p>
          <a:pPr marL="0" lvl="0" indent="0" algn="ctr" defTabSz="577850">
            <a:lnSpc>
              <a:spcPct val="90000"/>
            </a:lnSpc>
            <a:spcBef>
              <a:spcPct val="0"/>
            </a:spcBef>
            <a:spcAft>
              <a:spcPct val="35000"/>
            </a:spcAft>
            <a:buNone/>
          </a:pPr>
          <a:r>
            <a:rPr lang="en-US" sz="1500" kern="1200">
              <a:latin typeface="Arial" panose="020B0604020202020204" pitchFamily="34" charset="0"/>
              <a:cs typeface="Arial" panose="020B0604020202020204" pitchFamily="34" charset="0"/>
            </a:rPr>
            <a:t>Packing Density Model</a:t>
          </a:r>
          <a:endParaRPr lang="en-US" sz="1500" kern="1200" dirty="0">
            <a:latin typeface="Arial" panose="020B0604020202020204" pitchFamily="34" charset="0"/>
            <a:cs typeface="Arial" panose="020B0604020202020204" pitchFamily="34" charset="0"/>
          </a:endParaRPr>
        </a:p>
      </dsp:txBody>
      <dsp:txXfrm rot="10800000">
        <a:off x="0" y="2177"/>
        <a:ext cx="1591978" cy="746650"/>
      </dsp:txXfrm>
    </dsp:sp>
    <dsp:sp modelId="{887A4948-FCDC-48DF-B347-693EE5F4731C}">
      <dsp:nvSpPr>
        <dsp:cNvPr id="0" name=""/>
        <dsp:cNvSpPr/>
      </dsp:nvSpPr>
      <dsp:spPr>
        <a:xfrm>
          <a:off x="1591978" y="2177"/>
          <a:ext cx="4775934" cy="1149099"/>
        </a:xfrm>
        <a:prstGeom prst="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52D276-1959-4543-BD1F-FAD3CB9FAC40}">
      <dsp:nvSpPr>
        <dsp:cNvPr id="0" name=""/>
        <dsp:cNvSpPr/>
      </dsp:nvSpPr>
      <dsp:spPr>
        <a:xfrm>
          <a:off x="1283" y="314546"/>
          <a:ext cx="4505585" cy="2861046"/>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F0C30F-5181-45EC-9D4D-AB7E370DA5EF}">
      <dsp:nvSpPr>
        <dsp:cNvPr id="0" name=""/>
        <dsp:cNvSpPr/>
      </dsp:nvSpPr>
      <dsp:spPr>
        <a:xfrm>
          <a:off x="501904" y="790136"/>
          <a:ext cx="4505585" cy="2861046"/>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a:t>Assumes all debris fragments are identical.</a:t>
          </a:r>
        </a:p>
      </dsp:txBody>
      <dsp:txXfrm>
        <a:off x="585701" y="873933"/>
        <a:ext cx="4337991" cy="2693452"/>
      </dsp:txXfrm>
    </dsp:sp>
    <dsp:sp modelId="{14915930-82C4-4DF1-A33C-71290C9BFAF1}">
      <dsp:nvSpPr>
        <dsp:cNvPr id="0" name=""/>
        <dsp:cNvSpPr/>
      </dsp:nvSpPr>
      <dsp:spPr>
        <a:xfrm>
          <a:off x="5508110" y="314546"/>
          <a:ext cx="4505585" cy="2861046"/>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58F6F4-250B-47A4-A72D-6BAE85D2F4E3}">
      <dsp:nvSpPr>
        <dsp:cNvPr id="0" name=""/>
        <dsp:cNvSpPr/>
      </dsp:nvSpPr>
      <dsp:spPr>
        <a:xfrm>
          <a:off x="6008730" y="790136"/>
          <a:ext cx="4505585" cy="2861046"/>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Assumes all fragments are evenly spaced.</a:t>
          </a:r>
        </a:p>
      </dsp:txBody>
      <dsp:txXfrm>
        <a:off x="6092527" y="873933"/>
        <a:ext cx="4337991" cy="2693452"/>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8227CC-D31C-46BD-9140-09893CFD54BD}" type="datetimeFigureOut">
              <a:rPr lang="en-US" smtClean="0"/>
              <a:t>5/2/2025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0073B0-D860-4260-AECF-292B2900F645}" type="slidenum">
              <a:rPr lang="en-US" smtClean="0"/>
              <a:t>‹#›</a:t>
            </a:fld>
            <a:endParaRPr lang="en-US"/>
          </a:p>
        </p:txBody>
      </p:sp>
    </p:spTree>
    <p:extLst>
      <p:ext uri="{BB962C8B-B14F-4D97-AF65-F5344CB8AC3E}">
        <p14:creationId xmlns:p14="http://schemas.microsoft.com/office/powerpoint/2010/main" val="3509748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0073B0-D860-4260-AECF-292B2900F645}" type="slidenum">
              <a:rPr lang="en-US" smtClean="0"/>
              <a:t>6</a:t>
            </a:fld>
            <a:endParaRPr lang="en-US"/>
          </a:p>
        </p:txBody>
      </p:sp>
    </p:spTree>
    <p:extLst>
      <p:ext uri="{BB962C8B-B14F-4D97-AF65-F5344CB8AC3E}">
        <p14:creationId xmlns:p14="http://schemas.microsoft.com/office/powerpoint/2010/main" val="3822093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8EAD6-57F2-534D-4DFC-C7C39313FC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AE8FD7-DEB0-A2F8-8B3D-8180F609A6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D6EA8C-4D0A-E0DD-4FCE-718703FDAD4E}"/>
              </a:ext>
            </a:extLst>
          </p:cNvPr>
          <p:cNvSpPr>
            <a:spLocks noGrp="1"/>
          </p:cNvSpPr>
          <p:nvPr>
            <p:ph type="dt" sz="half" idx="10"/>
          </p:nvPr>
        </p:nvSpPr>
        <p:spPr/>
        <p:txBody>
          <a:bodyPr/>
          <a:lstStyle/>
          <a:p>
            <a:fld id="{056CEA8C-BC24-40E4-8DEE-E0B60F27C9C6}" type="datetime1">
              <a:rPr lang="en-US" smtClean="0"/>
              <a:t>5/2/2025</a:t>
            </a:fld>
            <a:endParaRPr lang="en-US"/>
          </a:p>
        </p:txBody>
      </p:sp>
      <p:sp>
        <p:nvSpPr>
          <p:cNvPr id="5" name="Footer Placeholder 4">
            <a:extLst>
              <a:ext uri="{FF2B5EF4-FFF2-40B4-BE49-F238E27FC236}">
                <a16:creationId xmlns:a16="http://schemas.microsoft.com/office/drawing/2014/main" id="{6335E80F-12D2-D4CC-07BD-DE24C1DC56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559280-F448-0968-C762-AAC4A635664C}"/>
              </a:ext>
            </a:extLst>
          </p:cNvPr>
          <p:cNvSpPr>
            <a:spLocks noGrp="1"/>
          </p:cNvSpPr>
          <p:nvPr>
            <p:ph type="sldNum" sz="quarter" idx="12"/>
          </p:nvPr>
        </p:nvSpPr>
        <p:spPr/>
        <p:txBody>
          <a:bodyPr/>
          <a:lstStyle/>
          <a:p>
            <a:fld id="{FFA44557-6723-474F-8BC8-E80F4E6DF2E8}" type="slidenum">
              <a:rPr lang="en-US" smtClean="0"/>
              <a:t>‹#›</a:t>
            </a:fld>
            <a:endParaRPr lang="en-US"/>
          </a:p>
        </p:txBody>
      </p:sp>
    </p:spTree>
    <p:extLst>
      <p:ext uri="{BB962C8B-B14F-4D97-AF65-F5344CB8AC3E}">
        <p14:creationId xmlns:p14="http://schemas.microsoft.com/office/powerpoint/2010/main" val="497809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D7A24-CDEF-9BE0-4118-91420A31AD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B22924-6D82-F25A-9CDE-2FF77B995E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81211-CB35-9D5D-72F8-530059787268}"/>
              </a:ext>
            </a:extLst>
          </p:cNvPr>
          <p:cNvSpPr>
            <a:spLocks noGrp="1"/>
          </p:cNvSpPr>
          <p:nvPr>
            <p:ph type="dt" sz="half" idx="10"/>
          </p:nvPr>
        </p:nvSpPr>
        <p:spPr/>
        <p:txBody>
          <a:bodyPr/>
          <a:lstStyle/>
          <a:p>
            <a:fld id="{C4B02FBE-AB74-4F2B-AFD1-F5E46A947F81}" type="datetime1">
              <a:rPr lang="en-US" smtClean="0"/>
              <a:t>5/2/2025</a:t>
            </a:fld>
            <a:endParaRPr lang="en-US"/>
          </a:p>
        </p:txBody>
      </p:sp>
      <p:sp>
        <p:nvSpPr>
          <p:cNvPr id="5" name="Footer Placeholder 4">
            <a:extLst>
              <a:ext uri="{FF2B5EF4-FFF2-40B4-BE49-F238E27FC236}">
                <a16:creationId xmlns:a16="http://schemas.microsoft.com/office/drawing/2014/main" id="{53E0FDA9-2382-1381-44BB-7F08ABF8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C938BD-A81A-A644-FADA-D672A3B151E8}"/>
              </a:ext>
            </a:extLst>
          </p:cNvPr>
          <p:cNvSpPr>
            <a:spLocks noGrp="1"/>
          </p:cNvSpPr>
          <p:nvPr>
            <p:ph type="sldNum" sz="quarter" idx="12"/>
          </p:nvPr>
        </p:nvSpPr>
        <p:spPr/>
        <p:txBody>
          <a:bodyPr/>
          <a:lstStyle/>
          <a:p>
            <a:fld id="{FFA44557-6723-474F-8BC8-E80F4E6DF2E8}" type="slidenum">
              <a:rPr lang="en-US" smtClean="0"/>
              <a:t>‹#›</a:t>
            </a:fld>
            <a:endParaRPr lang="en-US"/>
          </a:p>
        </p:txBody>
      </p:sp>
    </p:spTree>
    <p:extLst>
      <p:ext uri="{BB962C8B-B14F-4D97-AF65-F5344CB8AC3E}">
        <p14:creationId xmlns:p14="http://schemas.microsoft.com/office/powerpoint/2010/main" val="3711611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E36F-0B55-392E-105C-EE4F003B93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43324E-2C90-E83F-88CF-060E90F0787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B9A78D-37E8-C708-5059-47CC81A229B0}"/>
              </a:ext>
            </a:extLst>
          </p:cNvPr>
          <p:cNvSpPr>
            <a:spLocks noGrp="1"/>
          </p:cNvSpPr>
          <p:nvPr>
            <p:ph type="dt" sz="half" idx="10"/>
          </p:nvPr>
        </p:nvSpPr>
        <p:spPr/>
        <p:txBody>
          <a:bodyPr/>
          <a:lstStyle/>
          <a:p>
            <a:fld id="{887E7CEC-B11F-43BC-B675-1A6E874B6E17}" type="datetime1">
              <a:rPr lang="en-US" smtClean="0"/>
              <a:t>5/2/2025</a:t>
            </a:fld>
            <a:endParaRPr lang="en-US"/>
          </a:p>
        </p:txBody>
      </p:sp>
      <p:sp>
        <p:nvSpPr>
          <p:cNvPr id="5" name="Footer Placeholder 4">
            <a:extLst>
              <a:ext uri="{FF2B5EF4-FFF2-40B4-BE49-F238E27FC236}">
                <a16:creationId xmlns:a16="http://schemas.microsoft.com/office/drawing/2014/main" id="{94DCAB77-2737-09EB-8A87-06C04539DD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F8FC62-D9EF-CB9A-76EA-18766ECDBC2F}"/>
              </a:ext>
            </a:extLst>
          </p:cNvPr>
          <p:cNvSpPr>
            <a:spLocks noGrp="1"/>
          </p:cNvSpPr>
          <p:nvPr>
            <p:ph type="sldNum" sz="quarter" idx="12"/>
          </p:nvPr>
        </p:nvSpPr>
        <p:spPr/>
        <p:txBody>
          <a:bodyPr/>
          <a:lstStyle/>
          <a:p>
            <a:fld id="{FFA44557-6723-474F-8BC8-E80F4E6DF2E8}" type="slidenum">
              <a:rPr lang="en-US" smtClean="0"/>
              <a:t>‹#›</a:t>
            </a:fld>
            <a:endParaRPr lang="en-US"/>
          </a:p>
        </p:txBody>
      </p:sp>
    </p:spTree>
    <p:extLst>
      <p:ext uri="{BB962C8B-B14F-4D97-AF65-F5344CB8AC3E}">
        <p14:creationId xmlns:p14="http://schemas.microsoft.com/office/powerpoint/2010/main" val="1300284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A9F27-A814-573C-5694-4DC6652720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54A5E5-144E-90F4-06C4-4B6FE7A613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E5224A-D902-D20C-384C-4DB16EAFBE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A1A44B-108E-EBCE-8DA0-B2629F7A38BA}"/>
              </a:ext>
            </a:extLst>
          </p:cNvPr>
          <p:cNvSpPr>
            <a:spLocks noGrp="1"/>
          </p:cNvSpPr>
          <p:nvPr>
            <p:ph type="dt" sz="half" idx="10"/>
          </p:nvPr>
        </p:nvSpPr>
        <p:spPr/>
        <p:txBody>
          <a:bodyPr/>
          <a:lstStyle/>
          <a:p>
            <a:fld id="{AB129BC8-7E0F-4D67-9022-EA871AF530F3}" type="datetime1">
              <a:rPr lang="en-US" smtClean="0"/>
              <a:t>5/2/2025</a:t>
            </a:fld>
            <a:endParaRPr lang="en-US"/>
          </a:p>
        </p:txBody>
      </p:sp>
      <p:sp>
        <p:nvSpPr>
          <p:cNvPr id="6" name="Footer Placeholder 5">
            <a:extLst>
              <a:ext uri="{FF2B5EF4-FFF2-40B4-BE49-F238E27FC236}">
                <a16:creationId xmlns:a16="http://schemas.microsoft.com/office/drawing/2014/main" id="{9B2F5B5A-16DD-EC2C-0C20-6E808AEF9B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44CEB-7B03-D381-3557-89A081B5ACB3}"/>
              </a:ext>
            </a:extLst>
          </p:cNvPr>
          <p:cNvSpPr>
            <a:spLocks noGrp="1"/>
          </p:cNvSpPr>
          <p:nvPr>
            <p:ph type="sldNum" sz="quarter" idx="12"/>
          </p:nvPr>
        </p:nvSpPr>
        <p:spPr/>
        <p:txBody>
          <a:bodyPr/>
          <a:lstStyle/>
          <a:p>
            <a:fld id="{FFA44557-6723-474F-8BC8-E80F4E6DF2E8}" type="slidenum">
              <a:rPr lang="en-US" smtClean="0"/>
              <a:t>‹#›</a:t>
            </a:fld>
            <a:endParaRPr lang="en-US"/>
          </a:p>
        </p:txBody>
      </p:sp>
    </p:spTree>
    <p:extLst>
      <p:ext uri="{BB962C8B-B14F-4D97-AF65-F5344CB8AC3E}">
        <p14:creationId xmlns:p14="http://schemas.microsoft.com/office/powerpoint/2010/main" val="3036655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3B750-8F75-591C-2470-F084AB4B35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9713B9-42C7-D40B-8856-4A2DD3E50A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5B1807-A396-B80F-A59D-12A8061C98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BA3B0F-4028-7E96-BAD3-566646A810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A6D5E4-2FFC-0D96-D820-255B1F97B1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0EAF59-9B7F-2726-F1E7-EC9B54914C23}"/>
              </a:ext>
            </a:extLst>
          </p:cNvPr>
          <p:cNvSpPr>
            <a:spLocks noGrp="1"/>
          </p:cNvSpPr>
          <p:nvPr>
            <p:ph type="dt" sz="half" idx="10"/>
          </p:nvPr>
        </p:nvSpPr>
        <p:spPr/>
        <p:txBody>
          <a:bodyPr/>
          <a:lstStyle/>
          <a:p>
            <a:fld id="{902BD057-861C-47EA-AC5C-380A152DDC23}" type="datetime1">
              <a:rPr lang="en-US" smtClean="0"/>
              <a:t>5/2/2025</a:t>
            </a:fld>
            <a:endParaRPr lang="en-US"/>
          </a:p>
        </p:txBody>
      </p:sp>
      <p:sp>
        <p:nvSpPr>
          <p:cNvPr id="8" name="Footer Placeholder 7">
            <a:extLst>
              <a:ext uri="{FF2B5EF4-FFF2-40B4-BE49-F238E27FC236}">
                <a16:creationId xmlns:a16="http://schemas.microsoft.com/office/drawing/2014/main" id="{F43B67A0-51E5-61A3-A21B-863F54FE1B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D2D10F-A91A-C76F-D3C6-C83D0F02738E}"/>
              </a:ext>
            </a:extLst>
          </p:cNvPr>
          <p:cNvSpPr>
            <a:spLocks noGrp="1"/>
          </p:cNvSpPr>
          <p:nvPr>
            <p:ph type="sldNum" sz="quarter" idx="12"/>
          </p:nvPr>
        </p:nvSpPr>
        <p:spPr/>
        <p:txBody>
          <a:bodyPr/>
          <a:lstStyle/>
          <a:p>
            <a:fld id="{FFA44557-6723-474F-8BC8-E80F4E6DF2E8}" type="slidenum">
              <a:rPr lang="en-US" smtClean="0"/>
              <a:t>‹#›</a:t>
            </a:fld>
            <a:endParaRPr lang="en-US"/>
          </a:p>
        </p:txBody>
      </p:sp>
    </p:spTree>
    <p:extLst>
      <p:ext uri="{BB962C8B-B14F-4D97-AF65-F5344CB8AC3E}">
        <p14:creationId xmlns:p14="http://schemas.microsoft.com/office/powerpoint/2010/main" val="3886602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79B96-7709-EFB2-0891-4F9D68107F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6BFF5C-8947-452C-5322-0442CFE34E19}"/>
              </a:ext>
            </a:extLst>
          </p:cNvPr>
          <p:cNvSpPr>
            <a:spLocks noGrp="1"/>
          </p:cNvSpPr>
          <p:nvPr>
            <p:ph type="dt" sz="half" idx="10"/>
          </p:nvPr>
        </p:nvSpPr>
        <p:spPr/>
        <p:txBody>
          <a:bodyPr/>
          <a:lstStyle/>
          <a:p>
            <a:fld id="{7A5D0F57-A037-4E49-A6ED-E294A7FD9E24}" type="datetime1">
              <a:rPr lang="en-US" smtClean="0"/>
              <a:t>5/2/2025</a:t>
            </a:fld>
            <a:endParaRPr lang="en-US"/>
          </a:p>
        </p:txBody>
      </p:sp>
      <p:sp>
        <p:nvSpPr>
          <p:cNvPr id="4" name="Footer Placeholder 3">
            <a:extLst>
              <a:ext uri="{FF2B5EF4-FFF2-40B4-BE49-F238E27FC236}">
                <a16:creationId xmlns:a16="http://schemas.microsoft.com/office/drawing/2014/main" id="{7ACCA7B0-CB1A-73C3-FB64-AC3777D40D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EB7FB9-63B7-438C-4FD3-D168A2B298EA}"/>
              </a:ext>
            </a:extLst>
          </p:cNvPr>
          <p:cNvSpPr>
            <a:spLocks noGrp="1"/>
          </p:cNvSpPr>
          <p:nvPr>
            <p:ph type="sldNum" sz="quarter" idx="12"/>
          </p:nvPr>
        </p:nvSpPr>
        <p:spPr/>
        <p:txBody>
          <a:bodyPr/>
          <a:lstStyle/>
          <a:p>
            <a:fld id="{FFA44557-6723-474F-8BC8-E80F4E6DF2E8}" type="slidenum">
              <a:rPr lang="en-US" smtClean="0"/>
              <a:t>‹#›</a:t>
            </a:fld>
            <a:endParaRPr lang="en-US"/>
          </a:p>
        </p:txBody>
      </p:sp>
    </p:spTree>
    <p:extLst>
      <p:ext uri="{BB962C8B-B14F-4D97-AF65-F5344CB8AC3E}">
        <p14:creationId xmlns:p14="http://schemas.microsoft.com/office/powerpoint/2010/main" val="3980592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5DEB56-D179-1C7D-EAB0-B27374CB7D25}"/>
              </a:ext>
            </a:extLst>
          </p:cNvPr>
          <p:cNvSpPr>
            <a:spLocks noGrp="1"/>
          </p:cNvSpPr>
          <p:nvPr>
            <p:ph type="dt" sz="half" idx="10"/>
          </p:nvPr>
        </p:nvSpPr>
        <p:spPr/>
        <p:txBody>
          <a:bodyPr/>
          <a:lstStyle/>
          <a:p>
            <a:fld id="{0D881F7E-4ADE-472C-A415-A17B5E0BB307}" type="datetime1">
              <a:rPr lang="en-US" smtClean="0"/>
              <a:t>5/2/2025</a:t>
            </a:fld>
            <a:endParaRPr lang="en-US"/>
          </a:p>
        </p:txBody>
      </p:sp>
      <p:sp>
        <p:nvSpPr>
          <p:cNvPr id="3" name="Footer Placeholder 2">
            <a:extLst>
              <a:ext uri="{FF2B5EF4-FFF2-40B4-BE49-F238E27FC236}">
                <a16:creationId xmlns:a16="http://schemas.microsoft.com/office/drawing/2014/main" id="{BAB80DAC-0C50-CFA4-B14A-57E721B9C3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B4DB19-5A27-A449-6045-D173260AE5C4}"/>
              </a:ext>
            </a:extLst>
          </p:cNvPr>
          <p:cNvSpPr>
            <a:spLocks noGrp="1"/>
          </p:cNvSpPr>
          <p:nvPr>
            <p:ph type="sldNum" sz="quarter" idx="12"/>
          </p:nvPr>
        </p:nvSpPr>
        <p:spPr/>
        <p:txBody>
          <a:bodyPr/>
          <a:lstStyle/>
          <a:p>
            <a:fld id="{FFA44557-6723-474F-8BC8-E80F4E6DF2E8}" type="slidenum">
              <a:rPr lang="en-US" smtClean="0"/>
              <a:t>‹#›</a:t>
            </a:fld>
            <a:endParaRPr lang="en-US"/>
          </a:p>
        </p:txBody>
      </p:sp>
    </p:spTree>
    <p:extLst>
      <p:ext uri="{BB962C8B-B14F-4D97-AF65-F5344CB8AC3E}">
        <p14:creationId xmlns:p14="http://schemas.microsoft.com/office/powerpoint/2010/main" val="4105133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C866B-64F6-CF40-3060-2B1BEC3556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F2B08B-DCAD-2915-7130-D4B570B0DA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5EAB200-A614-CD0D-21A1-B2466823BC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BDD770-D26D-5A1B-37FC-545D16D31BB1}"/>
              </a:ext>
            </a:extLst>
          </p:cNvPr>
          <p:cNvSpPr>
            <a:spLocks noGrp="1"/>
          </p:cNvSpPr>
          <p:nvPr>
            <p:ph type="dt" sz="half" idx="10"/>
          </p:nvPr>
        </p:nvSpPr>
        <p:spPr/>
        <p:txBody>
          <a:bodyPr/>
          <a:lstStyle/>
          <a:p>
            <a:fld id="{CEA869DE-0A63-4328-8502-1B801E9AA1D7}" type="datetime1">
              <a:rPr lang="en-US" smtClean="0"/>
              <a:t>5/2/2025</a:t>
            </a:fld>
            <a:endParaRPr lang="en-US"/>
          </a:p>
        </p:txBody>
      </p:sp>
      <p:sp>
        <p:nvSpPr>
          <p:cNvPr id="6" name="Footer Placeholder 5">
            <a:extLst>
              <a:ext uri="{FF2B5EF4-FFF2-40B4-BE49-F238E27FC236}">
                <a16:creationId xmlns:a16="http://schemas.microsoft.com/office/drawing/2014/main" id="{F1E20989-D3E6-DCC1-E505-CA5F8B43EB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0F1EBF-0BD5-58B7-C55D-B44E29CF77CF}"/>
              </a:ext>
            </a:extLst>
          </p:cNvPr>
          <p:cNvSpPr>
            <a:spLocks noGrp="1"/>
          </p:cNvSpPr>
          <p:nvPr>
            <p:ph type="sldNum" sz="quarter" idx="12"/>
          </p:nvPr>
        </p:nvSpPr>
        <p:spPr/>
        <p:txBody>
          <a:bodyPr/>
          <a:lstStyle/>
          <a:p>
            <a:fld id="{FFA44557-6723-474F-8BC8-E80F4E6DF2E8}" type="slidenum">
              <a:rPr lang="en-US" smtClean="0"/>
              <a:t>‹#›</a:t>
            </a:fld>
            <a:endParaRPr lang="en-US"/>
          </a:p>
        </p:txBody>
      </p:sp>
    </p:spTree>
    <p:extLst>
      <p:ext uri="{BB962C8B-B14F-4D97-AF65-F5344CB8AC3E}">
        <p14:creationId xmlns:p14="http://schemas.microsoft.com/office/powerpoint/2010/main" val="3726738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246E-BC7C-2CE2-7376-35BAD76052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8E6E22-8184-7209-3B0B-36C3AE62B7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176176-81C9-5A66-840C-D25331333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808765-5C8F-371D-5741-72F272869269}"/>
              </a:ext>
            </a:extLst>
          </p:cNvPr>
          <p:cNvSpPr>
            <a:spLocks noGrp="1"/>
          </p:cNvSpPr>
          <p:nvPr>
            <p:ph type="dt" sz="half" idx="10"/>
          </p:nvPr>
        </p:nvSpPr>
        <p:spPr/>
        <p:txBody>
          <a:bodyPr/>
          <a:lstStyle/>
          <a:p>
            <a:fld id="{AE2932BC-714B-48B7-83E5-48404F5903D8}" type="datetime1">
              <a:rPr lang="en-US" smtClean="0"/>
              <a:t>5/2/2025</a:t>
            </a:fld>
            <a:endParaRPr lang="en-US"/>
          </a:p>
        </p:txBody>
      </p:sp>
      <p:sp>
        <p:nvSpPr>
          <p:cNvPr id="6" name="Footer Placeholder 5">
            <a:extLst>
              <a:ext uri="{FF2B5EF4-FFF2-40B4-BE49-F238E27FC236}">
                <a16:creationId xmlns:a16="http://schemas.microsoft.com/office/drawing/2014/main" id="{5E432814-0ADE-BDA3-25D9-525B9E0F8B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13608-2485-3D85-445D-4AB5B9CCFD52}"/>
              </a:ext>
            </a:extLst>
          </p:cNvPr>
          <p:cNvSpPr>
            <a:spLocks noGrp="1"/>
          </p:cNvSpPr>
          <p:nvPr>
            <p:ph type="sldNum" sz="quarter" idx="12"/>
          </p:nvPr>
        </p:nvSpPr>
        <p:spPr/>
        <p:txBody>
          <a:bodyPr/>
          <a:lstStyle/>
          <a:p>
            <a:fld id="{FFA44557-6723-474F-8BC8-E80F4E6DF2E8}" type="slidenum">
              <a:rPr lang="en-US" smtClean="0"/>
              <a:t>‹#›</a:t>
            </a:fld>
            <a:endParaRPr lang="en-US"/>
          </a:p>
        </p:txBody>
      </p:sp>
    </p:spTree>
    <p:extLst>
      <p:ext uri="{BB962C8B-B14F-4D97-AF65-F5344CB8AC3E}">
        <p14:creationId xmlns:p14="http://schemas.microsoft.com/office/powerpoint/2010/main" val="2824574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D1DEC-97B8-BAC6-B63E-5762A97549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B9AE84-8FF5-D9E0-D775-4017AA14BB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89396E-5A0D-8AC2-F97F-C25C6B631A0A}"/>
              </a:ext>
            </a:extLst>
          </p:cNvPr>
          <p:cNvSpPr>
            <a:spLocks noGrp="1"/>
          </p:cNvSpPr>
          <p:nvPr>
            <p:ph type="dt" sz="half" idx="10"/>
          </p:nvPr>
        </p:nvSpPr>
        <p:spPr/>
        <p:txBody>
          <a:bodyPr/>
          <a:lstStyle/>
          <a:p>
            <a:fld id="{32867CAB-5CB7-45E6-8E39-07D90C9F3970}" type="datetime1">
              <a:rPr lang="en-US" smtClean="0"/>
              <a:t>5/2/2025</a:t>
            </a:fld>
            <a:endParaRPr lang="en-US"/>
          </a:p>
        </p:txBody>
      </p:sp>
      <p:sp>
        <p:nvSpPr>
          <p:cNvPr id="5" name="Footer Placeholder 4">
            <a:extLst>
              <a:ext uri="{FF2B5EF4-FFF2-40B4-BE49-F238E27FC236}">
                <a16:creationId xmlns:a16="http://schemas.microsoft.com/office/drawing/2014/main" id="{CC3F26B0-4A18-13BF-8FD7-005E37B450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338ED-6F1C-4729-2C88-BDFA40D1DABF}"/>
              </a:ext>
            </a:extLst>
          </p:cNvPr>
          <p:cNvSpPr>
            <a:spLocks noGrp="1"/>
          </p:cNvSpPr>
          <p:nvPr>
            <p:ph type="sldNum" sz="quarter" idx="12"/>
          </p:nvPr>
        </p:nvSpPr>
        <p:spPr/>
        <p:txBody>
          <a:bodyPr/>
          <a:lstStyle/>
          <a:p>
            <a:fld id="{FFA44557-6723-474F-8BC8-E80F4E6DF2E8}" type="slidenum">
              <a:rPr lang="en-US" smtClean="0"/>
              <a:t>‹#›</a:t>
            </a:fld>
            <a:endParaRPr lang="en-US"/>
          </a:p>
        </p:txBody>
      </p:sp>
    </p:spTree>
    <p:extLst>
      <p:ext uri="{BB962C8B-B14F-4D97-AF65-F5344CB8AC3E}">
        <p14:creationId xmlns:p14="http://schemas.microsoft.com/office/powerpoint/2010/main" val="2216636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223BDA-5A16-3244-E9F3-068B08357A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E0AE9F-79CF-D780-5175-94BFE3AED4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FFFD6E-D3E8-080A-D717-D73B141F468B}"/>
              </a:ext>
            </a:extLst>
          </p:cNvPr>
          <p:cNvSpPr>
            <a:spLocks noGrp="1"/>
          </p:cNvSpPr>
          <p:nvPr>
            <p:ph type="dt" sz="half" idx="10"/>
          </p:nvPr>
        </p:nvSpPr>
        <p:spPr/>
        <p:txBody>
          <a:bodyPr/>
          <a:lstStyle/>
          <a:p>
            <a:fld id="{5CE22123-D1BA-49E1-9C15-BA66CEEB1683}" type="datetime1">
              <a:rPr lang="en-US" smtClean="0"/>
              <a:t>5/2/2025</a:t>
            </a:fld>
            <a:endParaRPr lang="en-US"/>
          </a:p>
        </p:txBody>
      </p:sp>
      <p:sp>
        <p:nvSpPr>
          <p:cNvPr id="5" name="Footer Placeholder 4">
            <a:extLst>
              <a:ext uri="{FF2B5EF4-FFF2-40B4-BE49-F238E27FC236}">
                <a16:creationId xmlns:a16="http://schemas.microsoft.com/office/drawing/2014/main" id="{CAA06438-D7D7-76B1-07B6-C963AA99F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3F4A24-77BD-1AC5-4AC0-AB4D86A6AC6A}"/>
              </a:ext>
            </a:extLst>
          </p:cNvPr>
          <p:cNvSpPr>
            <a:spLocks noGrp="1"/>
          </p:cNvSpPr>
          <p:nvPr>
            <p:ph type="sldNum" sz="quarter" idx="12"/>
          </p:nvPr>
        </p:nvSpPr>
        <p:spPr/>
        <p:txBody>
          <a:bodyPr/>
          <a:lstStyle/>
          <a:p>
            <a:fld id="{FFA44557-6723-474F-8BC8-E80F4E6DF2E8}" type="slidenum">
              <a:rPr lang="en-US" smtClean="0"/>
              <a:t>‹#›</a:t>
            </a:fld>
            <a:endParaRPr lang="en-US"/>
          </a:p>
        </p:txBody>
      </p:sp>
    </p:spTree>
    <p:extLst>
      <p:ext uri="{BB962C8B-B14F-4D97-AF65-F5344CB8AC3E}">
        <p14:creationId xmlns:p14="http://schemas.microsoft.com/office/powerpoint/2010/main" val="327341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133DA7-58FA-244B-5EE7-9FE86DC170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676AF4-392F-2655-C568-36A7C79854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2C89C4-90B6-8BEB-5C22-D0CE452EF1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6E3A06-801D-410F-B9B0-421EBDB01329}" type="datetime1">
              <a:rPr lang="en-US" smtClean="0"/>
              <a:t>5/2/2025</a:t>
            </a:fld>
            <a:endParaRPr lang="en-US"/>
          </a:p>
        </p:txBody>
      </p:sp>
      <p:sp>
        <p:nvSpPr>
          <p:cNvPr id="5" name="Footer Placeholder 4">
            <a:extLst>
              <a:ext uri="{FF2B5EF4-FFF2-40B4-BE49-F238E27FC236}">
                <a16:creationId xmlns:a16="http://schemas.microsoft.com/office/drawing/2014/main" id="{A025362E-7DC3-44C1-D7B3-8AE40DF127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3E5CB6-EAF6-92B6-893C-F7BCF2B122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A44557-6723-474F-8BC8-E80F4E6DF2E8}" type="slidenum">
              <a:rPr lang="en-US" smtClean="0"/>
              <a:t>‹#›</a:t>
            </a:fld>
            <a:endParaRPr lang="en-US"/>
          </a:p>
        </p:txBody>
      </p:sp>
    </p:spTree>
    <p:extLst>
      <p:ext uri="{BB962C8B-B14F-4D97-AF65-F5344CB8AC3E}">
        <p14:creationId xmlns:p14="http://schemas.microsoft.com/office/powerpoint/2010/main" val="3865962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Freeform: Shape 1032">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C874257-CE49-9359-5491-FC8F756C383F}"/>
              </a:ext>
            </a:extLst>
          </p:cNvPr>
          <p:cNvSpPr>
            <a:spLocks noGrp="1"/>
          </p:cNvSpPr>
          <p:nvPr>
            <p:ph type="ctrTitle"/>
          </p:nvPr>
        </p:nvSpPr>
        <p:spPr>
          <a:xfrm>
            <a:off x="773408" y="992094"/>
            <a:ext cx="3616913" cy="2795160"/>
          </a:xfrm>
        </p:spPr>
        <p:txBody>
          <a:bodyPr>
            <a:normAutofit/>
          </a:bodyPr>
          <a:lstStyle/>
          <a:p>
            <a:r>
              <a:rPr lang="en-US" sz="4400" dirty="0">
                <a:latin typeface="Arial Bold" panose="020B0704020202020204" pitchFamily="34" charset="0"/>
                <a:cs typeface="Arial Bold" panose="020B0704020202020204" pitchFamily="34" charset="0"/>
              </a:rPr>
              <a:t>Gaussian Distribution of PID Cloud Fragments</a:t>
            </a:r>
          </a:p>
        </p:txBody>
      </p:sp>
      <p:sp>
        <p:nvSpPr>
          <p:cNvPr id="3" name="Subtitle 2">
            <a:extLst>
              <a:ext uri="{FF2B5EF4-FFF2-40B4-BE49-F238E27FC236}">
                <a16:creationId xmlns:a16="http://schemas.microsoft.com/office/drawing/2014/main" id="{9BCA8692-3B40-A5A1-5B3C-2332EBAEF77A}"/>
              </a:ext>
            </a:extLst>
          </p:cNvPr>
          <p:cNvSpPr>
            <a:spLocks noGrp="1"/>
          </p:cNvSpPr>
          <p:nvPr>
            <p:ph type="subTitle" idx="1"/>
          </p:nvPr>
        </p:nvSpPr>
        <p:spPr>
          <a:xfrm>
            <a:off x="996287" y="4121253"/>
            <a:ext cx="3125337" cy="1136843"/>
          </a:xfrm>
        </p:spPr>
        <p:txBody>
          <a:bodyPr>
            <a:normAutofit/>
          </a:bodyPr>
          <a:lstStyle/>
          <a:p>
            <a:r>
              <a:rPr lang="en-US" sz="1500" dirty="0">
                <a:latin typeface="Arial" panose="020B0604020202020204" pitchFamily="34" charset="0"/>
                <a:cs typeface="Arial" panose="020B0604020202020204" pitchFamily="34" charset="0"/>
              </a:rPr>
              <a:t>Kamyar Modjtahedzadeh</a:t>
            </a:r>
          </a:p>
          <a:p>
            <a:r>
              <a:rPr lang="en-US" sz="1500" i="1" dirty="0">
                <a:latin typeface="Arial" panose="020B0604020202020204" pitchFamily="34" charset="0"/>
                <a:cs typeface="Arial" panose="020B0604020202020204" pitchFamily="34" charset="0"/>
              </a:rPr>
              <a:t>Boeing Intelligence &amp; Analytics</a:t>
            </a:r>
          </a:p>
          <a:p>
            <a:r>
              <a:rPr lang="en-US" sz="1500" dirty="0">
                <a:latin typeface="Arial" panose="020B0604020202020204" pitchFamily="34" charset="0"/>
                <a:cs typeface="Arial" panose="020B0604020202020204" pitchFamily="34" charset="0"/>
              </a:rPr>
              <a:t>May 2, 2025</a:t>
            </a:r>
          </a:p>
        </p:txBody>
      </p:sp>
      <p:pic>
        <p:nvPicPr>
          <p:cNvPr id="1026" name="Picture 2" descr="Boeing Intelligence &amp; Analytics | Strategic Solutions">
            <a:extLst>
              <a:ext uri="{FF2B5EF4-FFF2-40B4-BE49-F238E27FC236}">
                <a16:creationId xmlns:a16="http://schemas.microsoft.com/office/drawing/2014/main" id="{0C9968FC-9284-E526-B631-C131F74C625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895751" y="1658601"/>
            <a:ext cx="5708649" cy="351082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CAD858B5-B5E9-B99A-B8DF-D1B38213D17A}"/>
              </a:ext>
            </a:extLst>
          </p:cNvPr>
          <p:cNvSpPr>
            <a:spLocks noGrp="1"/>
          </p:cNvSpPr>
          <p:nvPr>
            <p:ph type="sldNum" sz="quarter" idx="12"/>
          </p:nvPr>
        </p:nvSpPr>
        <p:spPr>
          <a:xfrm>
            <a:off x="8610600" y="6356350"/>
            <a:ext cx="2743200" cy="365125"/>
          </a:xfrm>
        </p:spPr>
        <p:txBody>
          <a:bodyPr>
            <a:normAutofit/>
          </a:bodyPr>
          <a:lstStyle/>
          <a:p>
            <a:pPr>
              <a:spcAft>
                <a:spcPts val="600"/>
              </a:spcAft>
            </a:pPr>
            <a:fld id="{FFA44557-6723-474F-8BC8-E80F4E6DF2E8}" type="slidenum">
              <a:rPr lang="en-US" sz="1000" smtClean="0"/>
              <a:pPr>
                <a:spcAft>
                  <a:spcPts val="600"/>
                </a:spcAft>
              </a:pPr>
              <a:t>1</a:t>
            </a:fld>
            <a:endParaRPr lang="en-US" sz="1000"/>
          </a:p>
        </p:txBody>
      </p:sp>
    </p:spTree>
    <p:extLst>
      <p:ext uri="{BB962C8B-B14F-4D97-AF65-F5344CB8AC3E}">
        <p14:creationId xmlns:p14="http://schemas.microsoft.com/office/powerpoint/2010/main" val="2673234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0507CD-EDB4-B986-51BA-10BE5B37EE96}"/>
              </a:ext>
            </a:extLst>
          </p:cNvPr>
          <p:cNvSpPr>
            <a:spLocks noGrp="1"/>
          </p:cNvSpPr>
          <p:nvPr>
            <p:ph type="title"/>
          </p:nvPr>
        </p:nvSpPr>
        <p:spPr>
          <a:xfrm>
            <a:off x="956826" y="1112969"/>
            <a:ext cx="3937298" cy="4166010"/>
          </a:xfrm>
        </p:spPr>
        <p:txBody>
          <a:bodyPr>
            <a:normAutofit/>
          </a:bodyPr>
          <a:lstStyle/>
          <a:p>
            <a:pPr algn="ctr"/>
            <a:r>
              <a:rPr lang="en-US" dirty="0">
                <a:solidFill>
                  <a:srgbClr val="FFFFFF"/>
                </a:solidFill>
                <a:latin typeface="Arial Bold" panose="020B0704020202020204" pitchFamily="34" charset="0"/>
                <a:cs typeface="Arial Bold" panose="020B0704020202020204" pitchFamily="34" charset="0"/>
              </a:rPr>
              <a:t>Motivation</a:t>
            </a:r>
          </a:p>
        </p:txBody>
      </p:sp>
      <p:sp>
        <p:nvSpPr>
          <p:cNvPr id="13" name="Freeform: Shape 12">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47FAEE15-379A-4F50-97A7-695281EE7664}"/>
              </a:ext>
            </a:extLst>
          </p:cNvPr>
          <p:cNvSpPr>
            <a:spLocks noGrp="1"/>
          </p:cNvSpPr>
          <p:nvPr>
            <p:ph idx="1"/>
          </p:nvPr>
        </p:nvSpPr>
        <p:spPr>
          <a:xfrm>
            <a:off x="6096000" y="820880"/>
            <a:ext cx="5257799" cy="4889350"/>
          </a:xfrm>
        </p:spPr>
        <p:txBody>
          <a:bodyPr anchor="t">
            <a:normAutofit/>
          </a:bodyPr>
          <a:lstStyle/>
          <a:p>
            <a:r>
              <a:rPr lang="en-US" dirty="0"/>
              <a:t>Long term interest in the concept of </a:t>
            </a:r>
            <a:r>
              <a:rPr lang="en-US" i="1" dirty="0"/>
              <a:t>debris clouds</a:t>
            </a:r>
          </a:p>
          <a:p>
            <a:endParaRPr lang="en-US" dirty="0"/>
          </a:p>
          <a:p>
            <a:r>
              <a:rPr lang="en-US" dirty="0"/>
              <a:t>More stars in the observable universe than grains of sand on Earth</a:t>
            </a:r>
          </a:p>
          <a:p>
            <a:pPr lvl="1">
              <a:buFont typeface="Wingdings" panose="05000000000000000000" pitchFamily="2" charset="2"/>
              <a:buChar char="§"/>
            </a:pPr>
            <a:r>
              <a:rPr lang="en-US" b="0" dirty="0"/>
              <a:t>concept of </a:t>
            </a:r>
            <a:r>
              <a:rPr lang="en-US" b="0" i="1" dirty="0"/>
              <a:t>packing density</a:t>
            </a:r>
          </a:p>
          <a:p>
            <a:pPr lvl="1"/>
            <a:endParaRPr lang="en-US" i="1" dirty="0"/>
          </a:p>
          <a:p>
            <a:r>
              <a:rPr lang="en-US" b="0" dirty="0"/>
              <a:t>Goal: Find the probability of impact given an interceptor is flying through a cloud of debris.</a:t>
            </a:r>
          </a:p>
        </p:txBody>
      </p:sp>
      <p:sp>
        <p:nvSpPr>
          <p:cNvPr id="19" name="Freeform: Shape 18">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Slide Number Placeholder 3">
            <a:extLst>
              <a:ext uri="{FF2B5EF4-FFF2-40B4-BE49-F238E27FC236}">
                <a16:creationId xmlns:a16="http://schemas.microsoft.com/office/drawing/2014/main" id="{70808B9F-14DD-67B1-08CD-151934B8F0B1}"/>
              </a:ext>
            </a:extLst>
          </p:cNvPr>
          <p:cNvSpPr>
            <a:spLocks noGrp="1"/>
          </p:cNvSpPr>
          <p:nvPr>
            <p:ph type="sldNum" sz="quarter" idx="12"/>
          </p:nvPr>
        </p:nvSpPr>
        <p:spPr>
          <a:xfrm>
            <a:off x="10506330" y="6356350"/>
            <a:ext cx="847470" cy="365125"/>
          </a:xfrm>
        </p:spPr>
        <p:txBody>
          <a:bodyPr>
            <a:normAutofit/>
          </a:bodyPr>
          <a:lstStyle/>
          <a:p>
            <a:pPr>
              <a:spcAft>
                <a:spcPts val="600"/>
              </a:spcAft>
            </a:pPr>
            <a:fld id="{FFA44557-6723-474F-8BC8-E80F4E6DF2E8}" type="slidenum">
              <a:rPr lang="en-US" smtClean="0"/>
              <a:pPr>
                <a:spcAft>
                  <a:spcPts val="600"/>
                </a:spcAft>
              </a:pPr>
              <a:t>2</a:t>
            </a:fld>
            <a:endParaRPr lang="en-US"/>
          </a:p>
        </p:txBody>
      </p:sp>
    </p:spTree>
    <p:extLst>
      <p:ext uri="{BB962C8B-B14F-4D97-AF65-F5344CB8AC3E}">
        <p14:creationId xmlns:p14="http://schemas.microsoft.com/office/powerpoint/2010/main" val="359241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23"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6" name="Group 2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7" name="Freeform: Shape 2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4BCB0924-243F-1B75-345B-F4C84D6D136A}"/>
              </a:ext>
            </a:extLst>
          </p:cNvPr>
          <p:cNvSpPr>
            <a:spLocks noGrp="1"/>
          </p:cNvSpPr>
          <p:nvPr>
            <p:ph type="title"/>
          </p:nvPr>
        </p:nvSpPr>
        <p:spPr>
          <a:xfrm>
            <a:off x="786385" y="841248"/>
            <a:ext cx="3515244" cy="5340097"/>
          </a:xfrm>
        </p:spPr>
        <p:txBody>
          <a:bodyPr anchor="ctr">
            <a:normAutofit/>
          </a:bodyPr>
          <a:lstStyle/>
          <a:p>
            <a:r>
              <a:rPr lang="en-US" sz="4100" dirty="0">
                <a:solidFill>
                  <a:schemeClr val="bg1"/>
                </a:solidFill>
                <a:latin typeface="Arial Bold" panose="020B0704020202020204" pitchFamily="34" charset="0"/>
                <a:cs typeface="Arial Bold" panose="020B0704020202020204" pitchFamily="34" charset="0"/>
              </a:rPr>
              <a:t>Presentation Outline</a:t>
            </a:r>
          </a:p>
        </p:txBody>
      </p:sp>
      <p:sp>
        <p:nvSpPr>
          <p:cNvPr id="4" name="Slide Number Placeholder 3">
            <a:extLst>
              <a:ext uri="{FF2B5EF4-FFF2-40B4-BE49-F238E27FC236}">
                <a16:creationId xmlns:a16="http://schemas.microsoft.com/office/drawing/2014/main" id="{29FEC4D4-ACF1-79CA-947E-2D4B02EACB79}"/>
              </a:ext>
            </a:extLst>
          </p:cNvPr>
          <p:cNvSpPr>
            <a:spLocks noGrp="1"/>
          </p:cNvSpPr>
          <p:nvPr>
            <p:ph type="sldNum" sz="quarter" idx="12"/>
          </p:nvPr>
        </p:nvSpPr>
        <p:spPr>
          <a:xfrm>
            <a:off x="11548872" y="6217920"/>
            <a:ext cx="640080" cy="640080"/>
          </a:xfrm>
        </p:spPr>
        <p:txBody>
          <a:bodyPr>
            <a:normAutofit/>
          </a:bodyPr>
          <a:lstStyle/>
          <a:p>
            <a:pPr algn="ctr">
              <a:spcAft>
                <a:spcPts val="600"/>
              </a:spcAft>
            </a:pPr>
            <a:fld id="{FFA44557-6723-474F-8BC8-E80F4E6DF2E8}" type="slidenum">
              <a:rPr lang="en-US" sz="1600" smtClean="0">
                <a:solidFill>
                  <a:schemeClr val="tx2"/>
                </a:solidFill>
              </a:rPr>
              <a:pPr algn="ctr">
                <a:spcAft>
                  <a:spcPts val="600"/>
                </a:spcAft>
              </a:pPr>
              <a:t>3</a:t>
            </a:fld>
            <a:endParaRPr lang="en-US" sz="1600">
              <a:solidFill>
                <a:schemeClr val="tx2"/>
              </a:solidFill>
            </a:endParaRPr>
          </a:p>
        </p:txBody>
      </p:sp>
      <p:graphicFrame>
        <p:nvGraphicFramePr>
          <p:cNvPr id="13" name="Content Placeholder 2">
            <a:extLst>
              <a:ext uri="{FF2B5EF4-FFF2-40B4-BE49-F238E27FC236}">
                <a16:creationId xmlns:a16="http://schemas.microsoft.com/office/drawing/2014/main" id="{66297FD1-D3BA-DBE6-E279-8A7A0838DB98}"/>
              </a:ext>
            </a:extLst>
          </p:cNvPr>
          <p:cNvGraphicFramePr>
            <a:graphicFrameLocks noGrp="1"/>
          </p:cNvGraphicFramePr>
          <p:nvPr>
            <p:ph idx="1"/>
            <p:extLst>
              <p:ext uri="{D42A27DB-BD31-4B8C-83A1-F6EECF244321}">
                <p14:modId xmlns:p14="http://schemas.microsoft.com/office/powerpoint/2010/main" val="872394754"/>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6372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176D22A2-CF8A-B3F3-801E-FEADC99F45F1}"/>
              </a:ext>
            </a:extLst>
          </p:cNvPr>
          <p:cNvSpPr>
            <a:spLocks noGrp="1"/>
          </p:cNvSpPr>
          <p:nvPr>
            <p:ph type="title"/>
          </p:nvPr>
        </p:nvSpPr>
        <p:spPr>
          <a:xfrm>
            <a:off x="4162567" y="818984"/>
            <a:ext cx="6714699" cy="3178689"/>
          </a:xfrm>
        </p:spPr>
        <p:txBody>
          <a:bodyPr vert="horz" lIns="91440" tIns="45720" rIns="91440" bIns="45720" rtlCol="0" anchor="b">
            <a:normAutofit/>
          </a:bodyPr>
          <a:lstStyle/>
          <a:p>
            <a:r>
              <a:rPr lang="en-US" sz="3600" kern="1200" dirty="0">
                <a:solidFill>
                  <a:srgbClr val="FFFFFF"/>
                </a:solidFill>
                <a:latin typeface="Arial Black" panose="020B0A04020102020204" pitchFamily="34" charset="0"/>
              </a:rPr>
              <a:t>I.   Packing Density Model</a:t>
            </a:r>
          </a:p>
        </p:txBody>
      </p:sp>
      <p:sp>
        <p:nvSpPr>
          <p:cNvPr id="23" name="Rectangle 22">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D4693018-272D-241C-B4CD-381A144FDF51}"/>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FFA44557-6723-474F-8BC8-E80F4E6DF2E8}" type="slidenum">
              <a:rPr lang="en-US" sz="1100">
                <a:solidFill>
                  <a:srgbClr val="FFFFFF"/>
                </a:solidFill>
              </a:rPr>
              <a:pPr>
                <a:spcAft>
                  <a:spcPts val="600"/>
                </a:spcAft>
              </a:pPr>
              <a:t>4</a:t>
            </a:fld>
            <a:endParaRPr lang="en-US" sz="1100">
              <a:solidFill>
                <a:srgbClr val="FFFFFF"/>
              </a:solidFill>
            </a:endParaRPr>
          </a:p>
        </p:txBody>
      </p:sp>
    </p:spTree>
    <p:extLst>
      <p:ext uri="{BB962C8B-B14F-4D97-AF65-F5344CB8AC3E}">
        <p14:creationId xmlns:p14="http://schemas.microsoft.com/office/powerpoint/2010/main" val="3831949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7EB208-A80E-07A6-659D-CBDD1929D10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2" name="Rectangle 11">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5" name="Rectangle 37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2BC02E-B550-24D4-E79A-8A2972CA4DE0}"/>
              </a:ext>
            </a:extLst>
          </p:cNvPr>
          <p:cNvSpPr>
            <a:spLocks noGrp="1"/>
          </p:cNvSpPr>
          <p:nvPr>
            <p:ph type="title"/>
          </p:nvPr>
        </p:nvSpPr>
        <p:spPr>
          <a:xfrm>
            <a:off x="1282963" y="1238080"/>
            <a:ext cx="9849751" cy="1349671"/>
          </a:xfrm>
        </p:spPr>
        <p:txBody>
          <a:bodyPr anchor="b">
            <a:normAutofit/>
          </a:bodyPr>
          <a:lstStyle/>
          <a:p>
            <a:r>
              <a:rPr lang="en-US" sz="5400" dirty="0">
                <a:latin typeface="Arial Bold" panose="020B0704020202020204" pitchFamily="34" charset="0"/>
                <a:cs typeface="Arial Bold" panose="020B0704020202020204" pitchFamily="34" charset="0"/>
              </a:rPr>
              <a:t>PID Cloud Formation</a:t>
            </a:r>
          </a:p>
        </p:txBody>
      </p:sp>
      <p:sp>
        <p:nvSpPr>
          <p:cNvPr id="3" name="Content Placeholder 2">
            <a:extLst>
              <a:ext uri="{FF2B5EF4-FFF2-40B4-BE49-F238E27FC236}">
                <a16:creationId xmlns:a16="http://schemas.microsoft.com/office/drawing/2014/main" id="{F7C74E75-1B36-9100-F8B5-ADBB1354A1AA}"/>
              </a:ext>
            </a:extLst>
          </p:cNvPr>
          <p:cNvSpPr>
            <a:spLocks noGrp="1"/>
          </p:cNvSpPr>
          <p:nvPr>
            <p:ph idx="1"/>
          </p:nvPr>
        </p:nvSpPr>
        <p:spPr>
          <a:xfrm>
            <a:off x="1289304" y="2902913"/>
            <a:ext cx="9849751" cy="3032168"/>
          </a:xfrm>
        </p:spPr>
        <p:txBody>
          <a:bodyPr anchor="ctr">
            <a:normAutofit/>
          </a:bodyPr>
          <a:lstStyle/>
          <a:p>
            <a:r>
              <a:rPr lang="en-US" sz="2000" dirty="0">
                <a:latin typeface="Arial" panose="020B0604020202020204" pitchFamily="34" charset="0"/>
                <a:cs typeface="Arial" panose="020B0604020202020204" pitchFamily="34" charset="0"/>
              </a:rPr>
              <a:t>A uniform solid sphere exists in space.</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It either explodes or collides with another body such as an interceptor and causes the sphere to fragment into equivalent pieces of post-impact debris (PID) with all the PID fragments being evenly spaced.</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The fragments forms a cloud resembling a sphere.</a:t>
            </a:r>
          </a:p>
        </p:txBody>
      </p:sp>
      <p:sp>
        <p:nvSpPr>
          <p:cNvPr id="4" name="Slide Number Placeholder 3">
            <a:extLst>
              <a:ext uri="{FF2B5EF4-FFF2-40B4-BE49-F238E27FC236}">
                <a16:creationId xmlns:a16="http://schemas.microsoft.com/office/drawing/2014/main" id="{2959A25B-432B-AA1E-36D3-2F9870C4C1E3}"/>
              </a:ext>
            </a:extLst>
          </p:cNvPr>
          <p:cNvSpPr>
            <a:spLocks noGrp="1"/>
          </p:cNvSpPr>
          <p:nvPr>
            <p:ph type="sldNum" sz="quarter" idx="12"/>
          </p:nvPr>
        </p:nvSpPr>
        <p:spPr>
          <a:xfrm>
            <a:off x="8610600" y="6492240"/>
            <a:ext cx="2522114" cy="365125"/>
          </a:xfrm>
        </p:spPr>
        <p:txBody>
          <a:bodyPr>
            <a:normAutofit/>
          </a:bodyPr>
          <a:lstStyle/>
          <a:p>
            <a:pPr>
              <a:spcAft>
                <a:spcPts val="600"/>
              </a:spcAft>
            </a:pPr>
            <a:fld id="{FFA44557-6723-474F-8BC8-E80F4E6DF2E8}" type="slidenum">
              <a:rPr lang="en-US" smtClean="0"/>
              <a:pPr>
                <a:spcAft>
                  <a:spcPts val="600"/>
                </a:spcAft>
              </a:pPr>
              <a:t>5</a:t>
            </a:fld>
            <a:endParaRPr lang="en-US"/>
          </a:p>
        </p:txBody>
      </p:sp>
    </p:spTree>
    <p:extLst>
      <p:ext uri="{BB962C8B-B14F-4D97-AF65-F5344CB8AC3E}">
        <p14:creationId xmlns:p14="http://schemas.microsoft.com/office/powerpoint/2010/main" val="301420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8" name="Rectangle 217">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Freeform: Shape 218">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7C798DAA-5BCD-D782-DDC3-AF293A75697A}"/>
              </a:ext>
            </a:extLst>
          </p:cNvPr>
          <p:cNvSpPr>
            <a:spLocks noGrp="1"/>
          </p:cNvSpPr>
          <p:nvPr>
            <p:ph type="title"/>
          </p:nvPr>
        </p:nvSpPr>
        <p:spPr>
          <a:xfrm>
            <a:off x="497973" y="393380"/>
            <a:ext cx="7655427" cy="739881"/>
          </a:xfrm>
        </p:spPr>
        <p:txBody>
          <a:bodyPr vert="horz" lIns="91440" tIns="45720" rIns="91440" bIns="45720" rtlCol="0" anchor="b">
            <a:normAutofit/>
          </a:bodyPr>
          <a:lstStyle/>
          <a:p>
            <a:r>
              <a:rPr lang="en-US" sz="3600" b="1"/>
              <a:t>Solid Sphere vs. PID Cloud</a:t>
            </a:r>
          </a:p>
        </p:txBody>
      </p:sp>
      <p:pic>
        <p:nvPicPr>
          <p:cNvPr id="5" name="Picture 4">
            <a:extLst>
              <a:ext uri="{FF2B5EF4-FFF2-40B4-BE49-F238E27FC236}">
                <a16:creationId xmlns:a16="http://schemas.microsoft.com/office/drawing/2014/main" id="{CF473555-4C69-FDC6-A504-25488DB8EF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108" y="2480642"/>
            <a:ext cx="2994578" cy="2994578"/>
          </a:xfrm>
          <a:prstGeom prst="rect">
            <a:avLst/>
          </a:prstGeom>
        </p:spPr>
      </p:pic>
      <p:pic>
        <p:nvPicPr>
          <p:cNvPr id="7" name="Content Placeholder 6" descr="Icon&#10;&#10;AI-generated content may be incorrect.">
            <a:extLst>
              <a:ext uri="{FF2B5EF4-FFF2-40B4-BE49-F238E27FC236}">
                <a16:creationId xmlns:a16="http://schemas.microsoft.com/office/drawing/2014/main" id="{2CAA17A2-97DB-C478-BA70-CD977EDE025D}"/>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619178" y="1355189"/>
            <a:ext cx="4650158" cy="4592032"/>
          </a:xfrm>
          <a:prstGeom prst="rect">
            <a:avLst/>
          </a:prstGeom>
        </p:spPr>
      </p:pic>
      <p:sp>
        <p:nvSpPr>
          <p:cNvPr id="217" name="Freeform: Shape 216">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C59E0036-130F-1230-121E-8FBF75CB765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FFA44557-6723-474F-8BC8-E80F4E6DF2E8}" type="slidenum">
              <a:rPr lang="en-US" sz="1000">
                <a:solidFill>
                  <a:schemeClr val="tx1">
                    <a:tint val="75000"/>
                  </a:schemeClr>
                </a:solidFill>
              </a:rPr>
              <a:pPr>
                <a:spcAft>
                  <a:spcPts val="600"/>
                </a:spcAft>
              </a:pPr>
              <a:t>6</a:t>
            </a:fld>
            <a:endParaRPr lang="en-US" sz="1000">
              <a:solidFill>
                <a:schemeClr val="tx1">
                  <a:tint val="75000"/>
                </a:schemeClr>
              </a:solidFill>
            </a:endParaRPr>
          </a:p>
        </p:txBody>
      </p:sp>
    </p:spTree>
    <p:extLst>
      <p:ext uri="{BB962C8B-B14F-4D97-AF65-F5344CB8AC3E}">
        <p14:creationId xmlns:p14="http://schemas.microsoft.com/office/powerpoint/2010/main" val="3292879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75C519-DC66-50F0-2F54-44E34578FEE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F1A08E3-3EA4-4C35-7AD5-E0D25C3A42AE}"/>
              </a:ext>
            </a:extLst>
          </p:cNvPr>
          <p:cNvSpPr>
            <a:spLocks noGrp="1"/>
          </p:cNvSpPr>
          <p:nvPr>
            <p:ph type="title"/>
          </p:nvPr>
        </p:nvSpPr>
        <p:spPr>
          <a:xfrm>
            <a:off x="841246" y="673770"/>
            <a:ext cx="3644489" cy="2414488"/>
          </a:xfrm>
        </p:spPr>
        <p:txBody>
          <a:bodyPr anchor="t">
            <a:normAutofit/>
          </a:bodyPr>
          <a:lstStyle/>
          <a:p>
            <a:r>
              <a:rPr lang="en-US" sz="4200" dirty="0">
                <a:solidFill>
                  <a:srgbClr val="FFFFFF"/>
                </a:solidFill>
                <a:latin typeface="Arial Bold" panose="020B0704020202020204" pitchFamily="34" charset="0"/>
                <a:cs typeface="Arial Bold" panose="020B0704020202020204" pitchFamily="34" charset="0"/>
              </a:rPr>
              <a:t>Packing Density &amp; Mass Conservation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CFB9CF9-B391-23E9-3B77-104A18F5AC71}"/>
                  </a:ext>
                </a:extLst>
              </p:cNvPr>
              <p:cNvSpPr>
                <a:spLocks noGrp="1"/>
              </p:cNvSpPr>
              <p:nvPr>
                <p:ph idx="1"/>
              </p:nvPr>
            </p:nvSpPr>
            <p:spPr>
              <a:xfrm>
                <a:off x="6095999" y="882315"/>
                <a:ext cx="5254754" cy="5294647"/>
              </a:xfrm>
            </p:spPr>
            <p:txBody>
              <a:bodyPr>
                <a:normAutofit fontScale="92500"/>
              </a:bodyPr>
              <a:lstStyle/>
              <a:p>
                <a:r>
                  <a:rPr lang="en-US" sz="2200" dirty="0">
                    <a:latin typeface="Arial" panose="020B0604020202020204" pitchFamily="34" charset="0"/>
                    <a:cs typeface="Arial" panose="020B0604020202020204" pitchFamily="34" charset="0"/>
                  </a:rPr>
                  <a:t>Packing density is </a:t>
                </a:r>
                <a:r>
                  <a:rPr lang="en-US" sz="2200" dirty="0">
                    <a:effectLst/>
                    <a:latin typeface="Arial" panose="020B0604020202020204" pitchFamily="34" charset="0"/>
                  </a:rPr>
                  <a:t>a number that captures how much space is filled by stuff, like grains of sand in a spherical shell.</a:t>
                </a: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The packing density of the cloud is always less than one, because the PID fragments don't fit together perfectly—there are always gaps or voids between them, so they can't fill the entire space like the original solid sphere did.</a:t>
                </a:r>
              </a:p>
              <a:p>
                <a:endParaRPr lang="en-US" sz="100" dirty="0">
                  <a:latin typeface="Arial" panose="020B0604020202020204" pitchFamily="34" charset="0"/>
                  <a:cs typeface="Arial" panose="020B0604020202020204" pitchFamily="34" charset="0"/>
                </a:endParaRPr>
              </a:p>
              <a:p>
                <a:pPr marL="457200" lvl="1" indent="0">
                  <a:buNone/>
                </a:pPr>
                <a14:m>
                  <m:oMathPara xmlns:m="http://schemas.openxmlformats.org/officeDocument/2006/math">
                    <m:oMathParaPr>
                      <m:jc m:val="centerGroup"/>
                    </m:oMathParaPr>
                    <m:oMath xmlns:m="http://schemas.openxmlformats.org/officeDocument/2006/math">
                      <m:d>
                        <m:dPr>
                          <m:begChr m:val="{"/>
                          <m:endChr m:val=""/>
                          <m:ctrlPr>
                            <a:rPr lang="en-US" sz="1800" i="1" smtClean="0">
                              <a:latin typeface="Cambria Math" panose="02040503050406030204" pitchFamily="18" charset="0"/>
                              <a:cs typeface="Arial" panose="020B0604020202020204" pitchFamily="34" charset="0"/>
                            </a:rPr>
                          </m:ctrlPr>
                        </m:dPr>
                        <m:e>
                          <m:eqArr>
                            <m:eqArrPr>
                              <m:ctrlPr>
                                <a:rPr lang="en-US" sz="1800" i="1" smtClean="0">
                                  <a:latin typeface="Cambria Math" panose="02040503050406030204" pitchFamily="18" charset="0"/>
                                  <a:cs typeface="Arial" panose="020B0604020202020204" pitchFamily="34" charset="0"/>
                                </a:rPr>
                              </m:ctrlPr>
                            </m:eqArrPr>
                            <m:e>
                              <m:sSub>
                                <m:sSubPr>
                                  <m:ctrlPr>
                                    <a:rPr lang="en-US" sz="1800" i="1">
                                      <a:latin typeface="Cambria Math" panose="02040503050406030204" pitchFamily="18" charset="0"/>
                                      <a:cs typeface="Arial" panose="020B0604020202020204" pitchFamily="34" charset="0"/>
                                    </a:rPr>
                                  </m:ctrlPr>
                                </m:sSubPr>
                                <m:e>
                                  <m:r>
                                    <a:rPr lang="en-US" sz="1800" i="1">
                                      <a:latin typeface="Cambria Math" panose="02040503050406030204" pitchFamily="18" charset="0"/>
                                      <a:cs typeface="Arial" panose="020B0604020202020204" pitchFamily="34" charset="0"/>
                                    </a:rPr>
                                    <m:t>𝜂</m:t>
                                  </m:r>
                                </m:e>
                                <m:sub>
                                  <m:r>
                                    <m:rPr>
                                      <m:sty m:val="p"/>
                                    </m:rPr>
                                    <a:rPr lang="en-US" sz="1800">
                                      <a:latin typeface="Cambria Math" panose="02040503050406030204" pitchFamily="18" charset="0"/>
                                      <a:cs typeface="Arial" panose="020B0604020202020204" pitchFamily="34" charset="0"/>
                                    </a:rPr>
                                    <m:t>c</m:t>
                                  </m:r>
                                </m:sub>
                              </m:sSub>
                              <m:r>
                                <a:rPr lang="en-US" sz="1800" i="1">
                                  <a:latin typeface="Cambria Math" panose="02040503050406030204" pitchFamily="18" charset="0"/>
                                  <a:cs typeface="Arial" panose="020B0604020202020204" pitchFamily="34" charset="0"/>
                                </a:rPr>
                                <m:t>&lt;1</m:t>
                              </m:r>
                            </m:e>
                            <m:e>
                              <m:sSub>
                                <m:sSubPr>
                                  <m:ctrlPr>
                                    <a:rPr lang="en-US" sz="1800" i="1">
                                      <a:latin typeface="Cambria Math" panose="02040503050406030204" pitchFamily="18" charset="0"/>
                                      <a:cs typeface="Arial" panose="020B0604020202020204" pitchFamily="34" charset="0"/>
                                    </a:rPr>
                                  </m:ctrlPr>
                                </m:sSubPr>
                                <m:e>
                                  <m:r>
                                    <a:rPr lang="en-US" sz="1800" i="1">
                                      <a:latin typeface="Cambria Math" panose="02040503050406030204" pitchFamily="18" charset="0"/>
                                      <a:cs typeface="Arial" panose="020B0604020202020204" pitchFamily="34" charset="0"/>
                                    </a:rPr>
                                    <m:t>𝜂</m:t>
                                  </m:r>
                                </m:e>
                                <m:sub>
                                  <m:r>
                                    <m:rPr>
                                      <m:sty m:val="p"/>
                                    </m:rPr>
                                    <a:rPr lang="en-US" sz="1800">
                                      <a:latin typeface="Cambria Math" panose="02040503050406030204" pitchFamily="18" charset="0"/>
                                      <a:cs typeface="Arial" panose="020B0604020202020204" pitchFamily="34" charset="0"/>
                                    </a:rPr>
                                    <m:t>s</m:t>
                                  </m:r>
                                </m:sub>
                              </m:sSub>
                              <m:r>
                                <a:rPr lang="en-US" sz="1800" i="1">
                                  <a:latin typeface="Cambria Math" panose="02040503050406030204" pitchFamily="18" charset="0"/>
                                  <a:cs typeface="Arial" panose="020B0604020202020204" pitchFamily="34" charset="0"/>
                                </a:rPr>
                                <m:t>=1</m:t>
                              </m:r>
                            </m:e>
                          </m:eqArr>
                        </m:e>
                      </m:d>
                    </m:oMath>
                  </m:oMathPara>
                </a14:m>
                <a:endParaRPr lang="en-US" sz="1800" dirty="0">
                  <a:latin typeface="Arial" panose="020B0604020202020204" pitchFamily="34" charset="0"/>
                  <a:cs typeface="Arial" panose="020B0604020202020204" pitchFamily="34" charset="0"/>
                </a:endParaRP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The mass of the solid sphere is the same as the mass of the debris cloud (mass conservation).</a:t>
                </a:r>
              </a:p>
            </p:txBody>
          </p:sp>
        </mc:Choice>
        <mc:Fallback>
          <p:sp>
            <p:nvSpPr>
              <p:cNvPr id="3" name="Content Placeholder 2">
                <a:extLst>
                  <a:ext uri="{FF2B5EF4-FFF2-40B4-BE49-F238E27FC236}">
                    <a16:creationId xmlns:a16="http://schemas.microsoft.com/office/drawing/2014/main" id="{BCFB9CF9-B391-23E9-3B77-104A18F5AC71}"/>
                  </a:ext>
                </a:extLst>
              </p:cNvPr>
              <p:cNvSpPr>
                <a:spLocks noGrp="1" noRot="1" noChangeAspect="1" noMove="1" noResize="1" noEditPoints="1" noAdjustHandles="1" noChangeArrowheads="1" noChangeShapeType="1" noTextEdit="1"/>
              </p:cNvSpPr>
              <p:nvPr>
                <p:ph idx="1"/>
              </p:nvPr>
            </p:nvSpPr>
            <p:spPr>
              <a:xfrm>
                <a:off x="6095999" y="882315"/>
                <a:ext cx="5254754" cy="5294647"/>
              </a:xfrm>
              <a:blipFill>
                <a:blip r:embed="rId2"/>
                <a:stretch>
                  <a:fillRect l="-1044" t="-1152" r="-58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BCB1FFA-DE69-5419-DBB8-A82C100F5EDE}"/>
              </a:ext>
            </a:extLst>
          </p:cNvPr>
          <p:cNvSpPr>
            <a:spLocks noGrp="1"/>
          </p:cNvSpPr>
          <p:nvPr>
            <p:ph type="sldNum" sz="quarter" idx="12"/>
          </p:nvPr>
        </p:nvSpPr>
        <p:spPr>
          <a:xfrm>
            <a:off x="8610600" y="6356350"/>
            <a:ext cx="2743200" cy="365125"/>
          </a:xfrm>
        </p:spPr>
        <p:txBody>
          <a:bodyPr>
            <a:normAutofit/>
          </a:bodyPr>
          <a:lstStyle/>
          <a:p>
            <a:pPr>
              <a:spcAft>
                <a:spcPts val="600"/>
              </a:spcAft>
            </a:pPr>
            <a:fld id="{FFA44557-6723-474F-8BC8-E80F4E6DF2E8}" type="slidenum">
              <a:rPr lang="en-US" smtClean="0"/>
              <a:pPr>
                <a:spcAft>
                  <a:spcPts val="600"/>
                </a:spcAft>
              </a:pPr>
              <a:t>7</a:t>
            </a:fld>
            <a:endParaRPr lang="en-US"/>
          </a:p>
        </p:txBody>
      </p:sp>
    </p:spTree>
    <p:extLst>
      <p:ext uri="{BB962C8B-B14F-4D97-AF65-F5344CB8AC3E}">
        <p14:creationId xmlns:p14="http://schemas.microsoft.com/office/powerpoint/2010/main" val="163701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5EB3F5-A60E-32B7-E569-25F02C84910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2" name="Rectangle 3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4C02AB-3032-5A29-1DF2-B299AA0F8095}"/>
              </a:ext>
            </a:extLst>
          </p:cNvPr>
          <p:cNvSpPr>
            <a:spLocks noGrp="1"/>
          </p:cNvSpPr>
          <p:nvPr>
            <p:ph type="title"/>
          </p:nvPr>
        </p:nvSpPr>
        <p:spPr>
          <a:xfrm>
            <a:off x="1043631" y="809898"/>
            <a:ext cx="9942716" cy="1554480"/>
          </a:xfrm>
        </p:spPr>
        <p:txBody>
          <a:bodyPr anchor="ctr">
            <a:normAutofit/>
          </a:bodyPr>
          <a:lstStyle/>
          <a:p>
            <a:r>
              <a:rPr lang="en-US" sz="4800" dirty="0">
                <a:latin typeface="Arial Bold" panose="020B0704020202020204" pitchFamily="34" charset="0"/>
                <a:cs typeface="Arial Bold" panose="020B0704020202020204" pitchFamily="34" charset="0"/>
              </a:rPr>
              <a:t>Packing Density &amp; Mass Conservation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F20FD0-6524-748C-83F7-C70B4CE96313}"/>
                  </a:ext>
                </a:extLst>
              </p:cNvPr>
              <p:cNvSpPr>
                <a:spLocks noGrp="1"/>
              </p:cNvSpPr>
              <p:nvPr>
                <p:ph idx="1"/>
              </p:nvPr>
            </p:nvSpPr>
            <p:spPr>
              <a:xfrm>
                <a:off x="1045028" y="3017522"/>
                <a:ext cx="9941319" cy="3124658"/>
              </a:xfrm>
            </p:spPr>
            <p:txBody>
              <a:bodyPr anchor="ctr">
                <a:normAutofit/>
              </a:bodyPr>
              <a:lstStyle/>
              <a:p>
                <a:r>
                  <a:rPr lang="en-US" sz="2400">
                    <a:latin typeface="Arial" panose="020B0604020202020204" pitchFamily="34" charset="0"/>
                    <a:cs typeface="Arial" panose="020B0604020202020204" pitchFamily="34" charset="0"/>
                  </a:rPr>
                  <a:t>Mass conservation </a:t>
                </a:r>
                <a14:m>
                  <m:oMath xmlns:m="http://schemas.openxmlformats.org/officeDocument/2006/math">
                    <m:r>
                      <a:rPr lang="en-US" sz="2400" b="0" i="1">
                        <a:latin typeface="Cambria Math" panose="02040503050406030204" pitchFamily="18" charset="0"/>
                        <a:cs typeface="Arial" panose="020B0604020202020204" pitchFamily="34" charset="0"/>
                      </a:rPr>
                      <m:t>⟹</m:t>
                    </m:r>
                    <m:sSub>
                      <m:sSubPr>
                        <m:ctrlPr>
                          <a:rPr lang="en-US" sz="2400" b="0" i="1">
                            <a:latin typeface="Cambria Math" panose="02040503050406030204" pitchFamily="18" charset="0"/>
                            <a:cs typeface="Arial" panose="020B0604020202020204" pitchFamily="34" charset="0"/>
                          </a:rPr>
                        </m:ctrlPr>
                      </m:sSubPr>
                      <m:e>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𝜂</m:t>
                            </m:r>
                          </m:e>
                          <m:sub>
                            <m:r>
                              <m:rPr>
                                <m:sty m:val="p"/>
                              </m:rPr>
                              <a:rPr lang="en-US" sz="2400" b="0" i="0">
                                <a:latin typeface="Cambria Math" panose="02040503050406030204" pitchFamily="18" charset="0"/>
                                <a:cs typeface="Arial" panose="020B0604020202020204" pitchFamily="34" charset="0"/>
                              </a:rPr>
                              <m:t>s</m:t>
                            </m:r>
                          </m:sub>
                        </m:sSub>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𝑉</m:t>
                            </m:r>
                          </m:e>
                          <m:sub>
                            <m:r>
                              <m:rPr>
                                <m:sty m:val="p"/>
                              </m:rPr>
                              <a:rPr lang="en-US" sz="2400" b="0" i="0">
                                <a:latin typeface="Cambria Math" panose="02040503050406030204" pitchFamily="18" charset="0"/>
                                <a:cs typeface="Arial" panose="020B0604020202020204" pitchFamily="34" charset="0"/>
                              </a:rPr>
                              <m:t>s</m:t>
                            </m:r>
                          </m:sub>
                        </m:sSub>
                        <m:r>
                          <a:rPr lang="en-US" sz="2400" b="0" i="1">
                            <a:latin typeface="Cambria Math" panose="02040503050406030204" pitchFamily="18" charset="0"/>
                            <a:cs typeface="Arial" panose="020B0604020202020204" pitchFamily="34" charset="0"/>
                          </a:rPr>
                          <m:t>=</m:t>
                        </m:r>
                        <m:r>
                          <a:rPr lang="en-US" sz="2400" b="0" i="1">
                            <a:latin typeface="Cambria Math" panose="02040503050406030204" pitchFamily="18" charset="0"/>
                            <a:cs typeface="Arial" panose="020B0604020202020204" pitchFamily="34" charset="0"/>
                          </a:rPr>
                          <m:t>𝜂</m:t>
                        </m:r>
                      </m:e>
                      <m:sub>
                        <m:r>
                          <m:rPr>
                            <m:sty m:val="p"/>
                          </m:rPr>
                          <a:rPr lang="en-US" sz="2400" b="0" i="0">
                            <a:latin typeface="Cambria Math" panose="02040503050406030204" pitchFamily="18" charset="0"/>
                            <a:cs typeface="Arial" panose="020B0604020202020204" pitchFamily="34" charset="0"/>
                          </a:rPr>
                          <m:t>c</m:t>
                        </m:r>
                      </m:sub>
                    </m:sSub>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𝑉</m:t>
                        </m:r>
                      </m:e>
                      <m:sub>
                        <m:r>
                          <m:rPr>
                            <m:sty m:val="p"/>
                          </m:rPr>
                          <a:rPr lang="en-US" sz="2400" b="0" i="0">
                            <a:latin typeface="Cambria Math" panose="02040503050406030204" pitchFamily="18" charset="0"/>
                            <a:cs typeface="Arial" panose="020B0604020202020204" pitchFamily="34" charset="0"/>
                          </a:rPr>
                          <m:t>c</m:t>
                        </m:r>
                      </m:sub>
                    </m:sSub>
                  </m:oMath>
                </a14:m>
                <a:r>
                  <a:rPr lang="en-US" sz="2400">
                    <a:latin typeface="Arial" panose="020B0604020202020204" pitchFamily="34" charset="0"/>
                    <a:cs typeface="Arial" panose="020B0604020202020204" pitchFamily="34" charset="0"/>
                  </a:rPr>
                  <a:t>:</a:t>
                </a:r>
              </a:p>
              <a:p>
                <a:endParaRPr lang="en-US" sz="240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cs typeface="Arial" panose="020B0604020202020204" pitchFamily="34" charset="0"/>
                            </a:rPr>
                          </m:ctrlPr>
                        </m:fPr>
                        <m:num>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𝑅</m:t>
                              </m:r>
                            </m:e>
                            <m:sub>
                              <m:r>
                                <m:rPr>
                                  <m:sty m:val="p"/>
                                </m:rPr>
                                <a:rPr lang="en-US" sz="2400" b="0" i="0">
                                  <a:latin typeface="Cambria Math" panose="02040503050406030204" pitchFamily="18" charset="0"/>
                                  <a:cs typeface="Arial" panose="020B0604020202020204" pitchFamily="34" charset="0"/>
                                </a:rPr>
                                <m:t>c</m:t>
                              </m:r>
                            </m:sub>
                          </m:sSub>
                          <m:r>
                            <a:rPr lang="en-US" sz="2400" b="0" i="1">
                              <a:latin typeface="Cambria Math" panose="02040503050406030204" pitchFamily="18" charset="0"/>
                              <a:cs typeface="Arial" panose="020B0604020202020204" pitchFamily="34" charset="0"/>
                            </a:rPr>
                            <m:t> </m:t>
                          </m:r>
                        </m:num>
                        <m:den>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𝑅</m:t>
                              </m:r>
                            </m:e>
                            <m:sub>
                              <m:r>
                                <m:rPr>
                                  <m:sty m:val="p"/>
                                </m:rPr>
                                <a:rPr lang="en-US" sz="2400" b="0" i="0">
                                  <a:latin typeface="Cambria Math" panose="02040503050406030204" pitchFamily="18" charset="0"/>
                                  <a:cs typeface="Arial" panose="020B0604020202020204" pitchFamily="34" charset="0"/>
                                </a:rPr>
                                <m:t>s</m:t>
                              </m:r>
                            </m:sub>
                          </m:sSub>
                        </m:den>
                      </m:f>
                      <m:r>
                        <a:rPr lang="en-US" sz="2400" b="0" i="1">
                          <a:latin typeface="Cambria Math" panose="02040503050406030204" pitchFamily="18" charset="0"/>
                          <a:cs typeface="Arial" panose="020B0604020202020204" pitchFamily="34" charset="0"/>
                        </a:rPr>
                        <m:t>=</m:t>
                      </m:r>
                      <m:rad>
                        <m:radPr>
                          <m:ctrlPr>
                            <a:rPr lang="en-US" sz="2400" b="0" i="1">
                              <a:latin typeface="Cambria Math" panose="02040503050406030204" pitchFamily="18" charset="0"/>
                              <a:cs typeface="Arial" panose="020B0604020202020204" pitchFamily="34" charset="0"/>
                            </a:rPr>
                          </m:ctrlPr>
                        </m:radPr>
                        <m:deg>
                          <m:r>
                            <m:rPr>
                              <m:brk m:alnAt="7"/>
                            </m:rPr>
                            <a:rPr lang="en-US" sz="2400" b="0" i="1">
                              <a:latin typeface="Cambria Math" panose="02040503050406030204" pitchFamily="18" charset="0"/>
                              <a:cs typeface="Arial" panose="020B0604020202020204" pitchFamily="34" charset="0"/>
                            </a:rPr>
                            <m:t>3</m:t>
                          </m:r>
                        </m:deg>
                        <m:e>
                          <m:f>
                            <m:fPr>
                              <m:ctrlPr>
                                <a:rPr lang="en-US" sz="2400" b="0" i="1">
                                  <a:latin typeface="Cambria Math" panose="02040503050406030204" pitchFamily="18" charset="0"/>
                                  <a:cs typeface="Arial" panose="020B0604020202020204" pitchFamily="34" charset="0"/>
                                </a:rPr>
                              </m:ctrlPr>
                            </m:fPr>
                            <m:num>
                              <m:r>
                                <a:rPr lang="en-US" sz="2400" b="0" i="1">
                                  <a:latin typeface="Cambria Math" panose="02040503050406030204" pitchFamily="18" charset="0"/>
                                  <a:cs typeface="Arial" panose="020B0604020202020204" pitchFamily="34" charset="0"/>
                                </a:rPr>
                                <m:t>1</m:t>
                              </m:r>
                            </m:num>
                            <m:den>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𝜂</m:t>
                                  </m:r>
                                </m:e>
                                <m:sub>
                                  <m:r>
                                    <m:rPr>
                                      <m:sty m:val="p"/>
                                    </m:rPr>
                                    <a:rPr lang="en-US" sz="2400" b="0" i="0">
                                      <a:latin typeface="Cambria Math" panose="02040503050406030204" pitchFamily="18" charset="0"/>
                                      <a:cs typeface="Arial" panose="020B0604020202020204" pitchFamily="34" charset="0"/>
                                    </a:rPr>
                                    <m:t>c</m:t>
                                  </m:r>
                                </m:sub>
                              </m:sSub>
                            </m:den>
                          </m:f>
                        </m:e>
                      </m:rad>
                    </m:oMath>
                  </m:oMathPara>
                </a14:m>
                <a:endParaRPr lang="en-US" sz="2400">
                  <a:latin typeface="Arial" panose="020B0604020202020204" pitchFamily="34" charset="0"/>
                  <a:cs typeface="Arial" panose="020B0604020202020204" pitchFamily="34" charset="0"/>
                </a:endParaRPr>
              </a:p>
              <a:p>
                <a:endParaRPr lang="en-US" sz="2400">
                  <a:latin typeface="Arial" panose="020B0604020202020204" pitchFamily="34" charset="0"/>
                  <a:cs typeface="Arial" panose="020B0604020202020204" pitchFamily="34" charset="0"/>
                </a:endParaRPr>
              </a:p>
              <a:p>
                <a:r>
                  <a:rPr lang="en-US" sz="2400">
                    <a:latin typeface="Arial" panose="020B0604020202020204" pitchFamily="34" charset="0"/>
                    <a:cs typeface="Arial" panose="020B0604020202020204" pitchFamily="34" charset="0"/>
                  </a:rPr>
                  <a:t>Implying that </a:t>
                </a:r>
                <a14:m>
                  <m:oMath xmlns:m="http://schemas.openxmlformats.org/officeDocument/2006/math">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𝑅</m:t>
                        </m:r>
                      </m:e>
                      <m:sub>
                        <m:r>
                          <m:rPr>
                            <m:sty m:val="p"/>
                          </m:rPr>
                          <a:rPr lang="en-US" sz="2400" b="0" i="0">
                            <a:latin typeface="Cambria Math" panose="02040503050406030204" pitchFamily="18" charset="0"/>
                            <a:cs typeface="Arial" panose="020B0604020202020204" pitchFamily="34" charset="0"/>
                          </a:rPr>
                          <m:t>s</m:t>
                        </m:r>
                      </m:sub>
                    </m:sSub>
                    <m:r>
                      <a:rPr lang="en-US" sz="2400" b="0" i="1">
                        <a:latin typeface="Cambria Math" panose="02040503050406030204" pitchFamily="18" charset="0"/>
                        <a:cs typeface="Arial" panose="020B0604020202020204" pitchFamily="34" charset="0"/>
                      </a:rPr>
                      <m:t>&lt;</m:t>
                    </m:r>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𝑅</m:t>
                        </m:r>
                      </m:e>
                      <m:sub>
                        <m:r>
                          <m:rPr>
                            <m:sty m:val="p"/>
                          </m:rPr>
                          <a:rPr lang="en-US" sz="2400" b="0" i="0">
                            <a:latin typeface="Cambria Math" panose="02040503050406030204" pitchFamily="18" charset="0"/>
                            <a:cs typeface="Arial" panose="020B0604020202020204" pitchFamily="34" charset="0"/>
                          </a:rPr>
                          <m:t>c</m:t>
                        </m:r>
                      </m:sub>
                    </m:sSub>
                  </m:oMath>
                </a14:m>
                <a:r>
                  <a:rPr lang="en-US" sz="2400">
                    <a:latin typeface="Arial" panose="020B0604020202020204" pitchFamily="34" charset="0"/>
                    <a:cs typeface="Arial" panose="020B0604020202020204" pitchFamily="34" charset="0"/>
                  </a:rPr>
                  <a:t>, as expected.</a:t>
                </a:r>
              </a:p>
            </p:txBody>
          </p:sp>
        </mc:Choice>
        <mc:Fallback xmlns="">
          <p:sp>
            <p:nvSpPr>
              <p:cNvPr id="3" name="Content Placeholder 2">
                <a:extLst>
                  <a:ext uri="{FF2B5EF4-FFF2-40B4-BE49-F238E27FC236}">
                    <a16:creationId xmlns:a16="http://schemas.microsoft.com/office/drawing/2014/main" id="{1EF20FD0-6524-748C-83F7-C70B4CE96313}"/>
                  </a:ext>
                </a:extLst>
              </p:cNvPr>
              <p:cNvSpPr>
                <a:spLocks noGrp="1" noRot="1" noChangeAspect="1" noMove="1" noResize="1" noEditPoints="1" noAdjustHandles="1" noChangeArrowheads="1" noChangeShapeType="1" noTextEdit="1"/>
              </p:cNvSpPr>
              <p:nvPr>
                <p:ph idx="1"/>
              </p:nvPr>
            </p:nvSpPr>
            <p:spPr>
              <a:xfrm>
                <a:off x="1045028" y="3017522"/>
                <a:ext cx="9941319" cy="3124658"/>
              </a:xfrm>
              <a:blipFill>
                <a:blip r:embed="rId2"/>
                <a:stretch>
                  <a:fillRect l="-797"/>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F766671B-77CC-EEA7-3912-8CF3468983A2}"/>
              </a:ext>
            </a:extLst>
          </p:cNvPr>
          <p:cNvSpPr>
            <a:spLocks noGrp="1"/>
          </p:cNvSpPr>
          <p:nvPr>
            <p:ph type="sldNum" sz="quarter" idx="12"/>
          </p:nvPr>
        </p:nvSpPr>
        <p:spPr>
          <a:xfrm>
            <a:off x="8610600" y="6492240"/>
            <a:ext cx="2743200" cy="365125"/>
          </a:xfrm>
        </p:spPr>
        <p:txBody>
          <a:bodyPr>
            <a:normAutofit/>
          </a:bodyPr>
          <a:lstStyle/>
          <a:p>
            <a:pPr>
              <a:spcAft>
                <a:spcPts val="600"/>
              </a:spcAft>
            </a:pPr>
            <a:fld id="{FFA44557-6723-474F-8BC8-E80F4E6DF2E8}" type="slidenum">
              <a:rPr lang="en-US" smtClean="0"/>
              <a:pPr>
                <a:spcAft>
                  <a:spcPts val="600"/>
                </a:spcAft>
              </a:pPr>
              <a:t>8</a:t>
            </a:fld>
            <a:endParaRPr lang="en-US"/>
          </a:p>
        </p:txBody>
      </p:sp>
    </p:spTree>
    <p:extLst>
      <p:ext uri="{BB962C8B-B14F-4D97-AF65-F5344CB8AC3E}">
        <p14:creationId xmlns:p14="http://schemas.microsoft.com/office/powerpoint/2010/main" val="3265061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4E8718-665D-A483-5961-F2FC4277F91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5FDE288-CD50-1940-F0AA-9AC24C9AC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46473D4-57E4-D344-96CF-BEABE451C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3F06DA7-B05A-EB48-28FE-082040A267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2958CEE-98F4-3A95-E0A9-FFF48D39E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84D9912-0359-8CDA-6CE5-F580FFFBC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2521777-1144-4C84-34CA-0722B8CA1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6031C87-BB1D-1859-B60F-0A368AA658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2189D832-082B-9AAD-3225-35294E6D9740}"/>
              </a:ext>
            </a:extLst>
          </p:cNvPr>
          <p:cNvSpPr>
            <a:spLocks noGrp="1"/>
          </p:cNvSpPr>
          <p:nvPr>
            <p:ph type="title"/>
          </p:nvPr>
        </p:nvSpPr>
        <p:spPr>
          <a:xfrm>
            <a:off x="4162567" y="818984"/>
            <a:ext cx="6714699" cy="3178689"/>
          </a:xfrm>
        </p:spPr>
        <p:txBody>
          <a:bodyPr vert="horz" lIns="91440" tIns="45720" rIns="91440" bIns="45720" rtlCol="0" anchor="b">
            <a:normAutofit/>
          </a:bodyPr>
          <a:lstStyle/>
          <a:p>
            <a:r>
              <a:rPr lang="en-US" sz="3600" kern="1200" dirty="0">
                <a:solidFill>
                  <a:srgbClr val="FFFFFF"/>
                </a:solidFill>
                <a:latin typeface="Arial Black" panose="020B0A04020102020204" pitchFamily="34" charset="0"/>
              </a:rPr>
              <a:t>II.   Spatial Distribution </a:t>
            </a:r>
            <a:r>
              <a:rPr lang="en-US" sz="3600" dirty="0">
                <a:solidFill>
                  <a:srgbClr val="FFFFFF"/>
                </a:solidFill>
                <a:latin typeface="Arial Black" panose="020B0A04020102020204" pitchFamily="34" charset="0"/>
              </a:rPr>
              <a:t>Considerations and Fragment Size</a:t>
            </a:r>
            <a:endParaRPr lang="en-US" sz="3600" kern="1200" dirty="0">
              <a:solidFill>
                <a:srgbClr val="FFFFFF"/>
              </a:solidFill>
              <a:latin typeface="Arial Black" panose="020B0A04020102020204" pitchFamily="34" charset="0"/>
            </a:endParaRPr>
          </a:p>
        </p:txBody>
      </p:sp>
      <p:sp>
        <p:nvSpPr>
          <p:cNvPr id="23" name="Rectangle 22">
            <a:extLst>
              <a:ext uri="{FF2B5EF4-FFF2-40B4-BE49-F238E27FC236}">
                <a16:creationId xmlns:a16="http://schemas.microsoft.com/office/drawing/2014/main" id="{A3F2C8FB-8A83-FDD8-C6AB-61E44BBA21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567CB3A5-B14B-6436-8028-FBA7CBC5330C}"/>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FFA44557-6723-474F-8BC8-E80F4E6DF2E8}" type="slidenum">
              <a:rPr lang="en-US" sz="1100">
                <a:solidFill>
                  <a:srgbClr val="FFFFFF"/>
                </a:solidFill>
              </a:rPr>
              <a:pPr>
                <a:spcAft>
                  <a:spcPts val="600"/>
                </a:spcAft>
              </a:pPr>
              <a:t>9</a:t>
            </a:fld>
            <a:endParaRPr lang="en-US" sz="1100">
              <a:solidFill>
                <a:srgbClr val="FFFFFF"/>
              </a:solidFill>
            </a:endParaRPr>
          </a:p>
        </p:txBody>
      </p:sp>
    </p:spTree>
    <p:extLst>
      <p:ext uri="{BB962C8B-B14F-4D97-AF65-F5344CB8AC3E}">
        <p14:creationId xmlns:p14="http://schemas.microsoft.com/office/powerpoint/2010/main" val="966431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75EE8F-5811-A058-3504-6E2F12347621}"/>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32CF0D-2717-F422-E310-ECC02FB805FA}"/>
              </a:ext>
            </a:extLst>
          </p:cNvPr>
          <p:cNvSpPr>
            <a:spLocks noGrp="1"/>
          </p:cNvSpPr>
          <p:nvPr>
            <p:ph type="title"/>
          </p:nvPr>
        </p:nvSpPr>
        <p:spPr>
          <a:xfrm>
            <a:off x="838201" y="300580"/>
            <a:ext cx="9829800" cy="1089529"/>
          </a:xfrm>
        </p:spPr>
        <p:txBody>
          <a:bodyPr>
            <a:normAutofit/>
          </a:bodyPr>
          <a:lstStyle/>
          <a:p>
            <a:r>
              <a:rPr lang="en-US" sz="3600">
                <a:solidFill>
                  <a:srgbClr val="FFFFFF"/>
                </a:solidFill>
                <a:latin typeface="Arial Bold" panose="020B0704020202020204" pitchFamily="34" charset="0"/>
                <a:cs typeface="Arial Bold" panose="020B0704020202020204" pitchFamily="34" charset="0"/>
              </a:rPr>
              <a:t>Caveats of Packing Density Model</a:t>
            </a:r>
          </a:p>
        </p:txBody>
      </p:sp>
      <p:sp>
        <p:nvSpPr>
          <p:cNvPr id="17"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sp>
        <p:nvSpPr>
          <p:cNvPr id="4" name="Slide Number Placeholder 3">
            <a:extLst>
              <a:ext uri="{FF2B5EF4-FFF2-40B4-BE49-F238E27FC236}">
                <a16:creationId xmlns:a16="http://schemas.microsoft.com/office/drawing/2014/main" id="{4EE0E1E8-2776-31B7-5424-1B5B650F14C4}"/>
              </a:ext>
            </a:extLst>
          </p:cNvPr>
          <p:cNvSpPr>
            <a:spLocks noGrp="1"/>
          </p:cNvSpPr>
          <p:nvPr>
            <p:ph type="sldNum" sz="quarter" idx="12"/>
          </p:nvPr>
        </p:nvSpPr>
        <p:spPr>
          <a:xfrm>
            <a:off x="8610600" y="6356350"/>
            <a:ext cx="2743200" cy="365125"/>
          </a:xfrm>
        </p:spPr>
        <p:txBody>
          <a:bodyPr>
            <a:normAutofit/>
          </a:bodyPr>
          <a:lstStyle/>
          <a:p>
            <a:pPr>
              <a:spcAft>
                <a:spcPts val="600"/>
              </a:spcAft>
            </a:pPr>
            <a:fld id="{FFA44557-6723-474F-8BC8-E80F4E6DF2E8}" type="slidenum">
              <a:rPr lang="en-US">
                <a:solidFill>
                  <a:schemeClr val="tx1">
                    <a:alpha val="60000"/>
                  </a:schemeClr>
                </a:solidFill>
              </a:rPr>
              <a:pPr>
                <a:spcAft>
                  <a:spcPts val="600"/>
                </a:spcAft>
              </a:pPr>
              <a:t>10</a:t>
            </a:fld>
            <a:endParaRPr lang="en-US">
              <a:solidFill>
                <a:schemeClr val="tx1">
                  <a:alpha val="60000"/>
                </a:schemeClr>
              </a:solidFill>
            </a:endParaRPr>
          </a:p>
        </p:txBody>
      </p:sp>
      <p:graphicFrame>
        <p:nvGraphicFramePr>
          <p:cNvPr id="18" name="Content Placeholder 2">
            <a:extLst>
              <a:ext uri="{FF2B5EF4-FFF2-40B4-BE49-F238E27FC236}">
                <a16:creationId xmlns:a16="http://schemas.microsoft.com/office/drawing/2014/main" id="{61AB95B5-45AB-C53B-2CF1-E002F7AA8FB1}"/>
              </a:ext>
            </a:extLst>
          </p:cNvPr>
          <p:cNvGraphicFramePr>
            <a:graphicFrameLocks noGrp="1"/>
          </p:cNvGraphicFramePr>
          <p:nvPr>
            <p:ph idx="1"/>
            <p:extLst>
              <p:ext uri="{D42A27DB-BD31-4B8C-83A1-F6EECF244321}">
                <p14:modId xmlns:p14="http://schemas.microsoft.com/office/powerpoint/2010/main" val="796391249"/>
              </p:ext>
            </p:extLst>
          </p:nvPr>
        </p:nvGraphicFramePr>
        <p:xfrm>
          <a:off x="838200" y="2211233"/>
          <a:ext cx="10515600" cy="39657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1870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8AC772-BB5B-1AE9-563C-B2527BACCE7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B613391-3E92-7517-34D8-8692E9F58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8B1767A4-1DD7-A129-8A91-C7E4EDC42B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2" name="Group 11">
              <a:extLst>
                <a:ext uri="{FF2B5EF4-FFF2-40B4-BE49-F238E27FC236}">
                  <a16:creationId xmlns:a16="http://schemas.microsoft.com/office/drawing/2014/main" id="{99C3EA5E-6193-E404-A1A2-38BB6B97B12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6" name="Freeform: Shape 15">
                <a:extLst>
                  <a:ext uri="{FF2B5EF4-FFF2-40B4-BE49-F238E27FC236}">
                    <a16:creationId xmlns:a16="http://schemas.microsoft.com/office/drawing/2014/main" id="{4031FCF9-7D8D-7BC3-1656-B742715737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4F60CBE2-A634-EB44-FE61-EBA0869CEB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3" name="Group 12">
              <a:extLst>
                <a:ext uri="{FF2B5EF4-FFF2-40B4-BE49-F238E27FC236}">
                  <a16:creationId xmlns:a16="http://schemas.microsoft.com/office/drawing/2014/main" id="{1EF391AE-C5B1-B12A-0C0A-97CB6B3452C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4" name="Freeform: Shape 13">
                <a:extLst>
                  <a:ext uri="{FF2B5EF4-FFF2-40B4-BE49-F238E27FC236}">
                    <a16:creationId xmlns:a16="http://schemas.microsoft.com/office/drawing/2014/main" id="{53B1A078-4B5C-063E-59C6-A3DC6C5994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7203DA8C-DF92-563C-EB8C-90E3D6DE5F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4" name="Title 3">
            <a:extLst>
              <a:ext uri="{FF2B5EF4-FFF2-40B4-BE49-F238E27FC236}">
                <a16:creationId xmlns:a16="http://schemas.microsoft.com/office/drawing/2014/main" id="{9EE0F1E1-DAFA-DBEE-F141-D9999B1377CE}"/>
              </a:ext>
            </a:extLst>
          </p:cNvPr>
          <p:cNvSpPr>
            <a:spLocks noGrp="1"/>
          </p:cNvSpPr>
          <p:nvPr>
            <p:ph type="title"/>
          </p:nvPr>
        </p:nvSpPr>
        <p:spPr>
          <a:xfrm>
            <a:off x="792931" y="673539"/>
            <a:ext cx="7021513" cy="2308324"/>
          </a:xfrm>
        </p:spPr>
        <p:txBody>
          <a:bodyPr vert="horz" lIns="91440" tIns="45720" rIns="91440" bIns="45720" rtlCol="0" anchor="b">
            <a:normAutofit/>
          </a:bodyPr>
          <a:lstStyle/>
          <a:p>
            <a:r>
              <a:rPr lang="en-US" sz="5500" kern="1200">
                <a:solidFill>
                  <a:schemeClr val="bg1"/>
                </a:solidFill>
                <a:latin typeface="Arial Black" panose="020B0A04020102020204" pitchFamily="34" charset="0"/>
              </a:rPr>
              <a:t>II.2   </a:t>
            </a:r>
            <a:r>
              <a:rPr lang="en-US" sz="5500">
                <a:solidFill>
                  <a:schemeClr val="bg1"/>
                </a:solidFill>
                <a:latin typeface="Arial Black" panose="020B0A04020102020204" pitchFamily="34" charset="0"/>
              </a:rPr>
              <a:t>Gaussian Distribution</a:t>
            </a:r>
            <a:endParaRPr lang="en-US" sz="5500" kern="1200" dirty="0">
              <a:solidFill>
                <a:schemeClr val="bg1"/>
              </a:solidFill>
              <a:latin typeface="Arial Black" panose="020B0A04020102020204" pitchFamily="34" charset="0"/>
            </a:endParaRPr>
          </a:p>
        </p:txBody>
      </p:sp>
      <p:sp>
        <p:nvSpPr>
          <p:cNvPr id="3" name="Slide Number Placeholder 2">
            <a:extLst>
              <a:ext uri="{FF2B5EF4-FFF2-40B4-BE49-F238E27FC236}">
                <a16:creationId xmlns:a16="http://schemas.microsoft.com/office/drawing/2014/main" id="{37372621-3049-9CF5-B2CD-54472DEDF58C}"/>
              </a:ext>
            </a:extLst>
          </p:cNvPr>
          <p:cNvSpPr>
            <a:spLocks noGrp="1"/>
          </p:cNvSpPr>
          <p:nvPr>
            <p:ph type="sldNum" sz="quarter" idx="12"/>
          </p:nvPr>
        </p:nvSpPr>
        <p:spPr/>
        <p:txBody>
          <a:bodyPr/>
          <a:lstStyle/>
          <a:p>
            <a:fld id="{FFA44557-6723-474F-8BC8-E80F4E6DF2E8}" type="slidenum">
              <a:rPr lang="en-US" smtClean="0"/>
              <a:t>11</a:t>
            </a:fld>
            <a:endParaRPr lang="en-US"/>
          </a:p>
        </p:txBody>
      </p:sp>
    </p:spTree>
    <p:extLst>
      <p:ext uri="{BB962C8B-B14F-4D97-AF65-F5344CB8AC3E}">
        <p14:creationId xmlns:p14="http://schemas.microsoft.com/office/powerpoint/2010/main" val="3776089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179CA3-6DAB-530C-5881-CCACE2651F1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9FACFE-2E86-A71B-3B96-DFBC0AA4D87A}"/>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latin typeface="Arial Bold" panose="020B0704020202020204" pitchFamily="34" charset="0"/>
                <a:cs typeface="Arial Bold" panose="020B0704020202020204" pitchFamily="34" charset="0"/>
              </a:rPr>
              <a:t>Postulates</a:t>
            </a:r>
          </a:p>
        </p:txBody>
      </p:sp>
      <p:sp>
        <p:nvSpPr>
          <p:cNvPr id="4" name="Slide Number Placeholder 3">
            <a:extLst>
              <a:ext uri="{FF2B5EF4-FFF2-40B4-BE49-F238E27FC236}">
                <a16:creationId xmlns:a16="http://schemas.microsoft.com/office/drawing/2014/main" id="{397DFD1F-D979-2F89-B390-D0B2D97C487A}"/>
              </a:ext>
            </a:extLst>
          </p:cNvPr>
          <p:cNvSpPr>
            <a:spLocks noGrp="1"/>
          </p:cNvSpPr>
          <p:nvPr>
            <p:ph type="sldNum" sz="quarter" idx="12"/>
          </p:nvPr>
        </p:nvSpPr>
        <p:spPr>
          <a:xfrm>
            <a:off x="11704320" y="6455664"/>
            <a:ext cx="448056" cy="365125"/>
          </a:xfrm>
        </p:spPr>
        <p:txBody>
          <a:bodyPr>
            <a:normAutofit/>
          </a:bodyPr>
          <a:lstStyle/>
          <a:p>
            <a:pPr>
              <a:spcAft>
                <a:spcPts val="600"/>
              </a:spcAft>
            </a:pPr>
            <a:fld id="{FFA44557-6723-474F-8BC8-E80F4E6DF2E8}" type="slidenum">
              <a:rPr lang="en-US" sz="1100">
                <a:solidFill>
                  <a:schemeClr val="tx1">
                    <a:lumMod val="50000"/>
                    <a:lumOff val="50000"/>
                  </a:schemeClr>
                </a:solidFill>
              </a:rPr>
              <a:pPr>
                <a:spcAft>
                  <a:spcPts val="600"/>
                </a:spcAft>
              </a:pPr>
              <a:t>12</a:t>
            </a:fld>
            <a:endParaRPr lang="en-US" sz="1100">
              <a:solidFill>
                <a:schemeClr val="tx1">
                  <a:lumMod val="50000"/>
                  <a:lumOff val="50000"/>
                </a:schemeClr>
              </a:solidFill>
            </a:endParaRPr>
          </a:p>
        </p:txBody>
      </p:sp>
      <p:grpSp>
        <p:nvGrpSpPr>
          <p:cNvPr id="5" name="Group 4">
            <a:extLst>
              <a:ext uri="{FF2B5EF4-FFF2-40B4-BE49-F238E27FC236}">
                <a16:creationId xmlns:a16="http://schemas.microsoft.com/office/drawing/2014/main" id="{E9836F1A-9E0C-4B9C-F78E-19E7D528B7BF}"/>
              </a:ext>
            </a:extLst>
          </p:cNvPr>
          <p:cNvGrpSpPr/>
          <p:nvPr/>
        </p:nvGrpSpPr>
        <p:grpSpPr>
          <a:xfrm>
            <a:off x="1371597" y="2641873"/>
            <a:ext cx="9396000" cy="3134216"/>
            <a:chOff x="1409970" y="2641873"/>
            <a:chExt cx="9396000" cy="3134216"/>
          </a:xfrm>
        </p:grpSpPr>
        <p:sp>
          <p:nvSpPr>
            <p:cNvPr id="8" name="Freeform: Shape 7">
              <a:extLst>
                <a:ext uri="{FF2B5EF4-FFF2-40B4-BE49-F238E27FC236}">
                  <a16:creationId xmlns:a16="http://schemas.microsoft.com/office/drawing/2014/main" id="{E5E16D8E-75A8-D49E-3DCC-D6AE4FA1E40B}"/>
                </a:ext>
              </a:extLst>
            </p:cNvPr>
            <p:cNvSpPr/>
            <p:nvPr/>
          </p:nvSpPr>
          <p:spPr>
            <a:xfrm>
              <a:off x="1409970" y="5056089"/>
              <a:ext cx="4320000" cy="720000"/>
            </a:xfrm>
            <a:custGeom>
              <a:avLst/>
              <a:gdLst>
                <a:gd name="connsiteX0" fmla="*/ 0 w 4320000"/>
                <a:gd name="connsiteY0" fmla="*/ 0 h 720000"/>
                <a:gd name="connsiteX1" fmla="*/ 4320000 w 4320000"/>
                <a:gd name="connsiteY1" fmla="*/ 0 h 720000"/>
                <a:gd name="connsiteX2" fmla="*/ 4320000 w 4320000"/>
                <a:gd name="connsiteY2" fmla="*/ 720000 h 720000"/>
                <a:gd name="connsiteX3" fmla="*/ 0 w 4320000"/>
                <a:gd name="connsiteY3" fmla="*/ 720000 h 720000"/>
                <a:gd name="connsiteX4" fmla="*/ 0 w 432000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720000">
                  <a:moveTo>
                    <a:pt x="0" y="0"/>
                  </a:moveTo>
                  <a:lnTo>
                    <a:pt x="4320000" y="0"/>
                  </a:lnTo>
                  <a:lnTo>
                    <a:pt x="432000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latin typeface="Arial" panose="020B0604020202020204" pitchFamily="34" charset="0"/>
                  <a:cs typeface="Arial" panose="020B0604020202020204" pitchFamily="34" charset="0"/>
                </a:rPr>
                <a:t>The fragments will be distributed at a peak relative to the cloud’s radius.</a:t>
              </a:r>
            </a:p>
          </p:txBody>
        </p:sp>
        <p:sp>
          <p:nvSpPr>
            <p:cNvPr id="9" name="Rectangle 8" descr="NormalDistribution">
              <a:extLst>
                <a:ext uri="{FF2B5EF4-FFF2-40B4-BE49-F238E27FC236}">
                  <a16:creationId xmlns:a16="http://schemas.microsoft.com/office/drawing/2014/main" id="{0AA440E7-E197-D554-D707-BA2CA1E7CC64}"/>
                </a:ext>
              </a:extLst>
            </p:cNvPr>
            <p:cNvSpPr/>
            <p:nvPr/>
          </p:nvSpPr>
          <p:spPr>
            <a:xfrm>
              <a:off x="7673970" y="2641873"/>
              <a:ext cx="1944000" cy="1944000"/>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p:spPr>
          <p:style>
            <a:lnRef idx="2">
              <a:schemeClr val="lt1">
                <a:alpha val="0"/>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6F2A6EA6-3404-AA36-C28F-448544AC22FD}"/>
                </a:ext>
              </a:extLst>
            </p:cNvPr>
            <p:cNvSpPr/>
            <p:nvPr/>
          </p:nvSpPr>
          <p:spPr>
            <a:xfrm>
              <a:off x="6485970" y="5056089"/>
              <a:ext cx="4320000" cy="720000"/>
            </a:xfrm>
            <a:custGeom>
              <a:avLst/>
              <a:gdLst>
                <a:gd name="connsiteX0" fmla="*/ 0 w 4320000"/>
                <a:gd name="connsiteY0" fmla="*/ 0 h 720000"/>
                <a:gd name="connsiteX1" fmla="*/ 4320000 w 4320000"/>
                <a:gd name="connsiteY1" fmla="*/ 0 h 720000"/>
                <a:gd name="connsiteX2" fmla="*/ 4320000 w 4320000"/>
                <a:gd name="connsiteY2" fmla="*/ 720000 h 720000"/>
                <a:gd name="connsiteX3" fmla="*/ 0 w 4320000"/>
                <a:gd name="connsiteY3" fmla="*/ 720000 h 720000"/>
                <a:gd name="connsiteX4" fmla="*/ 0 w 432000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720000">
                  <a:moveTo>
                    <a:pt x="0" y="0"/>
                  </a:moveTo>
                  <a:lnTo>
                    <a:pt x="4320000" y="0"/>
                  </a:lnTo>
                  <a:lnTo>
                    <a:pt x="432000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latin typeface="Arial" panose="020B0604020202020204" pitchFamily="34" charset="0"/>
                  <a:cs typeface="Arial" panose="020B0604020202020204" pitchFamily="34" charset="0"/>
                </a:rPr>
                <a:t>The fragment dispersion post-impact is symmetric about the peak of the distribution</a:t>
              </a:r>
            </a:p>
          </p:txBody>
        </p:sp>
      </p:grpSp>
      <p:pic>
        <p:nvPicPr>
          <p:cNvPr id="19" name="Picture 18">
            <a:extLst>
              <a:ext uri="{FF2B5EF4-FFF2-40B4-BE49-F238E27FC236}">
                <a16:creationId xmlns:a16="http://schemas.microsoft.com/office/drawing/2014/main" id="{10BDCFC9-008F-4139-F90D-5DE8C61FDC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1337" y="3002386"/>
            <a:ext cx="2220519" cy="1214346"/>
          </a:xfrm>
          <a:prstGeom prst="rect">
            <a:avLst/>
          </a:prstGeom>
        </p:spPr>
      </p:pic>
    </p:spTree>
    <p:extLst>
      <p:ext uri="{BB962C8B-B14F-4D97-AF65-F5344CB8AC3E}">
        <p14:creationId xmlns:p14="http://schemas.microsoft.com/office/powerpoint/2010/main" val="1870811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AF7EFA-C801-B5DE-06D7-CFF920D81F4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505E60-167A-732D-2EF8-58FF20E4F2C3}"/>
              </a:ext>
            </a:extLst>
          </p:cNvPr>
          <p:cNvSpPr>
            <a:spLocks noGrp="1"/>
          </p:cNvSpPr>
          <p:nvPr>
            <p:ph type="title"/>
          </p:nvPr>
        </p:nvSpPr>
        <p:spPr>
          <a:xfrm>
            <a:off x="686834" y="1153572"/>
            <a:ext cx="3200400" cy="4461163"/>
          </a:xfrm>
        </p:spPr>
        <p:txBody>
          <a:bodyPr>
            <a:normAutofit/>
          </a:bodyPr>
          <a:lstStyle/>
          <a:p>
            <a:r>
              <a:rPr lang="en-US" sz="4100" dirty="0">
                <a:solidFill>
                  <a:srgbClr val="FFFFFF"/>
                </a:solidFill>
                <a:latin typeface="Arial Bold" panose="020B0704020202020204" pitchFamily="34" charset="0"/>
                <a:cs typeface="Arial Bold" panose="020B0704020202020204" pitchFamily="34" charset="0"/>
              </a:rPr>
              <a:t>Normal Distribution Function</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893288-A41D-B201-3E0F-3D3F8A837A8C}"/>
                  </a:ext>
                </a:extLst>
              </p:cNvPr>
              <p:cNvSpPr>
                <a:spLocks noGrp="1"/>
              </p:cNvSpPr>
              <p:nvPr>
                <p:ph idx="1"/>
              </p:nvPr>
            </p:nvSpPr>
            <p:spPr>
              <a:xfrm>
                <a:off x="4447308" y="591344"/>
                <a:ext cx="6906491" cy="5585619"/>
              </a:xfrm>
            </p:spPr>
            <p:txBody>
              <a:bodyPr anchor="ctr">
                <a:normAutofit/>
              </a:bodyPr>
              <a:lstStyle/>
              <a:p>
                <a:pPr marL="0" indent="0">
                  <a:buNone/>
                </a:pPr>
                <a:endParaRPr lang="en-US" b="0" i="1" dirty="0">
                  <a:latin typeface="Cambria Math" panose="02040503050406030204" pitchFamily="18"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𝜌</m:t>
                      </m:r>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𝜌</m:t>
                          </m:r>
                        </m:e>
                        <m:sub>
                          <m:r>
                            <a:rPr lang="en-US" b="0" i="1" smtClean="0">
                              <a:latin typeface="Cambria Math" panose="02040503050406030204" pitchFamily="18" charset="0"/>
                              <a:cs typeface="Arial" panose="020B0604020202020204" pitchFamily="34" charset="0"/>
                            </a:rPr>
                            <m:t>0</m:t>
                          </m:r>
                        </m:sub>
                      </m:sSub>
                      <m:r>
                        <m:rPr>
                          <m:sty m:val="p"/>
                        </m:rPr>
                        <a:rPr lang="en-US" b="0" i="0" smtClean="0">
                          <a:latin typeface="Cambria Math" panose="02040503050406030204" pitchFamily="18" charset="0"/>
                          <a:cs typeface="Arial" panose="020B0604020202020204" pitchFamily="34" charset="0"/>
                        </a:rPr>
                        <m:t>exp</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𝑟</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𝜇</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𝑅</m:t>
                                          </m:r>
                                        </m:e>
                                        <m:sub>
                                          <m:r>
                                            <m:rPr>
                                              <m:sty m:val="p"/>
                                            </m:rPr>
                                            <a:rPr lang="en-US" b="0" i="0" smtClean="0">
                                              <a:latin typeface="Cambria Math" panose="02040503050406030204" pitchFamily="18" charset="0"/>
                                              <a:cs typeface="Arial" panose="020B0604020202020204" pitchFamily="34" charset="0"/>
                                            </a:rPr>
                                            <m:t>c</m:t>
                                          </m:r>
                                        </m:sub>
                                      </m:sSub>
                                    </m:e>
                                  </m:d>
                                </m:e>
                                <m:sup>
                                  <m:r>
                                    <a:rPr lang="en-US" b="0" i="1" smtClean="0">
                                      <a:latin typeface="Cambria Math" panose="02040503050406030204" pitchFamily="18" charset="0"/>
                                      <a:cs typeface="Arial" panose="020B0604020202020204" pitchFamily="34" charset="0"/>
                                    </a:rPr>
                                    <m:t>2</m:t>
                                  </m:r>
                                </m:sup>
                              </m:sSup>
                            </m:num>
                            <m:den>
                              <m:r>
                                <a:rPr lang="en-US" b="0" i="1" smtClean="0">
                                  <a:latin typeface="Cambria Math" panose="02040503050406030204" pitchFamily="18" charset="0"/>
                                  <a:cs typeface="Arial" panose="020B0604020202020204" pitchFamily="34" charset="0"/>
                                </a:rPr>
                                <m:t>2</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𝜎</m:t>
                                  </m:r>
                                </m:e>
                                <m:sup>
                                  <m:r>
                                    <a:rPr lang="en-US" b="0" i="1" smtClean="0">
                                      <a:latin typeface="Cambria Math" panose="02040503050406030204" pitchFamily="18" charset="0"/>
                                      <a:cs typeface="Arial" panose="020B0604020202020204" pitchFamily="34" charset="0"/>
                                    </a:rPr>
                                    <m:t>2</m:t>
                                  </m:r>
                                </m:sup>
                              </m:sSup>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𝑅</m:t>
                                  </m:r>
                                </m:e>
                                <m:sub>
                                  <m:r>
                                    <m:rPr>
                                      <m:sty m:val="p"/>
                                    </m:rPr>
                                    <a:rPr lang="en-US" b="0" i="0" smtClean="0">
                                      <a:latin typeface="Cambria Math" panose="02040503050406030204" pitchFamily="18" charset="0"/>
                                      <a:cs typeface="Arial" panose="020B0604020202020204" pitchFamily="34" charset="0"/>
                                    </a:rPr>
                                    <m:t>c</m:t>
                                  </m:r>
                                </m:sub>
                                <m:sup>
                                  <m:r>
                                    <a:rPr lang="en-US" b="0" i="1" smtClean="0">
                                      <a:latin typeface="Cambria Math" panose="02040503050406030204" pitchFamily="18" charset="0"/>
                                      <a:cs typeface="Arial" panose="020B0604020202020204" pitchFamily="34" charset="0"/>
                                    </a:rPr>
                                    <m:t>2</m:t>
                                  </m:r>
                                </m:sup>
                              </m:sSubSup>
                            </m:den>
                          </m:f>
                        </m:e>
                      </m:d>
                    </m:oMath>
                  </m:oMathPara>
                </a14:m>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𝜌</m:t>
                        </m:r>
                      </m:e>
                      <m:sub>
                        <m:r>
                          <a:rPr lang="en-US" b="0" i="1" smtClean="0">
                            <a:latin typeface="Cambria Math" panose="02040503050406030204" pitchFamily="18" charset="0"/>
                            <a:cs typeface="Arial" panose="020B0604020202020204" pitchFamily="34" charset="0"/>
                          </a:rPr>
                          <m:t>0</m:t>
                        </m:r>
                      </m:sub>
                    </m:sSub>
                  </m:oMath>
                </a14:m>
                <a:r>
                  <a:rPr lang="en-US" dirty="0">
                    <a:latin typeface="Arial" panose="020B0604020202020204" pitchFamily="34" charset="0"/>
                    <a:cs typeface="Arial" panose="020B0604020202020204" pitchFamily="34" charset="0"/>
                  </a:rPr>
                  <a:t> is a normalization constant</a:t>
                </a:r>
              </a:p>
              <a:p>
                <a14:m>
                  <m:oMath xmlns:m="http://schemas.openxmlformats.org/officeDocument/2006/math">
                    <m:r>
                      <a:rPr lang="en-US" b="0" i="1" smtClean="0">
                        <a:latin typeface="Cambria Math" panose="02040503050406030204" pitchFamily="18" charset="0"/>
                        <a:cs typeface="Arial" panose="020B0604020202020204" pitchFamily="34" charset="0"/>
                      </a:rPr>
                      <m:t>𝑟</m:t>
                    </m:r>
                  </m:oMath>
                </a14:m>
                <a:r>
                  <a:rPr lang="en-US" dirty="0">
                    <a:latin typeface="Arial" panose="020B0604020202020204" pitchFamily="34" charset="0"/>
                    <a:cs typeface="Arial" panose="020B0604020202020204" pitchFamily="34" charset="0"/>
                  </a:rPr>
                  <a:t> is the radial distance from the center</a:t>
                </a:r>
              </a:p>
              <a:p>
                <a14:m>
                  <m:oMath xmlns:m="http://schemas.openxmlformats.org/officeDocument/2006/math">
                    <m:r>
                      <a:rPr lang="en-US" b="0" i="1" smtClean="0">
                        <a:latin typeface="Cambria Math" panose="02040503050406030204" pitchFamily="18" charset="0"/>
                        <a:cs typeface="Arial" panose="020B0604020202020204" pitchFamily="34" charset="0"/>
                      </a:rPr>
                      <m:t>𝜇</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𝑅</m:t>
                        </m:r>
                      </m:e>
                      <m:sub>
                        <m:r>
                          <m:rPr>
                            <m:sty m:val="p"/>
                          </m:rPr>
                          <a:rPr lang="en-US" b="0" i="0" smtClean="0">
                            <a:latin typeface="Cambria Math" panose="02040503050406030204" pitchFamily="18" charset="0"/>
                            <a:cs typeface="Arial" panose="020B0604020202020204" pitchFamily="34" charset="0"/>
                          </a:rPr>
                          <m:t>c</m:t>
                        </m:r>
                      </m:sub>
                    </m:sSub>
                  </m:oMath>
                </a14:m>
                <a:r>
                  <a:rPr lang="en-US" dirty="0">
                    <a:latin typeface="Arial" panose="020B0604020202020204" pitchFamily="34" charset="0"/>
                    <a:cs typeface="Arial" panose="020B0604020202020204" pitchFamily="34" charset="0"/>
                  </a:rPr>
                  <a:t> is the peak of the distribution</a:t>
                </a:r>
              </a:p>
              <a:p>
                <a14:m>
                  <m:oMath xmlns:m="http://schemas.openxmlformats.org/officeDocument/2006/math">
                    <m:r>
                      <a:rPr lang="en-US" b="0" i="1" smtClean="0">
                        <a:latin typeface="Cambria Math" panose="02040503050406030204" pitchFamily="18" charset="0"/>
                        <a:cs typeface="Arial" panose="020B0604020202020204" pitchFamily="34" charset="0"/>
                      </a:rPr>
                      <m:t>𝜎</m:t>
                    </m:r>
                  </m:oMath>
                </a14:m>
                <a:r>
                  <a:rPr lang="en-US" dirty="0">
                    <a:latin typeface="Arial" panose="020B0604020202020204" pitchFamily="34" charset="0"/>
                    <a:cs typeface="Arial" panose="020B0604020202020204" pitchFamily="34" charset="0"/>
                  </a:rPr>
                  <a:t> is the standard deviation</a:t>
                </a:r>
              </a:p>
            </p:txBody>
          </p:sp>
        </mc:Choice>
        <mc:Fallback xmlns="">
          <p:sp>
            <p:nvSpPr>
              <p:cNvPr id="3" name="Content Placeholder 2">
                <a:extLst>
                  <a:ext uri="{FF2B5EF4-FFF2-40B4-BE49-F238E27FC236}">
                    <a16:creationId xmlns:a16="http://schemas.microsoft.com/office/drawing/2014/main" id="{9F893288-A41D-B201-3E0F-3D3F8A837A8C}"/>
                  </a:ext>
                </a:extLst>
              </p:cNvPr>
              <p:cNvSpPr>
                <a:spLocks noGrp="1" noRot="1" noChangeAspect="1" noMove="1" noResize="1" noEditPoints="1" noAdjustHandles="1" noChangeArrowheads="1" noChangeShapeType="1" noTextEdit="1"/>
              </p:cNvSpPr>
              <p:nvPr>
                <p:ph idx="1"/>
              </p:nvPr>
            </p:nvSpPr>
            <p:spPr>
              <a:xfrm>
                <a:off x="4447308" y="591344"/>
                <a:ext cx="6906491" cy="5585619"/>
              </a:xfrm>
              <a:blipFill>
                <a:blip r:embed="rId2"/>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6488DF9-16FE-B52D-D66B-53882426ABCC}"/>
              </a:ext>
            </a:extLst>
          </p:cNvPr>
          <p:cNvSpPr>
            <a:spLocks noGrp="1"/>
          </p:cNvSpPr>
          <p:nvPr>
            <p:ph type="sldNum" sz="quarter" idx="12"/>
          </p:nvPr>
        </p:nvSpPr>
        <p:spPr>
          <a:xfrm>
            <a:off x="9541564" y="6356350"/>
            <a:ext cx="1812235" cy="365125"/>
          </a:xfrm>
        </p:spPr>
        <p:txBody>
          <a:bodyPr>
            <a:normAutofit/>
          </a:bodyPr>
          <a:lstStyle/>
          <a:p>
            <a:pPr>
              <a:spcAft>
                <a:spcPts val="600"/>
              </a:spcAft>
            </a:pPr>
            <a:fld id="{FFA44557-6723-474F-8BC8-E80F4E6DF2E8}" type="slidenum">
              <a:rPr lang="en-US" smtClean="0"/>
              <a:pPr>
                <a:spcAft>
                  <a:spcPts val="600"/>
                </a:spcAft>
              </a:pPr>
              <a:t>13</a:t>
            </a:fld>
            <a:endParaRPr lang="en-US"/>
          </a:p>
        </p:txBody>
      </p:sp>
    </p:spTree>
    <p:extLst>
      <p:ext uri="{BB962C8B-B14F-4D97-AF65-F5344CB8AC3E}">
        <p14:creationId xmlns:p14="http://schemas.microsoft.com/office/powerpoint/2010/main" val="2053881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99069E-204F-4595-7F88-A0264657A9E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2" name="Group 11">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6" name="Freeform: Shape 15">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3" name="Group 12">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4" name="Freeform: Shape 13">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4" name="Title 3">
            <a:extLst>
              <a:ext uri="{FF2B5EF4-FFF2-40B4-BE49-F238E27FC236}">
                <a16:creationId xmlns:a16="http://schemas.microsoft.com/office/drawing/2014/main" id="{7A56425B-53EB-6AA9-196D-9A362F7D1224}"/>
              </a:ext>
            </a:extLst>
          </p:cNvPr>
          <p:cNvSpPr>
            <a:spLocks noGrp="1"/>
          </p:cNvSpPr>
          <p:nvPr>
            <p:ph type="title"/>
          </p:nvPr>
        </p:nvSpPr>
        <p:spPr>
          <a:xfrm>
            <a:off x="792931" y="673539"/>
            <a:ext cx="7021513" cy="2308324"/>
          </a:xfrm>
        </p:spPr>
        <p:txBody>
          <a:bodyPr vert="horz" lIns="91440" tIns="45720" rIns="91440" bIns="45720" rtlCol="0" anchor="b">
            <a:normAutofit/>
          </a:bodyPr>
          <a:lstStyle/>
          <a:p>
            <a:r>
              <a:rPr lang="en-US" sz="5500" kern="1200" dirty="0">
                <a:solidFill>
                  <a:schemeClr val="bg1"/>
                </a:solidFill>
                <a:latin typeface="Arial Black" panose="020B0A04020102020204" pitchFamily="34" charset="0"/>
              </a:rPr>
              <a:t>II.2   Size Dependency</a:t>
            </a:r>
          </a:p>
        </p:txBody>
      </p:sp>
      <p:sp>
        <p:nvSpPr>
          <p:cNvPr id="3" name="Slide Number Placeholder 2">
            <a:extLst>
              <a:ext uri="{FF2B5EF4-FFF2-40B4-BE49-F238E27FC236}">
                <a16:creationId xmlns:a16="http://schemas.microsoft.com/office/drawing/2014/main" id="{E79C78A5-2F06-A7FB-AF1D-CB21EA16D76F}"/>
              </a:ext>
            </a:extLst>
          </p:cNvPr>
          <p:cNvSpPr>
            <a:spLocks noGrp="1"/>
          </p:cNvSpPr>
          <p:nvPr>
            <p:ph type="sldNum" sz="quarter" idx="12"/>
          </p:nvPr>
        </p:nvSpPr>
        <p:spPr/>
        <p:txBody>
          <a:bodyPr/>
          <a:lstStyle/>
          <a:p>
            <a:fld id="{FFA44557-6723-474F-8BC8-E80F4E6DF2E8}" type="slidenum">
              <a:rPr lang="en-US" smtClean="0"/>
              <a:t>14</a:t>
            </a:fld>
            <a:endParaRPr lang="en-US"/>
          </a:p>
        </p:txBody>
      </p:sp>
    </p:spTree>
    <p:extLst>
      <p:ext uri="{BB962C8B-B14F-4D97-AF65-F5344CB8AC3E}">
        <p14:creationId xmlns:p14="http://schemas.microsoft.com/office/powerpoint/2010/main" val="85656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2E8F4C-6641-F6A3-9823-637DC93EB375}"/>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8F3DDC-057D-122F-1742-2832B7C36990}"/>
              </a:ext>
            </a:extLst>
          </p:cNvPr>
          <p:cNvSpPr>
            <a:spLocks noGrp="1"/>
          </p:cNvSpPr>
          <p:nvPr>
            <p:ph type="title"/>
          </p:nvPr>
        </p:nvSpPr>
        <p:spPr>
          <a:xfrm>
            <a:off x="838200" y="365125"/>
            <a:ext cx="10515600" cy="1325563"/>
          </a:xfrm>
        </p:spPr>
        <p:txBody>
          <a:bodyPr>
            <a:normAutofit/>
          </a:bodyPr>
          <a:lstStyle/>
          <a:p>
            <a:r>
              <a:rPr lang="en-US" sz="5400">
                <a:latin typeface="Arial Bold" panose="020B0704020202020204" pitchFamily="34" charset="0"/>
                <a:cs typeface="Arial Bold" panose="020B0704020202020204" pitchFamily="34" charset="0"/>
              </a:rPr>
              <a:t>Characteristic Length</a:t>
            </a:r>
          </a:p>
        </p:txBody>
      </p:sp>
      <p:sp>
        <p:nvSpPr>
          <p:cNvPr id="2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FB845C-8B50-9D9A-72C8-451A112D01D5}"/>
                  </a:ext>
                </a:extLst>
              </p:cNvPr>
              <p:cNvSpPr>
                <a:spLocks noGrp="1"/>
              </p:cNvSpPr>
              <p:nvPr>
                <p:ph idx="1"/>
              </p:nvPr>
            </p:nvSpPr>
            <p:spPr>
              <a:xfrm>
                <a:off x="838200" y="1929384"/>
                <a:ext cx="10515600" cy="4251960"/>
              </a:xfrm>
            </p:spPr>
            <p:txBody>
              <a:bodyPr>
                <a:normAutofit/>
              </a:bodyPr>
              <a:lstStyle/>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Fragments have different sizes!</a:t>
                </a: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The size is defined by each fragment’s respective characteristic length (</a:t>
                </a:r>
                <a14:m>
                  <m:oMath xmlns:m="http://schemas.openxmlformats.org/officeDocument/2006/math">
                    <m:sSub>
                      <m:sSubPr>
                        <m:ctrlPr>
                          <a:rPr lang="en-US" sz="2200" b="0" i="1">
                            <a:latin typeface="Cambria Math" panose="02040503050406030204" pitchFamily="18" charset="0"/>
                            <a:cs typeface="Arial" panose="020B0604020202020204" pitchFamily="34" charset="0"/>
                          </a:rPr>
                        </m:ctrlPr>
                      </m:sSubPr>
                      <m:e>
                        <m:r>
                          <a:rPr lang="en-US" sz="2200" b="0" i="1">
                            <a:latin typeface="Cambria Math" panose="02040503050406030204" pitchFamily="18" charset="0"/>
                            <a:cs typeface="Arial" panose="020B0604020202020204" pitchFamily="34" charset="0"/>
                          </a:rPr>
                          <m:t>𝐿</m:t>
                        </m:r>
                      </m:e>
                      <m:sub>
                        <m:r>
                          <m:rPr>
                            <m:sty m:val="p"/>
                          </m:rPr>
                          <a:rPr lang="en-US" sz="2200" b="0" i="0">
                            <a:latin typeface="Cambria Math" panose="02040503050406030204" pitchFamily="18" charset="0"/>
                            <a:cs typeface="Arial" panose="020B0604020202020204" pitchFamily="34" charset="0"/>
                          </a:rPr>
                          <m:t>c</m:t>
                        </m:r>
                      </m:sub>
                    </m:sSub>
                  </m:oMath>
                </a14:m>
                <a:r>
                  <a:rPr lang="en-US" sz="2200" dirty="0">
                    <a:latin typeface="Arial" panose="020B0604020202020204" pitchFamily="34" charset="0"/>
                    <a:cs typeface="Arial" panose="020B0604020202020204" pitchFamily="34" charset="0"/>
                  </a:rPr>
                  <a:t>)</a:t>
                </a: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The parameters in the formula for </a:t>
                </a:r>
                <a14:m>
                  <m:oMath xmlns:m="http://schemas.openxmlformats.org/officeDocument/2006/math">
                    <m:r>
                      <a:rPr lang="en-US" sz="2200" b="0" i="1">
                        <a:latin typeface="Cambria Math" panose="02040503050406030204" pitchFamily="18" charset="0"/>
                        <a:cs typeface="Arial" panose="020B0604020202020204" pitchFamily="34" charset="0"/>
                      </a:rPr>
                      <m:t>𝜌</m:t>
                    </m:r>
                  </m:oMath>
                </a14:m>
                <a:r>
                  <a:rPr lang="en-US" sz="2200" dirty="0">
                    <a:latin typeface="Arial" panose="020B0604020202020204" pitchFamily="34" charset="0"/>
                    <a:cs typeface="Arial" panose="020B0604020202020204" pitchFamily="34" charset="0"/>
                  </a:rPr>
                  <a:t> are now size dependent;</a:t>
                </a:r>
              </a:p>
              <a:p>
                <a:pPr lvl="1">
                  <a:buFont typeface="Wingdings" panose="05000000000000000000" pitchFamily="2" charset="2"/>
                  <a:buChar char="§"/>
                </a:pPr>
                <a14:m>
                  <m:oMath xmlns:m="http://schemas.openxmlformats.org/officeDocument/2006/math">
                    <m:sSub>
                      <m:sSubPr>
                        <m:ctrlPr>
                          <a:rPr lang="en-US" sz="2200" b="0" i="1">
                            <a:latin typeface="Cambria Math" panose="02040503050406030204" pitchFamily="18" charset="0"/>
                            <a:cs typeface="Arial" panose="020B0604020202020204" pitchFamily="34" charset="0"/>
                          </a:rPr>
                        </m:ctrlPr>
                      </m:sSubPr>
                      <m:e>
                        <m:r>
                          <a:rPr lang="en-US" sz="2200" b="0" i="1">
                            <a:latin typeface="Cambria Math" panose="02040503050406030204" pitchFamily="18" charset="0"/>
                            <a:cs typeface="Arial" panose="020B0604020202020204" pitchFamily="34" charset="0"/>
                          </a:rPr>
                          <m:t>𝜌</m:t>
                        </m:r>
                      </m:e>
                      <m:sub>
                        <m:r>
                          <a:rPr lang="en-US" sz="2200" b="0" i="1">
                            <a:latin typeface="Cambria Math" panose="02040503050406030204" pitchFamily="18" charset="0"/>
                            <a:cs typeface="Arial" panose="020B0604020202020204" pitchFamily="34" charset="0"/>
                          </a:rPr>
                          <m:t>0</m:t>
                        </m:r>
                      </m:sub>
                    </m:sSub>
                    <m:r>
                      <a:rPr lang="en-US" sz="2200" i="1">
                        <a:latin typeface="Cambria Math" panose="02040503050406030204" pitchFamily="18" charset="0"/>
                        <a:ea typeface="Cambria Math" panose="02040503050406030204" pitchFamily="18" charset="0"/>
                        <a:cs typeface="Arial" panose="020B0604020202020204" pitchFamily="34" charset="0"/>
                      </a:rPr>
                      <m:t>→</m:t>
                    </m:r>
                    <m:sSub>
                      <m:sSubPr>
                        <m:ctrlPr>
                          <a:rPr lang="en-US" sz="2200" b="0" i="1">
                            <a:latin typeface="Cambria Math" panose="02040503050406030204" pitchFamily="18" charset="0"/>
                            <a:ea typeface="Cambria Math" panose="02040503050406030204" pitchFamily="18" charset="0"/>
                            <a:cs typeface="Arial" panose="020B0604020202020204" pitchFamily="34" charset="0"/>
                          </a:rPr>
                        </m:ctrlPr>
                      </m:sSubPr>
                      <m:e>
                        <m:r>
                          <a:rPr lang="en-US" sz="2200" b="0" i="1">
                            <a:latin typeface="Cambria Math" panose="02040503050406030204" pitchFamily="18" charset="0"/>
                            <a:ea typeface="Cambria Math" panose="02040503050406030204" pitchFamily="18" charset="0"/>
                            <a:cs typeface="Arial" panose="020B0604020202020204" pitchFamily="34" charset="0"/>
                          </a:rPr>
                          <m:t>𝜌</m:t>
                        </m:r>
                      </m:e>
                      <m:sub>
                        <m:r>
                          <a:rPr lang="en-US" sz="2200" b="0" i="1">
                            <a:latin typeface="Cambria Math" panose="02040503050406030204" pitchFamily="18" charset="0"/>
                            <a:ea typeface="Cambria Math" panose="02040503050406030204" pitchFamily="18" charset="0"/>
                            <a:cs typeface="Arial" panose="020B0604020202020204" pitchFamily="34" charset="0"/>
                          </a:rPr>
                          <m:t>0</m:t>
                        </m:r>
                      </m:sub>
                    </m:sSub>
                    <m:d>
                      <m:dPr>
                        <m:ctrlPr>
                          <a:rPr lang="en-US" sz="2200" b="0"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200" b="0" i="1">
                                <a:latin typeface="Cambria Math" panose="02040503050406030204" pitchFamily="18" charset="0"/>
                                <a:ea typeface="Cambria Math" panose="02040503050406030204" pitchFamily="18" charset="0"/>
                                <a:cs typeface="Arial" panose="020B0604020202020204" pitchFamily="34" charset="0"/>
                              </a:rPr>
                            </m:ctrlPr>
                          </m:sSubPr>
                          <m:e>
                            <m:r>
                              <a:rPr lang="en-US" sz="2200" b="0" i="1">
                                <a:latin typeface="Cambria Math" panose="02040503050406030204" pitchFamily="18" charset="0"/>
                                <a:ea typeface="Cambria Math" panose="02040503050406030204" pitchFamily="18" charset="0"/>
                                <a:cs typeface="Arial" panose="020B0604020202020204" pitchFamily="34" charset="0"/>
                              </a:rPr>
                              <m:t>𝐿</m:t>
                            </m:r>
                          </m:e>
                          <m:sub>
                            <m:r>
                              <m:rPr>
                                <m:sty m:val="p"/>
                              </m:rPr>
                              <a:rPr lang="en-US" sz="2200" b="0" i="0">
                                <a:latin typeface="Cambria Math" panose="02040503050406030204" pitchFamily="18" charset="0"/>
                                <a:ea typeface="Cambria Math" panose="02040503050406030204" pitchFamily="18" charset="0"/>
                                <a:cs typeface="Arial" panose="020B0604020202020204" pitchFamily="34" charset="0"/>
                              </a:rPr>
                              <m:t>c</m:t>
                            </m:r>
                          </m:sub>
                        </m:sSub>
                      </m:e>
                    </m:d>
                  </m:oMath>
                </a14:m>
                <a:endParaRPr lang="en-US" sz="2200" b="0" dirty="0">
                  <a:latin typeface="Arial" panose="020B0604020202020204" pitchFamily="34" charset="0"/>
                  <a:ea typeface="Cambria Math" panose="02040503050406030204" pitchFamily="18" charset="0"/>
                  <a:cs typeface="Arial" panose="020B0604020202020204" pitchFamily="34" charset="0"/>
                </a:endParaRPr>
              </a:p>
              <a:p>
                <a:pPr lvl="1">
                  <a:buFont typeface="Wingdings" panose="05000000000000000000" pitchFamily="2" charset="2"/>
                  <a:buChar char="§"/>
                </a:pPr>
                <a14:m>
                  <m:oMath xmlns:m="http://schemas.openxmlformats.org/officeDocument/2006/math">
                    <m:r>
                      <a:rPr lang="en-US" sz="2200" b="0" i="1">
                        <a:latin typeface="Cambria Math" panose="02040503050406030204" pitchFamily="18" charset="0"/>
                        <a:cs typeface="Arial" panose="020B0604020202020204" pitchFamily="34" charset="0"/>
                      </a:rPr>
                      <m:t>𝜇</m:t>
                    </m:r>
                    <m:r>
                      <a:rPr lang="en-US" sz="2200" i="1">
                        <a:latin typeface="Cambria Math" panose="02040503050406030204" pitchFamily="18" charset="0"/>
                        <a:ea typeface="Cambria Math" panose="02040503050406030204" pitchFamily="18" charset="0"/>
                        <a:cs typeface="Arial" panose="020B0604020202020204" pitchFamily="34" charset="0"/>
                      </a:rPr>
                      <m:t>→</m:t>
                    </m:r>
                    <m:r>
                      <a:rPr lang="en-US" sz="2200" i="1">
                        <a:latin typeface="Cambria Math" panose="02040503050406030204" pitchFamily="18" charset="0"/>
                        <a:ea typeface="Cambria Math" panose="02040503050406030204" pitchFamily="18" charset="0"/>
                        <a:cs typeface="Arial" panose="020B0604020202020204" pitchFamily="34" charset="0"/>
                      </a:rPr>
                      <m:t>𝜇</m:t>
                    </m:r>
                    <m:r>
                      <a:rPr lang="en-US" sz="2200" i="1">
                        <a:latin typeface="Cambria Math" panose="02040503050406030204" pitchFamily="18" charset="0"/>
                        <a:ea typeface="Cambria Math" panose="02040503050406030204" pitchFamily="18" charset="0"/>
                        <a:cs typeface="Arial" panose="020B0604020202020204" pitchFamily="34" charset="0"/>
                      </a:rPr>
                      <m:t>(</m:t>
                    </m:r>
                    <m:sSub>
                      <m:sSubPr>
                        <m:ctrlPr>
                          <a:rPr lang="en-US" sz="2200" i="1">
                            <a:latin typeface="Cambria Math" panose="02040503050406030204" pitchFamily="18" charset="0"/>
                            <a:ea typeface="Cambria Math" panose="02040503050406030204" pitchFamily="18" charset="0"/>
                            <a:cs typeface="Arial" panose="020B0604020202020204" pitchFamily="34" charset="0"/>
                          </a:rPr>
                        </m:ctrlPr>
                      </m:sSubPr>
                      <m:e>
                        <m:r>
                          <a:rPr lang="en-US" sz="2200" i="1">
                            <a:latin typeface="Cambria Math" panose="02040503050406030204" pitchFamily="18" charset="0"/>
                            <a:ea typeface="Cambria Math" panose="02040503050406030204" pitchFamily="18" charset="0"/>
                            <a:cs typeface="Arial" panose="020B0604020202020204" pitchFamily="34" charset="0"/>
                          </a:rPr>
                          <m:t>𝐿</m:t>
                        </m:r>
                      </m:e>
                      <m:sub>
                        <m:r>
                          <m:rPr>
                            <m:sty m:val="p"/>
                          </m:rPr>
                          <a:rPr lang="en-US" sz="2200">
                            <a:latin typeface="Cambria Math" panose="02040503050406030204" pitchFamily="18" charset="0"/>
                            <a:ea typeface="Cambria Math" panose="02040503050406030204" pitchFamily="18" charset="0"/>
                            <a:cs typeface="Arial" panose="020B0604020202020204" pitchFamily="34" charset="0"/>
                          </a:rPr>
                          <m:t>c</m:t>
                        </m:r>
                      </m:sub>
                    </m:sSub>
                    <m:r>
                      <a:rPr lang="en-US" sz="2200" i="1">
                        <a:latin typeface="Cambria Math" panose="02040503050406030204" pitchFamily="18" charset="0"/>
                        <a:ea typeface="Cambria Math" panose="02040503050406030204" pitchFamily="18" charset="0"/>
                        <a:cs typeface="Arial" panose="020B0604020202020204" pitchFamily="34" charset="0"/>
                      </a:rPr>
                      <m:t>)</m:t>
                    </m:r>
                  </m:oMath>
                </a14:m>
                <a:endParaRPr lang="en-US" sz="2200" dirty="0">
                  <a:latin typeface="Arial" panose="020B0604020202020204" pitchFamily="34" charset="0"/>
                  <a:cs typeface="Arial" panose="020B0604020202020204" pitchFamily="34" charset="0"/>
                </a:endParaRPr>
              </a:p>
              <a:p>
                <a:pPr lvl="1">
                  <a:buFont typeface="Wingdings" panose="05000000000000000000" pitchFamily="2" charset="2"/>
                  <a:buChar char="§"/>
                </a:pPr>
                <a14:m>
                  <m:oMath xmlns:m="http://schemas.openxmlformats.org/officeDocument/2006/math">
                    <m:r>
                      <a:rPr lang="en-US" sz="2200" b="0" i="1">
                        <a:latin typeface="Cambria Math" panose="02040503050406030204" pitchFamily="18" charset="0"/>
                        <a:cs typeface="Arial" panose="020B0604020202020204" pitchFamily="34" charset="0"/>
                      </a:rPr>
                      <m:t>𝜎</m:t>
                    </m:r>
                    <m:r>
                      <a:rPr lang="en-US" sz="2200" i="1">
                        <a:latin typeface="Cambria Math" panose="02040503050406030204" pitchFamily="18" charset="0"/>
                        <a:ea typeface="Cambria Math" panose="02040503050406030204" pitchFamily="18" charset="0"/>
                        <a:cs typeface="Arial" panose="020B0604020202020204" pitchFamily="34" charset="0"/>
                      </a:rPr>
                      <m:t>→</m:t>
                    </m:r>
                    <m:r>
                      <a:rPr lang="en-US" sz="2200" i="1">
                        <a:latin typeface="Cambria Math" panose="02040503050406030204" pitchFamily="18" charset="0"/>
                        <a:ea typeface="Cambria Math" panose="02040503050406030204" pitchFamily="18" charset="0"/>
                        <a:cs typeface="Arial" panose="020B0604020202020204" pitchFamily="34" charset="0"/>
                      </a:rPr>
                      <m:t>𝜎</m:t>
                    </m:r>
                    <m:r>
                      <a:rPr lang="en-US" sz="2200" i="1">
                        <a:latin typeface="Cambria Math" panose="02040503050406030204" pitchFamily="18" charset="0"/>
                        <a:ea typeface="Cambria Math" panose="02040503050406030204" pitchFamily="18" charset="0"/>
                        <a:cs typeface="Arial" panose="020B0604020202020204" pitchFamily="34" charset="0"/>
                      </a:rPr>
                      <m:t>(</m:t>
                    </m:r>
                    <m:sSub>
                      <m:sSubPr>
                        <m:ctrlPr>
                          <a:rPr lang="en-US" sz="2200" i="1">
                            <a:latin typeface="Cambria Math" panose="02040503050406030204" pitchFamily="18" charset="0"/>
                            <a:ea typeface="Cambria Math" panose="02040503050406030204" pitchFamily="18" charset="0"/>
                            <a:cs typeface="Arial" panose="020B0604020202020204" pitchFamily="34" charset="0"/>
                          </a:rPr>
                        </m:ctrlPr>
                      </m:sSubPr>
                      <m:e>
                        <m:r>
                          <a:rPr lang="en-US" sz="2200" i="1">
                            <a:latin typeface="Cambria Math" panose="02040503050406030204" pitchFamily="18" charset="0"/>
                            <a:ea typeface="Cambria Math" panose="02040503050406030204" pitchFamily="18" charset="0"/>
                            <a:cs typeface="Arial" panose="020B0604020202020204" pitchFamily="34" charset="0"/>
                          </a:rPr>
                          <m:t>𝐿</m:t>
                        </m:r>
                      </m:e>
                      <m:sub>
                        <m:r>
                          <m:rPr>
                            <m:sty m:val="p"/>
                          </m:rPr>
                          <a:rPr lang="en-US" sz="2200">
                            <a:latin typeface="Cambria Math" panose="02040503050406030204" pitchFamily="18" charset="0"/>
                            <a:ea typeface="Cambria Math" panose="02040503050406030204" pitchFamily="18" charset="0"/>
                            <a:cs typeface="Arial" panose="020B0604020202020204" pitchFamily="34" charset="0"/>
                          </a:rPr>
                          <m:t>c</m:t>
                        </m:r>
                      </m:sub>
                    </m:sSub>
                    <m:r>
                      <a:rPr lang="en-US" sz="2200" i="1">
                        <a:latin typeface="Cambria Math" panose="02040503050406030204" pitchFamily="18" charset="0"/>
                        <a:ea typeface="Cambria Math" panose="02040503050406030204" pitchFamily="18" charset="0"/>
                        <a:cs typeface="Arial" panose="020B0604020202020204" pitchFamily="34" charset="0"/>
                      </a:rPr>
                      <m:t>)</m:t>
                    </m:r>
                  </m:oMath>
                </a14:m>
                <a:endParaRPr lang="en-US" sz="22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B6FB845C-8B50-9D9A-72C8-451A112D01D5}"/>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69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31C234D-50DC-A096-0C93-C4041D1723FF}"/>
              </a:ext>
            </a:extLst>
          </p:cNvPr>
          <p:cNvSpPr>
            <a:spLocks noGrp="1"/>
          </p:cNvSpPr>
          <p:nvPr>
            <p:ph type="sldNum" sz="quarter" idx="12"/>
          </p:nvPr>
        </p:nvSpPr>
        <p:spPr>
          <a:xfrm>
            <a:off x="8610600" y="6356350"/>
            <a:ext cx="2743200" cy="365125"/>
          </a:xfrm>
        </p:spPr>
        <p:txBody>
          <a:bodyPr>
            <a:normAutofit/>
          </a:bodyPr>
          <a:lstStyle/>
          <a:p>
            <a:pPr>
              <a:spcAft>
                <a:spcPts val="600"/>
              </a:spcAft>
            </a:pPr>
            <a:fld id="{FFA44557-6723-474F-8BC8-E80F4E6DF2E8}" type="slidenum">
              <a:rPr lang="en-US" smtClean="0"/>
              <a:pPr>
                <a:spcAft>
                  <a:spcPts val="600"/>
                </a:spcAft>
              </a:pPr>
              <a:t>15</a:t>
            </a:fld>
            <a:endParaRPr lang="en-US"/>
          </a:p>
        </p:txBody>
      </p:sp>
    </p:spTree>
    <p:extLst>
      <p:ext uri="{BB962C8B-B14F-4D97-AF65-F5344CB8AC3E}">
        <p14:creationId xmlns:p14="http://schemas.microsoft.com/office/powerpoint/2010/main" val="2067975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303297-3CED-9C25-5907-781A08D984E2}"/>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D1557C-9B81-E1EF-D7C9-D50E97BCD3B5}"/>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latin typeface="Arial Bold" panose="020B0704020202020204" pitchFamily="34" charset="0"/>
                <a:cs typeface="Arial Bold" panose="020B0704020202020204" pitchFamily="34" charset="0"/>
              </a:rPr>
              <a:t>Size Dependency of Parameters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6AEE56-B477-CB2D-8240-E495CC1D673A}"/>
                  </a:ext>
                </a:extLst>
              </p:cNvPr>
              <p:cNvSpPr>
                <a:spLocks noGrp="1"/>
              </p:cNvSpPr>
              <p:nvPr>
                <p:ph idx="1"/>
              </p:nvPr>
            </p:nvSpPr>
            <p:spPr>
              <a:xfrm>
                <a:off x="1371599" y="2318197"/>
                <a:ext cx="9724031" cy="3683358"/>
              </a:xfrm>
            </p:spPr>
            <p:txBody>
              <a:bodyPr anchor="ctr">
                <a:normAutofit/>
              </a:bodyPr>
              <a:lstStyle/>
              <a:p>
                <a:endParaRPr lang="en-US" sz="1600" dirty="0">
                  <a:latin typeface="Arial" panose="020B0604020202020204" pitchFamily="34" charset="0"/>
                  <a:cs typeface="Arial" panose="020B0604020202020204" pitchFamily="34" charset="0"/>
                </a:endParaRPr>
              </a:p>
              <a:p>
                <a14:m>
                  <m:oMath xmlns:m="http://schemas.openxmlformats.org/officeDocument/2006/math">
                    <m:sSub>
                      <m:sSubPr>
                        <m:ctrlPr>
                          <a:rPr lang="en-US" sz="1800" b="0" i="1">
                            <a:latin typeface="Cambria Math" panose="02040503050406030204" pitchFamily="18" charset="0"/>
                            <a:cs typeface="Arial" panose="020B0604020202020204" pitchFamily="34" charset="0"/>
                          </a:rPr>
                        </m:ctrlPr>
                      </m:sSubPr>
                      <m:e>
                        <m:r>
                          <a:rPr lang="en-US" sz="1800" b="0" i="1">
                            <a:latin typeface="Cambria Math" panose="02040503050406030204" pitchFamily="18" charset="0"/>
                            <a:cs typeface="Arial" panose="020B0604020202020204" pitchFamily="34" charset="0"/>
                          </a:rPr>
                          <m:t>𝜌</m:t>
                        </m:r>
                      </m:e>
                      <m:sub>
                        <m:r>
                          <a:rPr lang="en-US" sz="1800" b="0" i="1">
                            <a:latin typeface="Cambria Math" panose="02040503050406030204" pitchFamily="18" charset="0"/>
                            <a:cs typeface="Arial" panose="020B0604020202020204" pitchFamily="34" charset="0"/>
                          </a:rPr>
                          <m:t>0</m:t>
                        </m:r>
                      </m:sub>
                    </m:sSub>
                    <m:d>
                      <m:dPr>
                        <m:ctrlPr>
                          <a:rPr lang="en-US" sz="1800" b="0"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1800" i="1">
                                <a:latin typeface="Cambria Math" panose="02040503050406030204" pitchFamily="18" charset="0"/>
                                <a:ea typeface="Cambria Math" panose="02040503050406030204" pitchFamily="18" charset="0"/>
                                <a:cs typeface="Arial" panose="020B0604020202020204" pitchFamily="34" charset="0"/>
                              </a:rPr>
                            </m:ctrlPr>
                          </m:sSubPr>
                          <m:e>
                            <m:r>
                              <a:rPr lang="en-US" sz="1800" i="1">
                                <a:latin typeface="Cambria Math" panose="02040503050406030204" pitchFamily="18" charset="0"/>
                                <a:ea typeface="Cambria Math" panose="02040503050406030204" pitchFamily="18" charset="0"/>
                                <a:cs typeface="Arial" panose="020B0604020202020204" pitchFamily="34" charset="0"/>
                              </a:rPr>
                              <m:t>𝐿</m:t>
                            </m:r>
                          </m:e>
                          <m:sub>
                            <m:r>
                              <m:rPr>
                                <m:sty m:val="p"/>
                              </m:rPr>
                              <a:rPr lang="en-US" sz="1800">
                                <a:latin typeface="Cambria Math" panose="02040503050406030204" pitchFamily="18" charset="0"/>
                                <a:ea typeface="Cambria Math" panose="02040503050406030204" pitchFamily="18" charset="0"/>
                                <a:cs typeface="Arial" panose="020B0604020202020204" pitchFamily="34" charset="0"/>
                              </a:rPr>
                              <m:t>c</m:t>
                            </m:r>
                          </m:sub>
                        </m:sSub>
                      </m:e>
                    </m:d>
                  </m:oMath>
                </a14:m>
                <a:r>
                  <a:rPr lang="en-US" sz="1800" dirty="0">
                    <a:latin typeface="Arial" panose="020B0604020202020204" pitchFamily="34" charset="0"/>
                    <a:ea typeface="Cambria Math" panose="02040503050406030204" pitchFamily="18" charset="0"/>
                    <a:cs typeface="Arial" panose="020B0604020202020204" pitchFamily="34" charset="0"/>
                  </a:rPr>
                  <a:t> can be found by integrating the mass integral itself over the range of characteristic lengths.</a:t>
                </a:r>
              </a:p>
              <a:p>
                <a:endParaRPr lang="en-US" sz="1600" dirty="0">
                  <a:latin typeface="Arial" panose="020B0604020202020204" pitchFamily="34" charset="0"/>
                  <a:cs typeface="Arial" panose="020B0604020202020204" pitchFamily="34" charset="0"/>
                </a:endParaRPr>
              </a:p>
              <a:p>
                <a14:m>
                  <m:oMath xmlns:m="http://schemas.openxmlformats.org/officeDocument/2006/math">
                    <m:r>
                      <a:rPr lang="en-US" sz="1800" b="0" i="1">
                        <a:latin typeface="Cambria Math" panose="02040503050406030204" pitchFamily="18" charset="0"/>
                        <a:cs typeface="Arial" panose="020B0604020202020204" pitchFamily="34" charset="0"/>
                      </a:rPr>
                      <m:t>𝜇</m:t>
                    </m:r>
                    <m:r>
                      <a:rPr lang="en-US" sz="1800" i="1">
                        <a:latin typeface="Cambria Math" panose="02040503050406030204" pitchFamily="18" charset="0"/>
                        <a:ea typeface="Cambria Math" panose="02040503050406030204" pitchFamily="18" charset="0"/>
                        <a:cs typeface="Arial" panose="020B0604020202020204" pitchFamily="34" charset="0"/>
                      </a:rPr>
                      <m:t>(</m:t>
                    </m:r>
                    <m:sSub>
                      <m:sSubPr>
                        <m:ctrlPr>
                          <a:rPr lang="en-US" sz="1800" i="1">
                            <a:latin typeface="Cambria Math" panose="02040503050406030204" pitchFamily="18" charset="0"/>
                            <a:ea typeface="Cambria Math" panose="02040503050406030204" pitchFamily="18" charset="0"/>
                            <a:cs typeface="Arial" panose="020B0604020202020204" pitchFamily="34" charset="0"/>
                          </a:rPr>
                        </m:ctrlPr>
                      </m:sSubPr>
                      <m:e>
                        <m:r>
                          <a:rPr lang="en-US" sz="1800" i="1">
                            <a:latin typeface="Cambria Math" panose="02040503050406030204" pitchFamily="18" charset="0"/>
                            <a:ea typeface="Cambria Math" panose="02040503050406030204" pitchFamily="18" charset="0"/>
                            <a:cs typeface="Arial" panose="020B0604020202020204" pitchFamily="34" charset="0"/>
                          </a:rPr>
                          <m:t>𝐿</m:t>
                        </m:r>
                      </m:e>
                      <m:sub>
                        <m:r>
                          <m:rPr>
                            <m:sty m:val="p"/>
                          </m:rPr>
                          <a:rPr lang="en-US" sz="1800">
                            <a:latin typeface="Cambria Math" panose="02040503050406030204" pitchFamily="18" charset="0"/>
                            <a:ea typeface="Cambria Math" panose="02040503050406030204" pitchFamily="18" charset="0"/>
                            <a:cs typeface="Arial" panose="020B0604020202020204" pitchFamily="34" charset="0"/>
                          </a:rPr>
                          <m:t>c</m:t>
                        </m:r>
                      </m:sub>
                    </m:sSub>
                    <m:r>
                      <a:rPr lang="en-US" sz="1800" i="1">
                        <a:latin typeface="Cambria Math" panose="02040503050406030204" pitchFamily="18" charset="0"/>
                        <a:ea typeface="Cambria Math" panose="02040503050406030204" pitchFamily="18" charset="0"/>
                        <a:cs typeface="Arial" panose="020B0604020202020204" pitchFamily="34" charset="0"/>
                      </a:rPr>
                      <m:t>)</m:t>
                    </m:r>
                  </m:oMath>
                </a14:m>
                <a:r>
                  <a:rPr lang="en-US" sz="1800" dirty="0">
                    <a:latin typeface="Arial" panose="020B0604020202020204" pitchFamily="34" charset="0"/>
                    <a:cs typeface="Arial" panose="020B0604020202020204" pitchFamily="34" charset="0"/>
                  </a:rPr>
                  <a:t> is now defined for each specific </a:t>
                </a:r>
                <a14:m>
                  <m:oMath xmlns:m="http://schemas.openxmlformats.org/officeDocument/2006/math">
                    <m:sSub>
                      <m:sSubPr>
                        <m:ctrlPr>
                          <a:rPr lang="en-US" sz="1800" i="1">
                            <a:latin typeface="Cambria Math" panose="02040503050406030204" pitchFamily="18" charset="0"/>
                            <a:ea typeface="Cambria Math" panose="02040503050406030204" pitchFamily="18" charset="0"/>
                            <a:cs typeface="Arial" panose="020B0604020202020204" pitchFamily="34" charset="0"/>
                          </a:rPr>
                        </m:ctrlPr>
                      </m:sSubPr>
                      <m:e>
                        <m:r>
                          <a:rPr lang="en-US" sz="1800" i="1">
                            <a:latin typeface="Cambria Math" panose="02040503050406030204" pitchFamily="18" charset="0"/>
                            <a:ea typeface="Cambria Math" panose="02040503050406030204" pitchFamily="18" charset="0"/>
                            <a:cs typeface="Arial" panose="020B0604020202020204" pitchFamily="34" charset="0"/>
                          </a:rPr>
                          <m:t>𝐿</m:t>
                        </m:r>
                      </m:e>
                      <m:sub>
                        <m:r>
                          <m:rPr>
                            <m:sty m:val="p"/>
                          </m:rPr>
                          <a:rPr lang="en-US" sz="1800">
                            <a:latin typeface="Cambria Math" panose="02040503050406030204" pitchFamily="18" charset="0"/>
                            <a:ea typeface="Cambria Math" panose="02040503050406030204" pitchFamily="18" charset="0"/>
                            <a:cs typeface="Arial" panose="020B0604020202020204" pitchFamily="34" charset="0"/>
                          </a:rPr>
                          <m:t>c</m:t>
                        </m:r>
                      </m:sub>
                    </m:sSub>
                  </m:oMath>
                </a14:m>
                <a:r>
                  <a:rPr lang="en-US" sz="1800" dirty="0">
                    <a:latin typeface="Arial" panose="020B0604020202020204" pitchFamily="34" charset="0"/>
                    <a:cs typeface="Arial" panose="020B0604020202020204" pitchFamily="34" charset="0"/>
                  </a:rPr>
                  <a:t>.</a:t>
                </a:r>
              </a:p>
              <a:p>
                <a:endParaRPr lang="en-US" sz="1600" dirty="0">
                  <a:latin typeface="Arial" panose="020B0604020202020204" pitchFamily="34" charset="0"/>
                  <a:cs typeface="Arial" panose="020B0604020202020204" pitchFamily="34" charset="0"/>
                </a:endParaRPr>
              </a:p>
              <a:p>
                <a14:m>
                  <m:oMath xmlns:m="http://schemas.openxmlformats.org/officeDocument/2006/math">
                    <m:r>
                      <a:rPr lang="en-US" sz="1800" b="0" i="1">
                        <a:latin typeface="Cambria Math" panose="02040503050406030204" pitchFamily="18" charset="0"/>
                        <a:cs typeface="Arial" panose="020B0604020202020204" pitchFamily="34" charset="0"/>
                      </a:rPr>
                      <m:t>𝜎</m:t>
                    </m:r>
                    <m:r>
                      <a:rPr lang="en-US" sz="1800" i="1">
                        <a:latin typeface="Cambria Math" panose="02040503050406030204" pitchFamily="18" charset="0"/>
                        <a:ea typeface="Cambria Math" panose="02040503050406030204" pitchFamily="18" charset="0"/>
                        <a:cs typeface="Arial" panose="020B0604020202020204" pitchFamily="34" charset="0"/>
                      </a:rPr>
                      <m:t>(</m:t>
                    </m:r>
                    <m:sSub>
                      <m:sSubPr>
                        <m:ctrlPr>
                          <a:rPr lang="en-US" sz="1800" i="1">
                            <a:latin typeface="Cambria Math" panose="02040503050406030204" pitchFamily="18" charset="0"/>
                            <a:ea typeface="Cambria Math" panose="02040503050406030204" pitchFamily="18" charset="0"/>
                            <a:cs typeface="Arial" panose="020B0604020202020204" pitchFamily="34" charset="0"/>
                          </a:rPr>
                        </m:ctrlPr>
                      </m:sSubPr>
                      <m:e>
                        <m:r>
                          <a:rPr lang="en-US" sz="1800" i="1">
                            <a:latin typeface="Cambria Math" panose="02040503050406030204" pitchFamily="18" charset="0"/>
                            <a:ea typeface="Cambria Math" panose="02040503050406030204" pitchFamily="18" charset="0"/>
                            <a:cs typeface="Arial" panose="020B0604020202020204" pitchFamily="34" charset="0"/>
                          </a:rPr>
                          <m:t>𝐿</m:t>
                        </m:r>
                      </m:e>
                      <m:sub>
                        <m:r>
                          <m:rPr>
                            <m:sty m:val="p"/>
                          </m:rPr>
                          <a:rPr lang="en-US" sz="1800">
                            <a:latin typeface="Cambria Math" panose="02040503050406030204" pitchFamily="18" charset="0"/>
                            <a:ea typeface="Cambria Math" panose="02040503050406030204" pitchFamily="18" charset="0"/>
                            <a:cs typeface="Arial" panose="020B0604020202020204" pitchFamily="34" charset="0"/>
                          </a:rPr>
                          <m:t>c</m:t>
                        </m:r>
                      </m:sub>
                    </m:sSub>
                    <m:r>
                      <a:rPr lang="en-US" sz="1800" i="1">
                        <a:latin typeface="Cambria Math" panose="02040503050406030204" pitchFamily="18" charset="0"/>
                        <a:ea typeface="Cambria Math" panose="02040503050406030204" pitchFamily="18" charset="0"/>
                        <a:cs typeface="Arial" panose="020B0604020202020204" pitchFamily="34" charset="0"/>
                      </a:rPr>
                      <m:t>)</m:t>
                    </m:r>
                  </m:oMath>
                </a14:m>
                <a:r>
                  <a:rPr lang="en-US" sz="1800" dirty="0">
                    <a:latin typeface="Arial" panose="020B0604020202020204" pitchFamily="34" charset="0"/>
                    <a:cs typeface="Arial" panose="020B0604020202020204" pitchFamily="34" charset="0"/>
                  </a:rPr>
                  <a:t>: </a:t>
                </a:r>
              </a:p>
              <a:p>
                <a:pPr lvl="1">
                  <a:buFont typeface="Wingdings" panose="05000000000000000000" pitchFamily="2" charset="2"/>
                  <a:buChar char="§"/>
                </a:pPr>
                <a14:m>
                  <m:oMath xmlns:m="http://schemas.openxmlformats.org/officeDocument/2006/math">
                    <m:r>
                      <a:rPr lang="en-US" sz="1800" b="0" i="1">
                        <a:latin typeface="Cambria Math" panose="02040503050406030204" pitchFamily="18" charset="0"/>
                        <a:cs typeface="Arial" panose="020B0604020202020204" pitchFamily="34" charset="0"/>
                      </a:rPr>
                      <m:t>𝑣</m:t>
                    </m:r>
                    <m:r>
                      <a:rPr lang="en-US" sz="1800" b="0" i="1">
                        <a:latin typeface="Cambria Math" panose="02040503050406030204" pitchFamily="18" charset="0"/>
                        <a:cs typeface="Arial" panose="020B0604020202020204" pitchFamily="34" charset="0"/>
                      </a:rPr>
                      <m:t>∝</m:t>
                    </m:r>
                    <m:f>
                      <m:fPr>
                        <m:type m:val="lin"/>
                        <m:ctrlPr>
                          <a:rPr lang="en-US" sz="1800" b="0" i="1">
                            <a:latin typeface="Cambria Math" panose="02040503050406030204" pitchFamily="18" charset="0"/>
                            <a:cs typeface="Arial" panose="020B0604020202020204" pitchFamily="34" charset="0"/>
                          </a:rPr>
                        </m:ctrlPr>
                      </m:fPr>
                      <m:num>
                        <m:r>
                          <a:rPr lang="en-US" sz="1800" b="0" i="1">
                            <a:latin typeface="Cambria Math" panose="02040503050406030204" pitchFamily="18" charset="0"/>
                            <a:cs typeface="Arial" panose="020B0604020202020204" pitchFamily="34" charset="0"/>
                          </a:rPr>
                          <m:t>𝐴</m:t>
                        </m:r>
                      </m:num>
                      <m:den>
                        <m:r>
                          <a:rPr lang="en-US" sz="1800" b="0" i="1">
                            <a:latin typeface="Cambria Math" panose="02040503050406030204" pitchFamily="18" charset="0"/>
                            <a:cs typeface="Arial" panose="020B0604020202020204" pitchFamily="34" charset="0"/>
                          </a:rPr>
                          <m:t>𝑚</m:t>
                        </m:r>
                      </m:den>
                    </m:f>
                    <m:r>
                      <a:rPr lang="en-US" sz="1800" b="0" i="0">
                        <a:latin typeface="Cambria Math" panose="02040503050406030204" pitchFamily="18" charset="0"/>
                        <a:cs typeface="Arial" panose="020B0604020202020204" pitchFamily="34" charset="0"/>
                      </a:rPr>
                      <m:t>;</m:t>
                    </m:r>
                  </m:oMath>
                </a14:m>
                <a:r>
                  <a:rPr lang="en-US" sz="1800" dirty="0">
                    <a:latin typeface="Arial" panose="020B0604020202020204" pitchFamily="34" charset="0"/>
                    <a:cs typeface="Arial" panose="020B0604020202020204" pitchFamily="34" charset="0"/>
                  </a:rPr>
                  <a:t> smaller </a:t>
                </a:r>
                <a14:m>
                  <m:oMath xmlns:m="http://schemas.openxmlformats.org/officeDocument/2006/math">
                    <m:sSub>
                      <m:sSubPr>
                        <m:ctrlPr>
                          <a:rPr lang="en-US" sz="1800" b="0" i="1">
                            <a:latin typeface="Cambria Math" panose="02040503050406030204" pitchFamily="18" charset="0"/>
                            <a:cs typeface="Arial" panose="020B0604020202020204" pitchFamily="34" charset="0"/>
                          </a:rPr>
                        </m:ctrlPr>
                      </m:sSubPr>
                      <m:e>
                        <m:r>
                          <a:rPr lang="en-US" sz="1800" b="0" i="1">
                            <a:latin typeface="Cambria Math" panose="02040503050406030204" pitchFamily="18" charset="0"/>
                            <a:cs typeface="Arial" panose="020B0604020202020204" pitchFamily="34" charset="0"/>
                          </a:rPr>
                          <m:t>𝐿</m:t>
                        </m:r>
                      </m:e>
                      <m:sub>
                        <m:r>
                          <m:rPr>
                            <m:sty m:val="p"/>
                          </m:rPr>
                          <a:rPr lang="en-US" sz="1800" b="0" i="0">
                            <a:latin typeface="Cambria Math" panose="02040503050406030204" pitchFamily="18" charset="0"/>
                            <a:cs typeface="Arial" panose="020B0604020202020204" pitchFamily="34" charset="0"/>
                          </a:rPr>
                          <m:t>c</m:t>
                        </m:r>
                      </m:sub>
                    </m:sSub>
                  </m:oMath>
                </a14:m>
                <a:r>
                  <a:rPr lang="en-US" sz="1800" dirty="0">
                    <a:latin typeface="Arial" panose="020B0604020202020204" pitchFamily="34" charset="0"/>
                    <a:cs typeface="Arial" panose="020B0604020202020204" pitchFamily="34" charset="0"/>
                  </a:rPr>
                  <a:t> implies higher </a:t>
                </a:r>
                <a14:m>
                  <m:oMath xmlns:m="http://schemas.openxmlformats.org/officeDocument/2006/math">
                    <m:f>
                      <m:fPr>
                        <m:type m:val="lin"/>
                        <m:ctrlPr>
                          <a:rPr lang="en-US" sz="1800" i="1">
                            <a:latin typeface="Cambria Math" panose="02040503050406030204" pitchFamily="18" charset="0"/>
                            <a:cs typeface="Arial" panose="020B0604020202020204" pitchFamily="34" charset="0"/>
                          </a:rPr>
                        </m:ctrlPr>
                      </m:fPr>
                      <m:num>
                        <m:r>
                          <a:rPr lang="en-US" sz="1800" i="1">
                            <a:latin typeface="Cambria Math" panose="02040503050406030204" pitchFamily="18" charset="0"/>
                            <a:cs typeface="Arial" panose="020B0604020202020204" pitchFamily="34" charset="0"/>
                          </a:rPr>
                          <m:t>𝐴</m:t>
                        </m:r>
                      </m:num>
                      <m:den>
                        <m:r>
                          <a:rPr lang="en-US" sz="1800" i="1">
                            <a:latin typeface="Cambria Math" panose="02040503050406030204" pitchFamily="18" charset="0"/>
                            <a:cs typeface="Arial" panose="020B0604020202020204" pitchFamily="34" charset="0"/>
                          </a:rPr>
                          <m:t>𝑚</m:t>
                        </m:r>
                      </m:den>
                    </m:f>
                    <m:r>
                      <a:rPr lang="en-US" sz="1800" i="1">
                        <a:latin typeface="Cambria Math" panose="02040503050406030204" pitchFamily="18" charset="0"/>
                        <a:cs typeface="Arial" panose="020B0604020202020204" pitchFamily="34" charset="0"/>
                      </a:rPr>
                      <m:t> </m:t>
                    </m:r>
                  </m:oMath>
                </a14:m>
                <a:r>
                  <a:rPr lang="en-US" sz="1800" dirty="0">
                    <a:latin typeface="Arial" panose="020B0604020202020204" pitchFamily="34" charset="0"/>
                    <a:cs typeface="Arial" panose="020B0604020202020204" pitchFamily="34" charset="0"/>
                  </a:rPr>
                  <a:t>and hence higher </a:t>
                </a:r>
                <a14:m>
                  <m:oMath xmlns:m="http://schemas.openxmlformats.org/officeDocument/2006/math">
                    <m:r>
                      <a:rPr lang="en-US" sz="1800" i="1">
                        <a:latin typeface="Cambria Math" panose="02040503050406030204" pitchFamily="18" charset="0"/>
                        <a:cs typeface="Arial" panose="020B0604020202020204" pitchFamily="34" charset="0"/>
                      </a:rPr>
                      <m:t>𝑣</m:t>
                    </m:r>
                  </m:oMath>
                </a14:m>
                <a:r>
                  <a:rPr lang="en-US" sz="1800" dirty="0">
                    <a:latin typeface="Arial" panose="020B0604020202020204" pitchFamily="34" charset="0"/>
                    <a:cs typeface="Arial" panose="020B0604020202020204" pitchFamily="34" charset="0"/>
                  </a:rPr>
                  <a:t>.</a:t>
                </a:r>
              </a:p>
              <a:p>
                <a:pPr lvl="1">
                  <a:buFont typeface="Wingdings" panose="05000000000000000000" pitchFamily="2" charset="2"/>
                  <a:buChar char="§"/>
                </a:pPr>
                <a14:m>
                  <m:oMath xmlns:m="http://schemas.openxmlformats.org/officeDocument/2006/math">
                    <m:r>
                      <a:rPr lang="en-US" sz="1800" b="0" i="1">
                        <a:latin typeface="Cambria Math" panose="02040503050406030204" pitchFamily="18" charset="0"/>
                        <a:cs typeface="Arial" panose="020B0604020202020204" pitchFamily="34" charset="0"/>
                      </a:rPr>
                      <m:t>𝜎</m:t>
                    </m:r>
                    <m:r>
                      <a:rPr lang="en-US" sz="1800" b="0" i="1">
                        <a:latin typeface="Cambria Math" panose="02040503050406030204" pitchFamily="18" charset="0"/>
                        <a:cs typeface="Arial" panose="020B0604020202020204" pitchFamily="34" charset="0"/>
                      </a:rPr>
                      <m:t>∝</m:t>
                    </m:r>
                    <m:r>
                      <a:rPr lang="en-US" sz="1800" b="0" i="1">
                        <a:latin typeface="Cambria Math" panose="02040503050406030204" pitchFamily="18" charset="0"/>
                        <a:cs typeface="Arial" panose="020B0604020202020204" pitchFamily="34" charset="0"/>
                      </a:rPr>
                      <m:t>𝑣</m:t>
                    </m:r>
                  </m:oMath>
                </a14:m>
                <a:r>
                  <a:rPr lang="en-US" sz="1800" dirty="0">
                    <a:latin typeface="Arial" panose="020B0604020202020204" pitchFamily="34" charset="0"/>
                    <a:cs typeface="Arial" panose="020B0604020202020204" pitchFamily="34" charset="0"/>
                  </a:rPr>
                  <a:t> and velocity is inversely related to </a:t>
                </a:r>
                <a14:m>
                  <m:oMath xmlns:m="http://schemas.openxmlformats.org/officeDocument/2006/math">
                    <m:sSub>
                      <m:sSubPr>
                        <m:ctrlPr>
                          <a:rPr lang="en-US" sz="1800" b="0" i="1">
                            <a:latin typeface="Cambria Math" panose="02040503050406030204" pitchFamily="18" charset="0"/>
                            <a:cs typeface="Arial" panose="020B0604020202020204" pitchFamily="34" charset="0"/>
                          </a:rPr>
                        </m:ctrlPr>
                      </m:sSubPr>
                      <m:e>
                        <m:r>
                          <a:rPr lang="en-US" sz="1800" b="0" i="1">
                            <a:latin typeface="Cambria Math" panose="02040503050406030204" pitchFamily="18" charset="0"/>
                            <a:cs typeface="Arial" panose="020B0604020202020204" pitchFamily="34" charset="0"/>
                          </a:rPr>
                          <m:t>𝐿</m:t>
                        </m:r>
                      </m:e>
                      <m:sub>
                        <m:r>
                          <m:rPr>
                            <m:sty m:val="p"/>
                          </m:rPr>
                          <a:rPr lang="en-US" sz="1800" b="0" i="0">
                            <a:latin typeface="Cambria Math" panose="02040503050406030204" pitchFamily="18" charset="0"/>
                            <a:cs typeface="Arial" panose="020B0604020202020204" pitchFamily="34" charset="0"/>
                          </a:rPr>
                          <m:t>c</m:t>
                        </m:r>
                      </m:sub>
                    </m:sSub>
                  </m:oMath>
                </a14:m>
                <a:r>
                  <a:rPr lang="en-US" sz="1800" dirty="0">
                    <a:latin typeface="Arial" panose="020B0604020202020204" pitchFamily="34" charset="0"/>
                    <a:cs typeface="Arial" panose="020B0604020202020204" pitchFamily="34" charset="0"/>
                  </a:rPr>
                  <a:t>:</a:t>
                </a:r>
              </a:p>
              <a:p>
                <a:pPr lvl="1">
                  <a:buFont typeface="Wingdings" panose="05000000000000000000" pitchFamily="2" charset="2"/>
                  <a:buChar char="§"/>
                </a:pPr>
                <a:endParaRPr lang="en-US" sz="100" dirty="0">
                  <a:latin typeface="Arial" panose="020B0604020202020204" pitchFamily="34" charset="0"/>
                  <a:cs typeface="Arial" panose="020B0604020202020204" pitchFamily="34" charset="0"/>
                </a:endParaRPr>
              </a:p>
              <a:p>
                <a:pPr marL="457200" lvl="1" indent="0">
                  <a:buNone/>
                </a:pPr>
                <a14:m>
                  <m:oMathPara xmlns:m="http://schemas.openxmlformats.org/officeDocument/2006/math">
                    <m:oMathParaPr>
                      <m:jc m:val="centerGroup"/>
                    </m:oMathParaPr>
                    <m:oMath xmlns:m="http://schemas.openxmlformats.org/officeDocument/2006/math">
                      <m:r>
                        <a:rPr lang="en-US" sz="1800" b="0" i="1">
                          <a:latin typeface="Cambria Math" panose="02040503050406030204" pitchFamily="18" charset="0"/>
                          <a:cs typeface="Arial" panose="020B0604020202020204" pitchFamily="34" charset="0"/>
                        </a:rPr>
                        <m:t>𝜎</m:t>
                      </m:r>
                      <m:d>
                        <m:dPr>
                          <m:ctrlPr>
                            <a:rPr lang="en-US" sz="1800" b="0" i="1">
                              <a:latin typeface="Cambria Math" panose="02040503050406030204" pitchFamily="18" charset="0"/>
                              <a:cs typeface="Arial" panose="020B0604020202020204" pitchFamily="34" charset="0"/>
                            </a:rPr>
                          </m:ctrlPr>
                        </m:dPr>
                        <m:e>
                          <m:sSub>
                            <m:sSubPr>
                              <m:ctrlPr>
                                <a:rPr lang="en-US" sz="1800" b="0" i="1">
                                  <a:latin typeface="Cambria Math" panose="02040503050406030204" pitchFamily="18" charset="0"/>
                                  <a:cs typeface="Arial" panose="020B0604020202020204" pitchFamily="34" charset="0"/>
                                </a:rPr>
                              </m:ctrlPr>
                            </m:sSubPr>
                            <m:e>
                              <m:r>
                                <a:rPr lang="en-US" sz="1800" b="0" i="1">
                                  <a:latin typeface="Cambria Math" panose="02040503050406030204" pitchFamily="18" charset="0"/>
                                  <a:cs typeface="Arial" panose="020B0604020202020204" pitchFamily="34" charset="0"/>
                                </a:rPr>
                                <m:t>𝐿</m:t>
                              </m:r>
                            </m:e>
                            <m:sub>
                              <m:r>
                                <m:rPr>
                                  <m:sty m:val="p"/>
                                </m:rPr>
                                <a:rPr lang="en-US" sz="1800" b="0" i="0">
                                  <a:latin typeface="Cambria Math" panose="02040503050406030204" pitchFamily="18" charset="0"/>
                                  <a:cs typeface="Arial" panose="020B0604020202020204" pitchFamily="34" charset="0"/>
                                </a:rPr>
                                <m:t>c</m:t>
                              </m:r>
                            </m:sub>
                          </m:sSub>
                        </m:e>
                      </m:d>
                      <m:r>
                        <a:rPr lang="en-US" sz="1800" b="0" i="1">
                          <a:latin typeface="Cambria Math" panose="02040503050406030204" pitchFamily="18" charset="0"/>
                          <a:cs typeface="Arial" panose="020B0604020202020204" pitchFamily="34" charset="0"/>
                        </a:rPr>
                        <m:t>≃</m:t>
                      </m:r>
                      <m:sSub>
                        <m:sSubPr>
                          <m:ctrlPr>
                            <a:rPr lang="en-US" sz="1800" b="0" i="1">
                              <a:latin typeface="Cambria Math" panose="02040503050406030204" pitchFamily="18" charset="0"/>
                              <a:cs typeface="Arial" panose="020B0604020202020204" pitchFamily="34" charset="0"/>
                            </a:rPr>
                          </m:ctrlPr>
                        </m:sSubPr>
                        <m:e>
                          <m:r>
                            <a:rPr lang="en-US" sz="1800" b="0" i="1">
                              <a:latin typeface="Cambria Math" panose="02040503050406030204" pitchFamily="18" charset="0"/>
                              <a:cs typeface="Arial" panose="020B0604020202020204" pitchFamily="34" charset="0"/>
                            </a:rPr>
                            <m:t>𝜎</m:t>
                          </m:r>
                        </m:e>
                        <m:sub>
                          <m:r>
                            <a:rPr lang="en-US" sz="1800" b="0" i="1">
                              <a:latin typeface="Cambria Math" panose="02040503050406030204" pitchFamily="18" charset="0"/>
                              <a:cs typeface="Arial" panose="020B0604020202020204" pitchFamily="34" charset="0"/>
                            </a:rPr>
                            <m:t>0</m:t>
                          </m:r>
                        </m:sub>
                      </m:sSub>
                      <m:r>
                        <a:rPr lang="en-US" sz="1800" b="0" i="1">
                          <a:latin typeface="Cambria Math" panose="02040503050406030204" pitchFamily="18" charset="0"/>
                          <a:cs typeface="Arial" panose="020B0604020202020204" pitchFamily="34" charset="0"/>
                        </a:rPr>
                        <m:t>⋅</m:t>
                      </m:r>
                      <m:sSubSup>
                        <m:sSubSupPr>
                          <m:ctrlPr>
                            <a:rPr lang="en-US" sz="1800" b="0" i="1">
                              <a:latin typeface="Cambria Math" panose="02040503050406030204" pitchFamily="18" charset="0"/>
                              <a:cs typeface="Arial" panose="020B0604020202020204" pitchFamily="34" charset="0"/>
                            </a:rPr>
                          </m:ctrlPr>
                        </m:sSubSupPr>
                        <m:e>
                          <m:r>
                            <a:rPr lang="en-US" sz="1800" b="0" i="1">
                              <a:latin typeface="Cambria Math" panose="02040503050406030204" pitchFamily="18" charset="0"/>
                              <a:cs typeface="Arial" panose="020B0604020202020204" pitchFamily="34" charset="0"/>
                            </a:rPr>
                            <m:t>𝐿</m:t>
                          </m:r>
                        </m:e>
                        <m:sub>
                          <m:r>
                            <m:rPr>
                              <m:sty m:val="p"/>
                            </m:rPr>
                            <a:rPr lang="en-US" sz="1800" b="0" i="0">
                              <a:latin typeface="Cambria Math" panose="02040503050406030204" pitchFamily="18" charset="0"/>
                              <a:cs typeface="Arial" panose="020B0604020202020204" pitchFamily="34" charset="0"/>
                            </a:rPr>
                            <m:t>c</m:t>
                          </m:r>
                        </m:sub>
                        <m:sup>
                          <m:r>
                            <a:rPr lang="en-US" sz="1800" b="0" i="1">
                              <a:latin typeface="Cambria Math" panose="02040503050406030204" pitchFamily="18" charset="0"/>
                              <a:cs typeface="Arial" panose="020B0604020202020204" pitchFamily="34" charset="0"/>
                            </a:rPr>
                            <m:t>−</m:t>
                          </m:r>
                          <m:r>
                            <a:rPr lang="en-US" sz="1800" b="0" i="1">
                              <a:latin typeface="Cambria Math" panose="02040503050406030204" pitchFamily="18" charset="0"/>
                              <a:cs typeface="Arial" panose="020B0604020202020204" pitchFamily="34" charset="0"/>
                            </a:rPr>
                            <m:t>𝛼</m:t>
                          </m:r>
                        </m:sup>
                      </m:sSubSup>
                    </m:oMath>
                  </m:oMathPara>
                </a14:m>
                <a:endParaRPr lang="en-US" sz="1800" b="0" dirty="0">
                  <a:latin typeface="Arial" panose="020B0604020202020204" pitchFamily="34" charset="0"/>
                  <a:cs typeface="Arial" panose="020B0604020202020204" pitchFamily="34" charset="0"/>
                </a:endParaRPr>
              </a:p>
              <a:p>
                <a:pPr marL="457200" lvl="1" indent="0">
                  <a:buNone/>
                </a:pPr>
                <a:r>
                  <a:rPr lang="en-US" sz="16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where </a:t>
                </a:r>
                <a14:m>
                  <m:oMath xmlns:m="http://schemas.openxmlformats.org/officeDocument/2006/math">
                    <m:sSub>
                      <m:sSubPr>
                        <m:ctrlPr>
                          <a:rPr lang="en-US" sz="1800" b="0" i="1">
                            <a:latin typeface="Cambria Math" panose="02040503050406030204" pitchFamily="18" charset="0"/>
                            <a:cs typeface="Arial" panose="020B0604020202020204" pitchFamily="34" charset="0"/>
                          </a:rPr>
                        </m:ctrlPr>
                      </m:sSubPr>
                      <m:e>
                        <m:r>
                          <a:rPr lang="en-US" sz="1800" b="0" i="1">
                            <a:latin typeface="Cambria Math" panose="02040503050406030204" pitchFamily="18" charset="0"/>
                            <a:cs typeface="Arial" panose="020B0604020202020204" pitchFamily="34" charset="0"/>
                          </a:rPr>
                          <m:t>𝜎</m:t>
                        </m:r>
                      </m:e>
                      <m:sub>
                        <m:r>
                          <a:rPr lang="en-US" sz="1800" b="0" i="1">
                            <a:latin typeface="Cambria Math" panose="02040503050406030204" pitchFamily="18" charset="0"/>
                            <a:cs typeface="Arial" panose="020B0604020202020204" pitchFamily="34" charset="0"/>
                          </a:rPr>
                          <m:t>0</m:t>
                        </m:r>
                      </m:sub>
                    </m:sSub>
                  </m:oMath>
                </a14:m>
                <a:r>
                  <a:rPr lang="en-US" sz="1800" dirty="0">
                    <a:latin typeface="Arial" panose="020B0604020202020204" pitchFamily="34" charset="0"/>
                    <a:cs typeface="Arial" panose="020B0604020202020204" pitchFamily="34" charset="0"/>
                  </a:rPr>
                  <a:t> and </a:t>
                </a:r>
                <a14:m>
                  <m:oMath xmlns:m="http://schemas.openxmlformats.org/officeDocument/2006/math">
                    <m:r>
                      <a:rPr lang="en-US" sz="1800" b="0" i="1">
                        <a:latin typeface="Cambria Math" panose="02040503050406030204" pitchFamily="18" charset="0"/>
                        <a:cs typeface="Arial" panose="020B0604020202020204" pitchFamily="34" charset="0"/>
                      </a:rPr>
                      <m:t>𝛼</m:t>
                    </m:r>
                  </m:oMath>
                </a14:m>
                <a:r>
                  <a:rPr lang="en-US" sz="1800" dirty="0">
                    <a:latin typeface="Arial" panose="020B0604020202020204" pitchFamily="34" charset="0"/>
                    <a:cs typeface="Arial" panose="020B0604020202020204" pitchFamily="34" charset="0"/>
                  </a:rPr>
                  <a:t> are observable constants.</a:t>
                </a:r>
              </a:p>
              <a:p>
                <a:pPr marL="457200" lvl="1" indent="0">
                  <a:buNone/>
                </a:pPr>
                <a:endParaRPr lang="en-US" sz="16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E16AEE56-B477-CB2D-8240-E495CC1D673A}"/>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2"/>
                <a:stretch>
                  <a:fillRect l="-37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0D61712-6BC7-F375-9BC2-A7882C8908B8}"/>
              </a:ext>
            </a:extLst>
          </p:cNvPr>
          <p:cNvSpPr>
            <a:spLocks noGrp="1"/>
          </p:cNvSpPr>
          <p:nvPr>
            <p:ph type="sldNum" sz="quarter" idx="12"/>
          </p:nvPr>
        </p:nvSpPr>
        <p:spPr>
          <a:xfrm>
            <a:off x="11704320" y="6455431"/>
            <a:ext cx="445913" cy="365125"/>
          </a:xfrm>
        </p:spPr>
        <p:txBody>
          <a:bodyPr>
            <a:normAutofit/>
          </a:bodyPr>
          <a:lstStyle/>
          <a:p>
            <a:pPr>
              <a:spcAft>
                <a:spcPts val="600"/>
              </a:spcAft>
            </a:pPr>
            <a:fld id="{FFA44557-6723-474F-8BC8-E80F4E6DF2E8}" type="slidenum">
              <a:rPr lang="en-US" sz="1100" smtClean="0">
                <a:solidFill>
                  <a:schemeClr val="tx1">
                    <a:lumMod val="50000"/>
                    <a:lumOff val="50000"/>
                  </a:schemeClr>
                </a:solidFill>
              </a:rPr>
              <a:pPr>
                <a:spcAft>
                  <a:spcPts val="600"/>
                </a:spcAft>
              </a:pPr>
              <a:t>16</a:t>
            </a:fld>
            <a:endParaRPr lang="en-US" sz="1100">
              <a:solidFill>
                <a:schemeClr val="tx1">
                  <a:lumMod val="50000"/>
                  <a:lumOff val="50000"/>
                </a:schemeClr>
              </a:solidFill>
            </a:endParaRPr>
          </a:p>
        </p:txBody>
      </p:sp>
    </p:spTree>
    <p:extLst>
      <p:ext uri="{BB962C8B-B14F-4D97-AF65-F5344CB8AC3E}">
        <p14:creationId xmlns:p14="http://schemas.microsoft.com/office/powerpoint/2010/main" val="1956149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7F36755-182B-CA65-D72C-54E9871AD8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ED45D2-8C05-FF36-332C-44FADB3D6956}"/>
              </a:ext>
            </a:extLst>
          </p:cNvPr>
          <p:cNvSpPr>
            <a:spLocks noGrp="1"/>
          </p:cNvSpPr>
          <p:nvPr>
            <p:ph type="title"/>
          </p:nvPr>
        </p:nvSpPr>
        <p:spPr>
          <a:xfrm>
            <a:off x="0" y="2588455"/>
            <a:ext cx="12192000" cy="1681090"/>
          </a:xfrm>
        </p:spPr>
        <p:txBody>
          <a:bodyPr>
            <a:noAutofit/>
          </a:bodyPr>
          <a:lstStyle/>
          <a:p>
            <a:pPr algn="ctr"/>
            <a:r>
              <a:rPr lang="en-US" b="0" dirty="0">
                <a:solidFill>
                  <a:schemeClr val="bg1"/>
                </a:solidFill>
                <a:effectLst/>
                <a:latin typeface="Arial Bold" panose="020B0704020202020204" pitchFamily="34" charset="0"/>
                <a:cs typeface="Arial Bold" panose="020B0704020202020204" pitchFamily="34" charset="0"/>
              </a:rPr>
              <a:t>III.   Time Evolution of Debris Cloud</a:t>
            </a:r>
            <a:br>
              <a:rPr lang="en-US" b="0" dirty="0">
                <a:solidFill>
                  <a:schemeClr val="bg1"/>
                </a:solidFill>
                <a:effectLst/>
                <a:latin typeface="Arial" panose="020B0604020202020204" pitchFamily="34" charset="0"/>
              </a:rPr>
            </a:br>
            <a:endParaRPr lang="en-US" dirty="0">
              <a:solidFill>
                <a:schemeClr val="bg1"/>
              </a:solidFill>
              <a:latin typeface="Arial Bold" panose="020B0704020202020204" pitchFamily="34" charset="0"/>
              <a:cs typeface="Arial Bold" panose="020B0704020202020204" pitchFamily="34" charset="0"/>
            </a:endParaRPr>
          </a:p>
        </p:txBody>
      </p:sp>
      <p:sp>
        <p:nvSpPr>
          <p:cNvPr id="2" name="Slide Number Placeholder 1">
            <a:extLst>
              <a:ext uri="{FF2B5EF4-FFF2-40B4-BE49-F238E27FC236}">
                <a16:creationId xmlns:a16="http://schemas.microsoft.com/office/drawing/2014/main" id="{117E6B75-05D8-024A-1B77-F61DB0FB7179}"/>
              </a:ext>
            </a:extLst>
          </p:cNvPr>
          <p:cNvSpPr>
            <a:spLocks noGrp="1"/>
          </p:cNvSpPr>
          <p:nvPr>
            <p:ph type="sldNum" sz="quarter" idx="12"/>
          </p:nvPr>
        </p:nvSpPr>
        <p:spPr/>
        <p:txBody>
          <a:bodyPr/>
          <a:lstStyle/>
          <a:p>
            <a:fld id="{FFA44557-6723-474F-8BC8-E80F4E6DF2E8}" type="slidenum">
              <a:rPr lang="en-US" smtClean="0"/>
              <a:t>17</a:t>
            </a:fld>
            <a:endParaRPr lang="en-US"/>
          </a:p>
        </p:txBody>
      </p:sp>
    </p:spTree>
    <p:extLst>
      <p:ext uri="{BB962C8B-B14F-4D97-AF65-F5344CB8AC3E}">
        <p14:creationId xmlns:p14="http://schemas.microsoft.com/office/powerpoint/2010/main" val="1973039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896C02-20D5-42FB-48D7-C533D04C379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92D821-F0FE-E03F-A637-2A9CF1B212E8}"/>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latin typeface="Arial Bold" panose="020B0704020202020204" pitchFamily="34" charset="0"/>
                <a:cs typeface="Arial Bold" panose="020B0704020202020204" pitchFamily="34" charset="0"/>
              </a:rPr>
              <a:t>Transition from Sphere</a:t>
            </a:r>
          </a:p>
        </p:txBody>
      </p:sp>
      <p:sp>
        <p:nvSpPr>
          <p:cNvPr id="11" name="Rectangle 10">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7E8A3A-FDBF-3969-E7B9-133275AF4506}"/>
                  </a:ext>
                </a:extLst>
              </p:cNvPr>
              <p:cNvSpPr>
                <a:spLocks noGrp="1"/>
              </p:cNvSpPr>
              <p:nvPr>
                <p:ph idx="1"/>
              </p:nvPr>
            </p:nvSpPr>
            <p:spPr>
              <a:xfrm>
                <a:off x="1155548" y="2217343"/>
                <a:ext cx="9880893" cy="3959619"/>
              </a:xfrm>
            </p:spPr>
            <p:txBody>
              <a:bodyPr>
                <a:normAutofit/>
              </a:bodyPr>
              <a:lstStyle/>
              <a:p>
                <a:pPr marL="0" indent="0">
                  <a:buNone/>
                </a:pPr>
                <a:endParaRPr lang="en-US" sz="2400" b="0" i="0" dirty="0">
                  <a:latin typeface="Cambria Math" panose="02040503050406030204" pitchFamily="18"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m:rPr>
                          <m:sty m:val="p"/>
                        </m:rPr>
                        <a:rPr lang="en-US" sz="2400" b="0" i="0">
                          <a:latin typeface="Cambria Math" panose="02040503050406030204" pitchFamily="18" charset="0"/>
                          <a:cs typeface="Arial" panose="020B0604020202020204" pitchFamily="34" charset="0"/>
                        </a:rPr>
                        <m:t>Spherical</m:t>
                      </m:r>
                      <m:r>
                        <a:rPr lang="en-US" sz="2400" i="1">
                          <a:latin typeface="Cambria Math" panose="02040503050406030204" pitchFamily="18" charset="0"/>
                          <a:ea typeface="Cambria Math" panose="02040503050406030204" pitchFamily="18" charset="0"/>
                          <a:cs typeface="Arial" panose="020B0604020202020204" pitchFamily="34" charset="0"/>
                        </a:rPr>
                        <m:t>⟶</m:t>
                      </m:r>
                      <m:r>
                        <m:rPr>
                          <m:sty m:val="p"/>
                        </m:rPr>
                        <a:rPr lang="en-US" sz="2400" i="0">
                          <a:latin typeface="Cambria Math" panose="02040503050406030204" pitchFamily="18" charset="0"/>
                          <a:ea typeface="Cambria Math" panose="02040503050406030204" pitchFamily="18" charset="0"/>
                          <a:cs typeface="Arial" panose="020B0604020202020204" pitchFamily="34" charset="0"/>
                        </a:rPr>
                        <m:t>Ellipsoidal</m:t>
                      </m:r>
                      <m:r>
                        <a:rPr lang="en-US" sz="2400" i="1">
                          <a:latin typeface="Cambria Math" panose="02040503050406030204" pitchFamily="18" charset="0"/>
                          <a:ea typeface="Cambria Math" panose="02040503050406030204" pitchFamily="18" charset="0"/>
                          <a:cs typeface="Arial" panose="020B0604020202020204" pitchFamily="34" charset="0"/>
                        </a:rPr>
                        <m:t>⟶</m:t>
                      </m:r>
                      <m:r>
                        <m:rPr>
                          <m:sty m:val="p"/>
                        </m:rPr>
                        <a:rPr lang="en-US" sz="2400" i="0">
                          <a:latin typeface="Cambria Math" panose="02040503050406030204" pitchFamily="18" charset="0"/>
                          <a:ea typeface="Cambria Math" panose="02040503050406030204" pitchFamily="18" charset="0"/>
                          <a:cs typeface="Arial" panose="020B0604020202020204" pitchFamily="34" charset="0"/>
                        </a:rPr>
                        <m:t>Toroidal</m:t>
                      </m:r>
                      <m:r>
                        <a:rPr lang="en-US" sz="2400" i="1">
                          <a:latin typeface="Cambria Math" panose="02040503050406030204" pitchFamily="18" charset="0"/>
                          <a:ea typeface="Cambria Math" panose="02040503050406030204" pitchFamily="18" charset="0"/>
                          <a:cs typeface="Arial" panose="020B0604020202020204" pitchFamily="34" charset="0"/>
                        </a:rPr>
                        <m:t>⟶</m:t>
                      </m:r>
                      <m:r>
                        <m:rPr>
                          <m:sty m:val="p"/>
                        </m:rPr>
                        <a:rPr lang="en-US" sz="2400" b="0" i="0">
                          <a:latin typeface="Cambria Math" panose="02040503050406030204" pitchFamily="18" charset="0"/>
                          <a:ea typeface="Cambria Math" panose="02040503050406030204" pitchFamily="18" charset="0"/>
                          <a:cs typeface="Arial" panose="020B0604020202020204" pitchFamily="34" charset="0"/>
                        </a:rPr>
                        <m:t>Shell</m:t>
                      </m:r>
                    </m:oMath>
                  </m:oMathPara>
                </a14:m>
                <a:endParaRPr lang="en-US" sz="2400" dirty="0">
                  <a:latin typeface="Arial" panose="020B0604020202020204" pitchFamily="34" charset="0"/>
                  <a:cs typeface="Arial" panose="020B0604020202020204" pitchFamily="34" charset="0"/>
                </a:endParaRPr>
              </a:p>
              <a:p>
                <a:endParaRPr lang="en-US" sz="48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The cloud radius evolves with time.</a:t>
                </a:r>
              </a:p>
              <a:p>
                <a:endParaRPr lang="en-US" sz="12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For short time periods (</a:t>
                </a:r>
                <a14:m>
                  <m:oMath xmlns:m="http://schemas.openxmlformats.org/officeDocument/2006/math">
                    <m:r>
                      <m:rPr>
                        <m:sty m:val="p"/>
                      </m:rPr>
                      <a:rPr lang="en-US" sz="2400" b="0" i="0">
                        <a:latin typeface="Cambria Math" panose="02040503050406030204" pitchFamily="18" charset="0"/>
                        <a:ea typeface="Cambria Math" panose="02040503050406030204" pitchFamily="18" charset="0"/>
                        <a:cs typeface="Arial" panose="020B0604020202020204" pitchFamily="34" charset="0"/>
                      </a:rPr>
                      <m:t>t</m:t>
                    </m:r>
                    <m:r>
                      <a:rPr lang="en-US" sz="2400" b="0" i="1">
                        <a:latin typeface="Cambria Math" panose="02040503050406030204" pitchFamily="18" charset="0"/>
                        <a:ea typeface="Cambria Math" panose="02040503050406030204" pitchFamily="18" charset="0"/>
                        <a:cs typeface="Arial" panose="020B0604020202020204" pitchFamily="34" charset="0"/>
                      </a:rPr>
                      <m:t>≤120 </m:t>
                    </m:r>
                    <m:r>
                      <m:rPr>
                        <m:sty m:val="p"/>
                      </m:rPr>
                      <a:rPr lang="en-US" sz="2400" b="0" i="0">
                        <a:latin typeface="Cambria Math" panose="02040503050406030204" pitchFamily="18" charset="0"/>
                        <a:ea typeface="Cambria Math" panose="02040503050406030204" pitchFamily="18" charset="0"/>
                        <a:cs typeface="Arial" panose="020B0604020202020204" pitchFamily="34" charset="0"/>
                      </a:rPr>
                      <m:t>s</m:t>
                    </m:r>
                  </m:oMath>
                </a14:m>
                <a:r>
                  <a:rPr lang="en-US" sz="2400" dirty="0">
                    <a:latin typeface="Arial" panose="020B0604020202020204" pitchFamily="34" charset="0"/>
                    <a:cs typeface="Arial" panose="020B0604020202020204" pitchFamily="34" charset="0"/>
                  </a:rPr>
                  <a:t>), this expansion is linear:</a:t>
                </a:r>
              </a:p>
              <a:p>
                <a:endParaRPr lang="en-US" sz="100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𝑅</m:t>
                          </m:r>
                        </m:e>
                        <m:sub>
                          <m:r>
                            <m:rPr>
                              <m:sty m:val="p"/>
                            </m:rPr>
                            <a:rPr lang="en-US" sz="2400" b="0" i="0">
                              <a:latin typeface="Cambria Math" panose="02040503050406030204" pitchFamily="18" charset="0"/>
                              <a:cs typeface="Arial" panose="020B0604020202020204" pitchFamily="34" charset="0"/>
                            </a:rPr>
                            <m:t>c</m:t>
                          </m:r>
                        </m:sub>
                      </m:sSub>
                      <m:d>
                        <m:dPr>
                          <m:ctrlPr>
                            <a:rPr lang="en-US" sz="2400" b="0" i="1">
                              <a:latin typeface="Cambria Math" panose="02040503050406030204" pitchFamily="18" charset="0"/>
                              <a:cs typeface="Arial" panose="020B0604020202020204" pitchFamily="34" charset="0"/>
                            </a:rPr>
                          </m:ctrlPr>
                        </m:dPr>
                        <m:e>
                          <m:r>
                            <a:rPr lang="en-US" sz="2400" b="0" i="1">
                              <a:latin typeface="Cambria Math" panose="02040503050406030204" pitchFamily="18" charset="0"/>
                              <a:cs typeface="Arial" panose="020B0604020202020204" pitchFamily="34" charset="0"/>
                            </a:rPr>
                            <m:t>𝑡</m:t>
                          </m:r>
                        </m:e>
                      </m:d>
                      <m:r>
                        <a:rPr lang="en-US" sz="2400" b="0" i="1">
                          <a:latin typeface="Cambria Math" panose="02040503050406030204" pitchFamily="18" charset="0"/>
                          <a:cs typeface="Arial" panose="020B0604020202020204" pitchFamily="34" charset="0"/>
                        </a:rPr>
                        <m:t>=</m:t>
                      </m:r>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𝑅</m:t>
                          </m:r>
                        </m:e>
                        <m:sub>
                          <m:r>
                            <m:rPr>
                              <m:sty m:val="p"/>
                            </m:rPr>
                            <a:rPr lang="en-US" sz="2400" b="0" i="0">
                              <a:latin typeface="Cambria Math" panose="02040503050406030204" pitchFamily="18" charset="0"/>
                              <a:cs typeface="Arial" panose="020B0604020202020204" pitchFamily="34" charset="0"/>
                            </a:rPr>
                            <m:t>c</m:t>
                          </m:r>
                        </m:sub>
                      </m:sSub>
                      <m:d>
                        <m:dPr>
                          <m:ctrlPr>
                            <a:rPr lang="en-US" sz="2400" b="0" i="1">
                              <a:latin typeface="Cambria Math" panose="02040503050406030204" pitchFamily="18" charset="0"/>
                              <a:cs typeface="Arial" panose="020B0604020202020204" pitchFamily="34" charset="0"/>
                            </a:rPr>
                          </m:ctrlPr>
                        </m:dPr>
                        <m:e>
                          <m:r>
                            <a:rPr lang="en-US" sz="2400" b="0" i="1">
                              <a:latin typeface="Cambria Math" panose="02040503050406030204" pitchFamily="18" charset="0"/>
                              <a:cs typeface="Arial" panose="020B0604020202020204" pitchFamily="34" charset="0"/>
                            </a:rPr>
                            <m:t>0</m:t>
                          </m:r>
                        </m:e>
                      </m:d>
                      <m:r>
                        <a:rPr lang="en-US" sz="2400" b="0" i="1">
                          <a:latin typeface="Cambria Math" panose="02040503050406030204" pitchFamily="18" charset="0"/>
                          <a:cs typeface="Arial" panose="020B0604020202020204" pitchFamily="34" charset="0"/>
                        </a:rPr>
                        <m:t>+</m:t>
                      </m:r>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𝑣</m:t>
                          </m:r>
                        </m:e>
                        <m:sub>
                          <m:r>
                            <m:rPr>
                              <m:sty m:val="p"/>
                            </m:rPr>
                            <a:rPr lang="en-US" sz="2400" b="0" i="0">
                              <a:latin typeface="Cambria Math" panose="02040503050406030204" pitchFamily="18" charset="0"/>
                              <a:cs typeface="Arial" panose="020B0604020202020204" pitchFamily="34" charset="0"/>
                            </a:rPr>
                            <m:t>expansion</m:t>
                          </m:r>
                        </m:sub>
                      </m:sSub>
                      <m:r>
                        <a:rPr lang="en-US" sz="2400" b="0" i="1">
                          <a:latin typeface="Cambria Math" panose="02040503050406030204" pitchFamily="18" charset="0"/>
                          <a:cs typeface="Arial" panose="020B0604020202020204" pitchFamily="34" charset="0"/>
                        </a:rPr>
                        <m:t>⋅</m:t>
                      </m:r>
                      <m:r>
                        <a:rPr lang="en-US" sz="2400" b="0" i="1">
                          <a:latin typeface="Cambria Math" panose="02040503050406030204" pitchFamily="18" charset="0"/>
                          <a:cs typeface="Arial" panose="020B0604020202020204" pitchFamily="34" charset="0"/>
                        </a:rPr>
                        <m:t>𝑡</m:t>
                      </m:r>
                    </m:oMath>
                  </m:oMathPara>
                </a14:m>
                <a:endParaRPr lang="en-US" sz="24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pPr marL="0" indent="0">
                  <a:buNone/>
                </a:pPr>
                <a:endParaRPr lang="en-US" sz="2400" baseline="-25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5B7E8A3A-FDBF-3969-E7B9-133275AF4506}"/>
                  </a:ext>
                </a:extLst>
              </p:cNvPr>
              <p:cNvSpPr>
                <a:spLocks noGrp="1" noRot="1" noChangeAspect="1" noMove="1" noResize="1" noEditPoints="1" noAdjustHandles="1" noChangeArrowheads="1" noChangeShapeType="1" noTextEdit="1"/>
              </p:cNvSpPr>
              <p:nvPr>
                <p:ph idx="1"/>
              </p:nvPr>
            </p:nvSpPr>
            <p:spPr>
              <a:xfrm>
                <a:off x="1155548" y="2217343"/>
                <a:ext cx="9880893" cy="3959619"/>
              </a:xfrm>
              <a:blipFill>
                <a:blip r:embed="rId2"/>
                <a:stretch>
                  <a:fillRect l="-864"/>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271FB886-7E87-0A4F-6B7C-EE818EE3876E}"/>
              </a:ext>
            </a:extLst>
          </p:cNvPr>
          <p:cNvSpPr>
            <a:spLocks noGrp="1"/>
          </p:cNvSpPr>
          <p:nvPr>
            <p:ph type="sldNum" sz="quarter" idx="12"/>
          </p:nvPr>
        </p:nvSpPr>
        <p:spPr/>
        <p:txBody>
          <a:bodyPr/>
          <a:lstStyle/>
          <a:p>
            <a:fld id="{FFA44557-6723-474F-8BC8-E80F4E6DF2E8}" type="slidenum">
              <a:rPr lang="en-US" smtClean="0"/>
              <a:t>18</a:t>
            </a:fld>
            <a:endParaRPr lang="en-US"/>
          </a:p>
        </p:txBody>
      </p:sp>
    </p:spTree>
    <p:extLst>
      <p:ext uri="{BB962C8B-B14F-4D97-AF65-F5344CB8AC3E}">
        <p14:creationId xmlns:p14="http://schemas.microsoft.com/office/powerpoint/2010/main" val="2778482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203A80-DD0B-8091-41C3-D8603A6B9E4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2" name="Rectangle 11">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4E0E405-02A0-B1E7-4E16-9EC6B276E242}"/>
                  </a:ext>
                </a:extLst>
              </p:cNvPr>
              <p:cNvSpPr>
                <a:spLocks noGrp="1"/>
              </p:cNvSpPr>
              <p:nvPr>
                <p:ph type="title"/>
              </p:nvPr>
            </p:nvSpPr>
            <p:spPr>
              <a:xfrm>
                <a:off x="1153618" y="1088390"/>
                <a:ext cx="4008586" cy="4680583"/>
              </a:xfrm>
            </p:spPr>
            <p:txBody>
              <a:bodyPr anchor="ctr">
                <a:normAutofit/>
              </a:bodyPr>
              <a:lstStyle/>
              <a:p>
                <a:r>
                  <a:rPr lang="en-US" sz="5200" dirty="0">
                    <a:latin typeface="Arial Bold" panose="020B0704020202020204" pitchFamily="34" charset="0"/>
                    <a:cs typeface="Arial Bold" panose="020B0704020202020204" pitchFamily="34" charset="0"/>
                  </a:rPr>
                  <a:t>Temporal Evolution of </a:t>
                </a:r>
                <a14:m>
                  <m:oMath xmlns:m="http://schemas.openxmlformats.org/officeDocument/2006/math">
                    <m:sSub>
                      <m:sSubPr>
                        <m:ctrlPr>
                          <a:rPr lang="en-US" sz="5200" b="1" i="1">
                            <a:latin typeface="Cambria Math" panose="02040503050406030204" pitchFamily="18" charset="0"/>
                            <a:cs typeface="Arial Bold" panose="020B0704020202020204" pitchFamily="34" charset="0"/>
                          </a:rPr>
                        </m:ctrlPr>
                      </m:sSubPr>
                      <m:e>
                        <m:r>
                          <a:rPr lang="en-US" sz="5200" b="1" i="1">
                            <a:latin typeface="Cambria Math" panose="02040503050406030204" pitchFamily="18" charset="0"/>
                            <a:cs typeface="Arial Bold" panose="020B0704020202020204" pitchFamily="34" charset="0"/>
                          </a:rPr>
                          <m:t>𝝆</m:t>
                        </m:r>
                      </m:e>
                      <m:sub>
                        <m:r>
                          <a:rPr lang="en-US" sz="5200" b="1" i="1">
                            <a:latin typeface="Cambria Math" panose="02040503050406030204" pitchFamily="18" charset="0"/>
                            <a:cs typeface="Arial Bold" panose="020B0704020202020204" pitchFamily="34" charset="0"/>
                          </a:rPr>
                          <m:t>𝟎</m:t>
                        </m:r>
                      </m:sub>
                    </m:sSub>
                  </m:oMath>
                </a14:m>
                <a:r>
                  <a:rPr lang="en-US" sz="5200" b="1" dirty="0">
                    <a:latin typeface="Arial Bold" panose="020B0704020202020204" pitchFamily="34" charset="0"/>
                    <a:cs typeface="Arial Bold" panose="020B0704020202020204" pitchFamily="34" charset="0"/>
                  </a:rPr>
                  <a:t> </a:t>
                </a:r>
              </a:p>
            </p:txBody>
          </p:sp>
        </mc:Choice>
        <mc:Fallback xmlns="">
          <p:sp>
            <p:nvSpPr>
              <p:cNvPr id="2" name="Title 1">
                <a:extLst>
                  <a:ext uri="{FF2B5EF4-FFF2-40B4-BE49-F238E27FC236}">
                    <a16:creationId xmlns:a16="http://schemas.microsoft.com/office/drawing/2014/main" id="{F4E0E405-02A0-B1E7-4E16-9EC6B276E242}"/>
                  </a:ext>
                </a:extLst>
              </p:cNvPr>
              <p:cNvSpPr>
                <a:spLocks noGrp="1" noRot="1" noChangeAspect="1" noMove="1" noResize="1" noEditPoints="1" noAdjustHandles="1" noChangeArrowheads="1" noChangeShapeType="1" noTextEdit="1"/>
              </p:cNvSpPr>
              <p:nvPr>
                <p:ph type="title"/>
              </p:nvPr>
            </p:nvSpPr>
            <p:spPr>
              <a:xfrm>
                <a:off x="1153618" y="1088390"/>
                <a:ext cx="4008586" cy="4680583"/>
              </a:xfrm>
              <a:blipFill>
                <a:blip r:embed="rId2"/>
                <a:stretch>
                  <a:fillRect l="-7599" r="-120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7D5DC2-CFAD-D731-4E08-9D0C57A395E5}"/>
                  </a:ext>
                </a:extLst>
              </p:cNvPr>
              <p:cNvSpPr>
                <a:spLocks noGrp="1"/>
              </p:cNvSpPr>
              <p:nvPr>
                <p:ph idx="1"/>
              </p:nvPr>
            </p:nvSpPr>
            <p:spPr>
              <a:xfrm>
                <a:off x="6291923" y="1167677"/>
                <a:ext cx="4971824" cy="4680583"/>
              </a:xfrm>
            </p:spPr>
            <p:txBody>
              <a:bodyPr anchor="ctr">
                <a:normAutofit/>
              </a:bodyPr>
              <a:lstStyle/>
              <a:p>
                <a:endParaRPr lang="en-US" sz="2000" dirty="0">
                  <a:latin typeface="Arial" panose="020B0604020202020204" pitchFamily="34" charset="0"/>
                  <a:cs typeface="Arial" panose="020B0604020202020204" pitchFamily="34" charset="0"/>
                </a:endParaRPr>
              </a:p>
              <a:p>
                <a:r>
                  <a:rPr lang="en-US" sz="2000" b="0" dirty="0">
                    <a:latin typeface="Arial" panose="020B0604020202020204" pitchFamily="34" charset="0"/>
                    <a:cs typeface="Arial" panose="020B0604020202020204" pitchFamily="34" charset="0"/>
                  </a:rPr>
                  <a:t>The mass density’s normalization constant must evolve to preserve the total mass of the cloud as it expands.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The increase in volume is proportional to the cube of the increase of </a:t>
                </a:r>
                <a14:m>
                  <m:oMath xmlns:m="http://schemas.openxmlformats.org/officeDocument/2006/math">
                    <m:sSub>
                      <m:sSubPr>
                        <m:ctrlPr>
                          <a:rPr lang="en-US" sz="2000" b="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𝑅</m:t>
                        </m:r>
                      </m:e>
                      <m:sub>
                        <m:r>
                          <m:rPr>
                            <m:sty m:val="p"/>
                          </m:rPr>
                          <a:rPr lang="en-US" sz="2000" b="0" i="0">
                            <a:latin typeface="Cambria Math" panose="02040503050406030204" pitchFamily="18" charset="0"/>
                            <a:cs typeface="Arial" panose="020B0604020202020204" pitchFamily="34" charset="0"/>
                          </a:rPr>
                          <m:t>c</m:t>
                        </m:r>
                      </m:sub>
                    </m:sSub>
                  </m:oMath>
                </a14:m>
                <a:r>
                  <a:rPr lang="en-US" sz="2000" dirty="0">
                    <a:latin typeface="Arial" panose="020B0604020202020204" pitchFamily="34" charset="0"/>
                    <a:cs typeface="Arial" panose="020B0604020202020204" pitchFamily="34" charset="0"/>
                  </a:rPr>
                  <a:t>:</a:t>
                </a:r>
              </a:p>
              <a:p>
                <a:endParaRPr lang="en-US" sz="100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𝜌</m:t>
                          </m:r>
                        </m:e>
                        <m:sub>
                          <m:r>
                            <a:rPr lang="en-US" sz="2000" b="0" i="1">
                              <a:latin typeface="Cambria Math" panose="02040503050406030204" pitchFamily="18" charset="0"/>
                              <a:cs typeface="Arial" panose="020B0604020202020204" pitchFamily="34" charset="0"/>
                            </a:rPr>
                            <m:t>0</m:t>
                          </m:r>
                        </m:sub>
                      </m:sSub>
                      <m:d>
                        <m:dPr>
                          <m:ctrlPr>
                            <a:rPr lang="en-US" sz="2000" i="1">
                              <a:latin typeface="Cambria Math" panose="02040503050406030204" pitchFamily="18" charset="0"/>
                              <a:cs typeface="Arial" panose="020B0604020202020204" pitchFamily="34" charset="0"/>
                            </a:rPr>
                          </m:ctrlPr>
                        </m:dPr>
                        <m:e>
                          <m:sSub>
                            <m:sSubPr>
                              <m:ctrlPr>
                                <a:rPr lang="en-US" sz="2000" b="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𝐿</m:t>
                              </m:r>
                            </m:e>
                            <m:sub>
                              <m:r>
                                <m:rPr>
                                  <m:sty m:val="p"/>
                                </m:rPr>
                                <a:rPr lang="en-US" sz="2000" b="0" i="0">
                                  <a:latin typeface="Cambria Math" panose="02040503050406030204" pitchFamily="18" charset="0"/>
                                  <a:cs typeface="Arial" panose="020B0604020202020204" pitchFamily="34" charset="0"/>
                                </a:rPr>
                                <m:t>c</m:t>
                              </m:r>
                            </m:sub>
                          </m:sSub>
                          <m:r>
                            <a:rPr lang="en-US" sz="2000" b="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𝑡</m:t>
                          </m:r>
                        </m:e>
                      </m:d>
                      <m:r>
                        <a:rPr lang="en-US" sz="2000" i="1">
                          <a:latin typeface="Cambria Math" panose="02040503050406030204" pitchFamily="18" charset="0"/>
                          <a:cs typeface="Arial" panose="020B0604020202020204" pitchFamily="34" charset="0"/>
                        </a:rPr>
                        <m:t>=</m:t>
                      </m:r>
                      <m:sSub>
                        <m:sSubPr>
                          <m:ctrlPr>
                            <a:rPr lang="en-US" sz="2000" b="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𝜌</m:t>
                          </m:r>
                        </m:e>
                        <m:sub>
                          <m:r>
                            <a:rPr lang="en-US" sz="2000" b="0" i="1">
                              <a:latin typeface="Cambria Math" panose="02040503050406030204" pitchFamily="18" charset="0"/>
                              <a:cs typeface="Arial" panose="020B0604020202020204" pitchFamily="34" charset="0"/>
                            </a:rPr>
                            <m:t>0</m:t>
                          </m:r>
                        </m:sub>
                      </m:sSub>
                      <m:d>
                        <m:dPr>
                          <m:ctrlPr>
                            <a:rPr lang="en-US" sz="2000" i="1">
                              <a:latin typeface="Cambria Math" panose="02040503050406030204" pitchFamily="18" charset="0"/>
                              <a:cs typeface="Arial" panose="020B0604020202020204" pitchFamily="34" charset="0"/>
                            </a:rPr>
                          </m:ctrlPr>
                        </m:dPr>
                        <m:e>
                          <m:sSub>
                            <m:sSubPr>
                              <m:ctrlPr>
                                <a:rPr lang="en-US" sz="2000" b="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𝐿</m:t>
                              </m:r>
                            </m:e>
                            <m:sub>
                              <m:r>
                                <m:rPr>
                                  <m:sty m:val="p"/>
                                </m:rPr>
                                <a:rPr lang="en-US" sz="2000" b="0" i="0">
                                  <a:latin typeface="Cambria Math" panose="02040503050406030204" pitchFamily="18" charset="0"/>
                                  <a:cs typeface="Arial" panose="020B0604020202020204" pitchFamily="34" charset="0"/>
                                </a:rPr>
                                <m:t>c</m:t>
                              </m:r>
                            </m:sub>
                          </m:sSub>
                          <m:r>
                            <a:rPr lang="en-US" sz="2000" b="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0</m:t>
                          </m:r>
                        </m:e>
                      </m:d>
                      <m:r>
                        <a:rPr lang="en-US" sz="2000" b="0" i="1" smtClean="0">
                          <a:latin typeface="Cambria Math" panose="02040503050406030204" pitchFamily="18" charset="0"/>
                          <a:cs typeface="Arial" panose="020B0604020202020204" pitchFamily="34" charset="0"/>
                        </a:rPr>
                        <m:t>⋅</m:t>
                      </m:r>
                      <m:sSup>
                        <m:sSupPr>
                          <m:ctrlPr>
                            <a:rPr lang="en-US" sz="2000" b="0" i="1">
                              <a:latin typeface="Cambria Math" panose="02040503050406030204" pitchFamily="18" charset="0"/>
                              <a:cs typeface="Arial" panose="020B0604020202020204" pitchFamily="34" charset="0"/>
                            </a:rPr>
                          </m:ctrlPr>
                        </m:sSupPr>
                        <m:e>
                          <m:d>
                            <m:dPr>
                              <m:begChr m:val="["/>
                              <m:endChr m:val="]"/>
                              <m:ctrlPr>
                                <a:rPr lang="en-US" sz="2000" b="0" i="1">
                                  <a:latin typeface="Cambria Math" panose="02040503050406030204" pitchFamily="18" charset="0"/>
                                  <a:cs typeface="Arial" panose="020B0604020202020204" pitchFamily="34" charset="0"/>
                                </a:rPr>
                              </m:ctrlPr>
                            </m:dPr>
                            <m:e>
                              <m:f>
                                <m:fPr>
                                  <m:ctrlPr>
                                    <a:rPr lang="en-US" sz="2000" b="0" i="1">
                                      <a:latin typeface="Cambria Math" panose="02040503050406030204" pitchFamily="18" charset="0"/>
                                      <a:cs typeface="Arial" panose="020B0604020202020204" pitchFamily="34" charset="0"/>
                                    </a:rPr>
                                  </m:ctrlPr>
                                </m:fPr>
                                <m:num>
                                  <m:sSub>
                                    <m:sSubPr>
                                      <m:ctrlPr>
                                        <a:rPr lang="en-US" sz="2000" b="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𝑅</m:t>
                                      </m:r>
                                    </m:e>
                                    <m:sub>
                                      <m:r>
                                        <m:rPr>
                                          <m:sty m:val="p"/>
                                        </m:rPr>
                                        <a:rPr lang="en-US" sz="2000" b="0" i="0">
                                          <a:latin typeface="Cambria Math" panose="02040503050406030204" pitchFamily="18" charset="0"/>
                                          <a:cs typeface="Arial" panose="020B0604020202020204" pitchFamily="34" charset="0"/>
                                        </a:rPr>
                                        <m:t>c</m:t>
                                      </m:r>
                                    </m:sub>
                                  </m:sSub>
                                  <m:d>
                                    <m:dPr>
                                      <m:ctrlPr>
                                        <a:rPr lang="en-US" sz="2000" b="0" i="1">
                                          <a:latin typeface="Cambria Math" panose="02040503050406030204" pitchFamily="18" charset="0"/>
                                          <a:cs typeface="Arial" panose="020B0604020202020204" pitchFamily="34" charset="0"/>
                                        </a:rPr>
                                      </m:ctrlPr>
                                    </m:dPr>
                                    <m:e>
                                      <m:r>
                                        <a:rPr lang="en-US" sz="2000" b="0" i="1">
                                          <a:latin typeface="Cambria Math" panose="02040503050406030204" pitchFamily="18" charset="0"/>
                                          <a:cs typeface="Arial" panose="020B0604020202020204" pitchFamily="34" charset="0"/>
                                        </a:rPr>
                                        <m:t>0</m:t>
                                      </m:r>
                                    </m:e>
                                  </m:d>
                                </m:num>
                                <m:den>
                                  <m:sSub>
                                    <m:sSubPr>
                                      <m:ctrlPr>
                                        <a:rPr lang="en-US" sz="2000" b="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𝑅</m:t>
                                      </m:r>
                                    </m:e>
                                    <m:sub>
                                      <m:r>
                                        <m:rPr>
                                          <m:sty m:val="p"/>
                                        </m:rPr>
                                        <a:rPr lang="en-US" sz="2000" b="0" i="0">
                                          <a:latin typeface="Cambria Math" panose="02040503050406030204" pitchFamily="18" charset="0"/>
                                          <a:cs typeface="Arial" panose="020B0604020202020204" pitchFamily="34" charset="0"/>
                                        </a:rPr>
                                        <m:t>c</m:t>
                                      </m:r>
                                    </m:sub>
                                  </m:sSub>
                                  <m:d>
                                    <m:dPr>
                                      <m:ctrlPr>
                                        <a:rPr lang="en-US" sz="2000" b="0" i="1">
                                          <a:latin typeface="Cambria Math" panose="02040503050406030204" pitchFamily="18" charset="0"/>
                                          <a:cs typeface="Arial" panose="020B0604020202020204" pitchFamily="34" charset="0"/>
                                        </a:rPr>
                                      </m:ctrlPr>
                                    </m:dPr>
                                    <m:e>
                                      <m:r>
                                        <a:rPr lang="en-US" sz="2000" b="0" i="1">
                                          <a:latin typeface="Cambria Math" panose="02040503050406030204" pitchFamily="18" charset="0"/>
                                          <a:cs typeface="Arial" panose="020B0604020202020204" pitchFamily="34" charset="0"/>
                                        </a:rPr>
                                        <m:t>𝑡</m:t>
                                      </m:r>
                                    </m:e>
                                  </m:d>
                                </m:den>
                              </m:f>
                            </m:e>
                          </m:d>
                        </m:e>
                        <m:sup>
                          <m:r>
                            <a:rPr lang="en-US" sz="2000" b="0" i="1">
                              <a:latin typeface="Cambria Math" panose="02040503050406030204" pitchFamily="18" charset="0"/>
                              <a:cs typeface="Arial" panose="020B0604020202020204" pitchFamily="34" charset="0"/>
                            </a:rPr>
                            <m:t>3</m:t>
                          </m:r>
                        </m:sup>
                      </m:sSup>
                    </m:oMath>
                  </m:oMathPara>
                </a14:m>
                <a:endParaRPr lang="en-US" sz="2000" dirty="0">
                  <a:latin typeface="Arial" panose="020B0604020202020204" pitchFamily="34" charset="0"/>
                  <a:cs typeface="Arial" panose="020B0604020202020204" pitchFamily="34" charset="0"/>
                </a:endParaRPr>
              </a:p>
              <a:p>
                <a:pPr marL="457200" lvl="1" indent="0">
                  <a:buNone/>
                </a:pPr>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D87D5DC2-CFAD-D731-4E08-9D0C57A395E5}"/>
                  </a:ext>
                </a:extLst>
              </p:cNvPr>
              <p:cNvSpPr>
                <a:spLocks noGrp="1" noRot="1" noChangeAspect="1" noMove="1" noResize="1" noEditPoints="1" noAdjustHandles="1" noChangeArrowheads="1" noChangeShapeType="1" noTextEdit="1"/>
              </p:cNvSpPr>
              <p:nvPr>
                <p:ph idx="1"/>
              </p:nvPr>
            </p:nvSpPr>
            <p:spPr>
              <a:xfrm>
                <a:off x="6291923" y="1167677"/>
                <a:ext cx="4971824" cy="4680583"/>
              </a:xfrm>
              <a:blipFill>
                <a:blip r:embed="rId3"/>
                <a:stretch>
                  <a:fillRect l="-110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7640A85-CF74-CC44-40DA-7AFD325D0521}"/>
              </a:ext>
            </a:extLst>
          </p:cNvPr>
          <p:cNvSpPr>
            <a:spLocks noGrp="1"/>
          </p:cNvSpPr>
          <p:nvPr>
            <p:ph type="sldNum" sz="quarter" idx="12"/>
          </p:nvPr>
        </p:nvSpPr>
        <p:spPr>
          <a:xfrm>
            <a:off x="8610600" y="6492240"/>
            <a:ext cx="1871749" cy="365125"/>
          </a:xfrm>
        </p:spPr>
        <p:txBody>
          <a:bodyPr>
            <a:normAutofit/>
          </a:bodyPr>
          <a:lstStyle/>
          <a:p>
            <a:pPr>
              <a:spcAft>
                <a:spcPts val="600"/>
              </a:spcAft>
            </a:pPr>
            <a:fld id="{FFA44557-6723-474F-8BC8-E80F4E6DF2E8}" type="slidenum">
              <a:rPr lang="en-US" smtClean="0"/>
              <a:pPr>
                <a:spcAft>
                  <a:spcPts val="600"/>
                </a:spcAft>
              </a:pPr>
              <a:t>19</a:t>
            </a:fld>
            <a:endParaRPr lang="en-US"/>
          </a:p>
        </p:txBody>
      </p:sp>
    </p:spTree>
    <p:extLst>
      <p:ext uri="{BB962C8B-B14F-4D97-AF65-F5344CB8AC3E}">
        <p14:creationId xmlns:p14="http://schemas.microsoft.com/office/powerpoint/2010/main" val="4175954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B22360-AB4E-B7A4-8085-9EEE4E852F3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859F84E-56AC-9606-89C8-7EAC56FE77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86E9DD-08C9-1DA7-64A9-4CA677BBB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91E8AAB-5339-0E93-7A6D-070AF9A54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883BE64-1571-DFCE-ADF9-7E56058C57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4A0866C-D401-8FA8-0C1D-6E88B429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EF94AFB-EFCE-D8AE-BCBD-01B5D634A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EAFCCDE-5DED-18D3-FE41-34D62923B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35B2FA42-49AB-E0DE-D3DE-AD5E61C7BD18}"/>
              </a:ext>
            </a:extLst>
          </p:cNvPr>
          <p:cNvSpPr>
            <a:spLocks noGrp="1"/>
          </p:cNvSpPr>
          <p:nvPr>
            <p:ph type="title"/>
          </p:nvPr>
        </p:nvSpPr>
        <p:spPr>
          <a:xfrm>
            <a:off x="4162567" y="818984"/>
            <a:ext cx="6714699" cy="3178689"/>
          </a:xfrm>
        </p:spPr>
        <p:txBody>
          <a:bodyPr vert="horz" lIns="91440" tIns="45720" rIns="91440" bIns="45720" rtlCol="0" anchor="b">
            <a:normAutofit/>
          </a:bodyPr>
          <a:lstStyle/>
          <a:p>
            <a:r>
              <a:rPr lang="en-US" sz="3600" kern="1200" dirty="0">
                <a:solidFill>
                  <a:srgbClr val="FFFFFF"/>
                </a:solidFill>
                <a:latin typeface="Arial Black" panose="020B0A04020102020204" pitchFamily="34" charset="0"/>
              </a:rPr>
              <a:t>IV.   Orbital Mechanics</a:t>
            </a:r>
          </a:p>
        </p:txBody>
      </p:sp>
      <p:sp>
        <p:nvSpPr>
          <p:cNvPr id="23" name="Rectangle 22">
            <a:extLst>
              <a:ext uri="{FF2B5EF4-FFF2-40B4-BE49-F238E27FC236}">
                <a16:creationId xmlns:a16="http://schemas.microsoft.com/office/drawing/2014/main" id="{EB26F3A4-B4D3-C813-E438-2FBB3C1A92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63936EEA-ABCC-95D1-5672-A3F9A8F04F92}"/>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FFA44557-6723-474F-8BC8-E80F4E6DF2E8}" type="slidenum">
              <a:rPr lang="en-US" sz="1100">
                <a:solidFill>
                  <a:srgbClr val="FFFFFF"/>
                </a:solidFill>
              </a:rPr>
              <a:pPr>
                <a:spcAft>
                  <a:spcPts val="600"/>
                </a:spcAft>
              </a:pPr>
              <a:t>20</a:t>
            </a:fld>
            <a:endParaRPr lang="en-US" sz="1100">
              <a:solidFill>
                <a:srgbClr val="FFFFFF"/>
              </a:solidFill>
            </a:endParaRPr>
          </a:p>
        </p:txBody>
      </p:sp>
    </p:spTree>
    <p:extLst>
      <p:ext uri="{BB962C8B-B14F-4D97-AF65-F5344CB8AC3E}">
        <p14:creationId xmlns:p14="http://schemas.microsoft.com/office/powerpoint/2010/main" val="2664853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B959A9-2EBC-1425-6EE5-A36576235A9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D831C9-475D-84A8-B623-B73DD9DA5127}"/>
              </a:ext>
            </a:extLst>
          </p:cNvPr>
          <p:cNvSpPr>
            <a:spLocks noGrp="1"/>
          </p:cNvSpPr>
          <p:nvPr>
            <p:ph type="title"/>
          </p:nvPr>
        </p:nvSpPr>
        <p:spPr>
          <a:xfrm>
            <a:off x="6094104" y="802955"/>
            <a:ext cx="5141245" cy="1454051"/>
          </a:xfrm>
        </p:spPr>
        <p:txBody>
          <a:bodyPr>
            <a:normAutofit/>
          </a:bodyPr>
          <a:lstStyle/>
          <a:p>
            <a:r>
              <a:rPr lang="en-US" sz="3600" dirty="0">
                <a:solidFill>
                  <a:schemeClr val="tx2"/>
                </a:solidFill>
                <a:latin typeface="Arial Bold" panose="020B0704020202020204" pitchFamily="34" charset="0"/>
                <a:cs typeface="Arial Bold" panose="020B0704020202020204" pitchFamily="34" charset="0"/>
              </a:rPr>
              <a:t>Gravitational Acceleration</a:t>
            </a:r>
          </a:p>
        </p:txBody>
      </p:sp>
      <p:pic>
        <p:nvPicPr>
          <p:cNvPr id="8" name="Graphic 7" descr="Rocket">
            <a:extLst>
              <a:ext uri="{FF2B5EF4-FFF2-40B4-BE49-F238E27FC236}">
                <a16:creationId xmlns:a16="http://schemas.microsoft.com/office/drawing/2014/main" id="{EC5DD106-5E1E-B339-632D-5A272B8DE6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F340CA-4F5B-6E93-72AA-BDBAE1934EE3}"/>
                  </a:ext>
                </a:extLst>
              </p:cNvPr>
              <p:cNvSpPr>
                <a:spLocks noGrp="1"/>
              </p:cNvSpPr>
              <p:nvPr>
                <p:ph idx="1"/>
              </p:nvPr>
            </p:nvSpPr>
            <p:spPr>
              <a:xfrm>
                <a:off x="6090574" y="2421682"/>
                <a:ext cx="5144776" cy="3639289"/>
              </a:xfrm>
            </p:spPr>
            <p:txBody>
              <a:bodyPr anchor="ctr">
                <a:normAutofit/>
              </a:bodyPr>
              <a:lstStyle/>
              <a:p>
                <a:r>
                  <a:rPr lang="en-US" sz="1700" dirty="0">
                    <a:solidFill>
                      <a:schemeClr val="tx2"/>
                    </a:solidFill>
                    <a:latin typeface="Arial" panose="020B0604020202020204" pitchFamily="34" charset="0"/>
                    <a:cs typeface="Arial" panose="020B0604020202020204" pitchFamily="34" charset="0"/>
                  </a:rPr>
                  <a:t>The acceleration of a fragment in Earth's Newtonian gravitational field is given by :</a:t>
                </a:r>
              </a:p>
              <a:p>
                <a:endParaRPr lang="en-US" sz="1700" dirty="0">
                  <a:solidFill>
                    <a:schemeClr val="tx2"/>
                  </a:solidFill>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f>
                        <m:fPr>
                          <m:ctrlPr>
                            <a:rPr lang="en-US" sz="1700" i="1">
                              <a:solidFill>
                                <a:schemeClr val="tx2"/>
                              </a:solidFill>
                              <a:latin typeface="Cambria Math" panose="02040503050406030204" pitchFamily="18" charset="0"/>
                              <a:cs typeface="Arial" panose="020B0604020202020204" pitchFamily="34" charset="0"/>
                            </a:rPr>
                          </m:ctrlPr>
                        </m:fPr>
                        <m:num>
                          <m:sSup>
                            <m:sSupPr>
                              <m:ctrlPr>
                                <a:rPr lang="en-US" sz="1700" i="1">
                                  <a:solidFill>
                                    <a:schemeClr val="tx2"/>
                                  </a:solidFill>
                                  <a:latin typeface="Cambria Math" panose="02040503050406030204" pitchFamily="18" charset="0"/>
                                  <a:cs typeface="Arial" panose="020B0604020202020204" pitchFamily="34" charset="0"/>
                                </a:rPr>
                              </m:ctrlPr>
                            </m:sSupPr>
                            <m:e>
                              <m:r>
                                <a:rPr lang="en-US" sz="1700" b="0" i="1">
                                  <a:solidFill>
                                    <a:schemeClr val="tx2"/>
                                  </a:solidFill>
                                  <a:latin typeface="Cambria Math" panose="02040503050406030204" pitchFamily="18" charset="0"/>
                                  <a:cs typeface="Arial" panose="020B0604020202020204" pitchFamily="34" charset="0"/>
                                </a:rPr>
                                <m:t>𝑑</m:t>
                              </m:r>
                            </m:e>
                            <m:sup>
                              <m:r>
                                <a:rPr lang="en-US" sz="1700" b="0" i="1">
                                  <a:solidFill>
                                    <a:schemeClr val="tx2"/>
                                  </a:solidFill>
                                  <a:latin typeface="Cambria Math" panose="02040503050406030204" pitchFamily="18" charset="0"/>
                                  <a:cs typeface="Arial" panose="020B0604020202020204" pitchFamily="34" charset="0"/>
                                </a:rPr>
                                <m:t>2</m:t>
                              </m:r>
                            </m:sup>
                          </m:sSup>
                          <m:sSub>
                            <m:sSubPr>
                              <m:ctrlPr>
                                <a:rPr lang="en-US" sz="1700" b="1" i="1">
                                  <a:solidFill>
                                    <a:schemeClr val="tx2"/>
                                  </a:solidFill>
                                  <a:latin typeface="Cambria Math" panose="02040503050406030204" pitchFamily="18" charset="0"/>
                                  <a:cs typeface="Arial" panose="020B0604020202020204" pitchFamily="34" charset="0"/>
                                </a:rPr>
                              </m:ctrlPr>
                            </m:sSubPr>
                            <m:e>
                              <m:r>
                                <a:rPr lang="en-US" sz="1700" b="1" i="0">
                                  <a:solidFill>
                                    <a:schemeClr val="tx2"/>
                                  </a:solidFill>
                                  <a:latin typeface="Cambria Math" panose="02040503050406030204" pitchFamily="18" charset="0"/>
                                  <a:cs typeface="Arial" panose="020B0604020202020204" pitchFamily="34" charset="0"/>
                                </a:rPr>
                                <m:t>𝐫</m:t>
                              </m:r>
                            </m:e>
                            <m:sub>
                              <m:r>
                                <m:rPr>
                                  <m:sty m:val="p"/>
                                </m:rPr>
                                <a:rPr lang="en-US" sz="1700" b="0" i="0">
                                  <a:solidFill>
                                    <a:schemeClr val="tx2"/>
                                  </a:solidFill>
                                  <a:latin typeface="Cambria Math" panose="02040503050406030204" pitchFamily="18" charset="0"/>
                                  <a:cs typeface="Arial" panose="020B0604020202020204" pitchFamily="34" charset="0"/>
                                </a:rPr>
                                <m:t>grav</m:t>
                              </m:r>
                            </m:sub>
                          </m:sSub>
                        </m:num>
                        <m:den>
                          <m:r>
                            <a:rPr lang="en-US" sz="1700" b="0" i="1">
                              <a:solidFill>
                                <a:schemeClr val="tx2"/>
                              </a:solidFill>
                              <a:latin typeface="Cambria Math" panose="02040503050406030204" pitchFamily="18" charset="0"/>
                              <a:cs typeface="Arial" panose="020B0604020202020204" pitchFamily="34" charset="0"/>
                            </a:rPr>
                            <m:t>𝑑</m:t>
                          </m:r>
                          <m:sSup>
                            <m:sSupPr>
                              <m:ctrlPr>
                                <a:rPr lang="en-US" sz="1700" i="1">
                                  <a:solidFill>
                                    <a:schemeClr val="tx2"/>
                                  </a:solidFill>
                                  <a:latin typeface="Cambria Math" panose="02040503050406030204" pitchFamily="18" charset="0"/>
                                  <a:cs typeface="Arial" panose="020B0604020202020204" pitchFamily="34" charset="0"/>
                                </a:rPr>
                              </m:ctrlPr>
                            </m:sSupPr>
                            <m:e>
                              <m:r>
                                <a:rPr lang="en-US" sz="1700" b="0" i="1">
                                  <a:solidFill>
                                    <a:schemeClr val="tx2"/>
                                  </a:solidFill>
                                  <a:latin typeface="Cambria Math" panose="02040503050406030204" pitchFamily="18" charset="0"/>
                                  <a:cs typeface="Arial" panose="020B0604020202020204" pitchFamily="34" charset="0"/>
                                </a:rPr>
                                <m:t>𝑡</m:t>
                              </m:r>
                            </m:e>
                            <m:sup>
                              <m:r>
                                <a:rPr lang="en-US" sz="1700" b="0" i="1">
                                  <a:solidFill>
                                    <a:schemeClr val="tx2"/>
                                  </a:solidFill>
                                  <a:latin typeface="Cambria Math" panose="02040503050406030204" pitchFamily="18" charset="0"/>
                                  <a:cs typeface="Arial" panose="020B0604020202020204" pitchFamily="34" charset="0"/>
                                </a:rPr>
                                <m:t>2</m:t>
                              </m:r>
                            </m:sup>
                          </m:sSup>
                        </m:den>
                      </m:f>
                      <m:r>
                        <a:rPr lang="en-US" sz="1700" b="0" i="1">
                          <a:solidFill>
                            <a:schemeClr val="tx2"/>
                          </a:solidFill>
                          <a:latin typeface="Cambria Math" panose="02040503050406030204" pitchFamily="18" charset="0"/>
                          <a:cs typeface="Arial" panose="020B0604020202020204" pitchFamily="34" charset="0"/>
                        </a:rPr>
                        <m:t>=</m:t>
                      </m:r>
                      <m:f>
                        <m:fPr>
                          <m:ctrlPr>
                            <a:rPr lang="en-US" sz="1700" i="1">
                              <a:solidFill>
                                <a:schemeClr val="tx2"/>
                              </a:solidFill>
                              <a:latin typeface="Cambria Math" panose="02040503050406030204" pitchFamily="18" charset="0"/>
                              <a:cs typeface="Arial" panose="020B0604020202020204" pitchFamily="34" charset="0"/>
                            </a:rPr>
                          </m:ctrlPr>
                        </m:fPr>
                        <m:num>
                          <m:r>
                            <a:rPr lang="en-US" sz="1700" b="0" i="1">
                              <a:solidFill>
                                <a:schemeClr val="tx2"/>
                              </a:solidFill>
                              <a:latin typeface="Cambria Math" panose="02040503050406030204" pitchFamily="18" charset="0"/>
                              <a:cs typeface="Arial" panose="020B0604020202020204" pitchFamily="34" charset="0"/>
                            </a:rPr>
                            <m:t>−</m:t>
                          </m:r>
                          <m:r>
                            <a:rPr lang="en-US" sz="1700" b="0" i="1">
                              <a:solidFill>
                                <a:schemeClr val="tx2"/>
                              </a:solidFill>
                              <a:latin typeface="Cambria Math" panose="02040503050406030204" pitchFamily="18" charset="0"/>
                              <a:cs typeface="Arial" panose="020B0604020202020204" pitchFamily="34" charset="0"/>
                            </a:rPr>
                            <m:t>𝐺</m:t>
                          </m:r>
                          <m:sSub>
                            <m:sSubPr>
                              <m:ctrlPr>
                                <a:rPr lang="en-US" sz="1700" i="1">
                                  <a:solidFill>
                                    <a:schemeClr val="tx2"/>
                                  </a:solidFill>
                                  <a:latin typeface="Cambria Math" panose="02040503050406030204" pitchFamily="18" charset="0"/>
                                  <a:cs typeface="Arial" panose="020B0604020202020204" pitchFamily="34" charset="0"/>
                                </a:rPr>
                              </m:ctrlPr>
                            </m:sSubPr>
                            <m:e>
                              <m:r>
                                <a:rPr lang="en-US" sz="1700" b="0" i="1">
                                  <a:solidFill>
                                    <a:schemeClr val="tx2"/>
                                  </a:solidFill>
                                  <a:latin typeface="Cambria Math" panose="02040503050406030204" pitchFamily="18" charset="0"/>
                                  <a:cs typeface="Arial" panose="020B0604020202020204" pitchFamily="34" charset="0"/>
                                </a:rPr>
                                <m:t>𝑀</m:t>
                              </m:r>
                            </m:e>
                            <m:sub>
                              <m:r>
                                <a:rPr lang="en-US" sz="1700" b="0" i="1">
                                  <a:solidFill>
                                    <a:schemeClr val="tx2"/>
                                  </a:solidFill>
                                  <a:latin typeface="Cambria Math" panose="02040503050406030204" pitchFamily="18" charset="0"/>
                                  <a:ea typeface="Cambria Math" panose="02040503050406030204" pitchFamily="18" charset="0"/>
                                  <a:cs typeface="Arial" panose="020B0604020202020204" pitchFamily="34" charset="0"/>
                                </a:rPr>
                                <m:t>⊕</m:t>
                              </m:r>
                            </m:sub>
                          </m:sSub>
                        </m:num>
                        <m:den>
                          <m:sSup>
                            <m:sSupPr>
                              <m:ctrlPr>
                                <a:rPr lang="en-US" sz="1700" i="1">
                                  <a:solidFill>
                                    <a:schemeClr val="tx2"/>
                                  </a:solidFill>
                                  <a:latin typeface="Cambria Math" panose="02040503050406030204" pitchFamily="18" charset="0"/>
                                  <a:cs typeface="Arial" panose="020B0604020202020204" pitchFamily="34" charset="0"/>
                                </a:rPr>
                              </m:ctrlPr>
                            </m:sSupPr>
                            <m:e>
                              <m:r>
                                <a:rPr lang="en-US" sz="1700" b="0" i="1">
                                  <a:solidFill>
                                    <a:schemeClr val="tx2"/>
                                  </a:solidFill>
                                  <a:latin typeface="Cambria Math" panose="02040503050406030204" pitchFamily="18" charset="0"/>
                                  <a:cs typeface="Arial" panose="020B0604020202020204" pitchFamily="34" charset="0"/>
                                </a:rPr>
                                <m:t>𝑟</m:t>
                              </m:r>
                            </m:e>
                            <m:sup>
                              <m:r>
                                <a:rPr lang="en-US" sz="1700" b="0" i="1">
                                  <a:solidFill>
                                    <a:schemeClr val="tx2"/>
                                  </a:solidFill>
                                  <a:latin typeface="Cambria Math" panose="02040503050406030204" pitchFamily="18" charset="0"/>
                                  <a:cs typeface="Arial" panose="020B0604020202020204" pitchFamily="34" charset="0"/>
                                </a:rPr>
                                <m:t>2</m:t>
                              </m:r>
                            </m:sup>
                          </m:sSup>
                        </m:den>
                      </m:f>
                      <m:acc>
                        <m:accPr>
                          <m:chr m:val="̂"/>
                          <m:ctrlPr>
                            <a:rPr lang="en-US" sz="1700" i="1">
                              <a:solidFill>
                                <a:schemeClr val="tx2"/>
                              </a:solidFill>
                              <a:latin typeface="Cambria Math" panose="02040503050406030204" pitchFamily="18" charset="0"/>
                              <a:cs typeface="Arial" panose="020B0604020202020204" pitchFamily="34" charset="0"/>
                            </a:rPr>
                          </m:ctrlPr>
                        </m:accPr>
                        <m:e>
                          <m:r>
                            <a:rPr lang="en-US" sz="1700" b="0" i="1">
                              <a:solidFill>
                                <a:schemeClr val="tx2"/>
                              </a:solidFill>
                              <a:latin typeface="Cambria Math" panose="02040503050406030204" pitchFamily="18" charset="0"/>
                              <a:cs typeface="Arial" panose="020B0604020202020204" pitchFamily="34" charset="0"/>
                            </a:rPr>
                            <m:t>𝑟</m:t>
                          </m:r>
                        </m:e>
                      </m:acc>
                    </m:oMath>
                  </m:oMathPara>
                </a14:m>
                <a:endParaRPr lang="en-US" sz="1700" i="1" dirty="0">
                  <a:solidFill>
                    <a:schemeClr val="tx2"/>
                  </a:solidFill>
                  <a:latin typeface="Arial" panose="020B0604020202020204" pitchFamily="34" charset="0"/>
                  <a:cs typeface="Arial" panose="020B0604020202020204" pitchFamily="34" charset="0"/>
                </a:endParaRPr>
              </a:p>
              <a:p>
                <a:endParaRPr lang="en-US" sz="1700" dirty="0">
                  <a:solidFill>
                    <a:schemeClr val="tx2"/>
                  </a:solidFill>
                  <a:latin typeface="Arial" panose="020B0604020202020204" pitchFamily="34" charset="0"/>
                  <a:cs typeface="Arial" panose="020B0604020202020204" pitchFamily="34" charset="0"/>
                </a:endParaRPr>
              </a:p>
              <a:p>
                <a:r>
                  <a:rPr lang="en-US" sz="1700" dirty="0">
                    <a:solidFill>
                      <a:schemeClr val="tx2"/>
                    </a:solidFill>
                    <a:latin typeface="Arial" panose="020B0604020202020204" pitchFamily="34" charset="0"/>
                    <a:cs typeface="Arial" panose="020B0604020202020204" pitchFamily="34" charset="0"/>
                  </a:rPr>
                  <a:t>The total acceleration would then be:</a:t>
                </a:r>
              </a:p>
              <a:p>
                <a:pPr marL="0" indent="0">
                  <a:buNone/>
                </a:pPr>
                <a:endParaRPr lang="en-US" sz="1700" dirty="0">
                  <a:solidFill>
                    <a:schemeClr val="tx2"/>
                  </a:solidFill>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1700" b="0" i="1">
                              <a:solidFill>
                                <a:schemeClr val="tx2"/>
                              </a:solidFill>
                              <a:latin typeface="Cambria Math" panose="02040503050406030204" pitchFamily="18" charset="0"/>
                              <a:cs typeface="Arial" panose="020B0604020202020204" pitchFamily="34" charset="0"/>
                            </a:rPr>
                          </m:ctrlPr>
                        </m:sSubPr>
                        <m:e>
                          <m:r>
                            <a:rPr lang="en-US" sz="1700" b="1" i="0">
                              <a:solidFill>
                                <a:schemeClr val="tx2"/>
                              </a:solidFill>
                              <a:latin typeface="Cambria Math" panose="02040503050406030204" pitchFamily="18" charset="0"/>
                              <a:cs typeface="Arial" panose="020B0604020202020204" pitchFamily="34" charset="0"/>
                            </a:rPr>
                            <m:t>𝐚</m:t>
                          </m:r>
                        </m:e>
                        <m:sub>
                          <m:r>
                            <m:rPr>
                              <m:sty m:val="p"/>
                            </m:rPr>
                            <a:rPr lang="en-US" sz="1700" b="0" i="0">
                              <a:solidFill>
                                <a:schemeClr val="tx2"/>
                              </a:solidFill>
                              <a:latin typeface="Cambria Math" panose="02040503050406030204" pitchFamily="18" charset="0"/>
                              <a:cs typeface="Arial" panose="020B0604020202020204" pitchFamily="34" charset="0"/>
                            </a:rPr>
                            <m:t>total</m:t>
                          </m:r>
                        </m:sub>
                      </m:sSub>
                      <m:r>
                        <a:rPr lang="en-US" sz="1700" b="0" i="1">
                          <a:solidFill>
                            <a:schemeClr val="tx2"/>
                          </a:solidFill>
                          <a:latin typeface="Cambria Math" panose="02040503050406030204" pitchFamily="18" charset="0"/>
                          <a:cs typeface="Arial" panose="020B0604020202020204" pitchFamily="34" charset="0"/>
                        </a:rPr>
                        <m:t>=</m:t>
                      </m:r>
                      <m:f>
                        <m:fPr>
                          <m:ctrlPr>
                            <a:rPr lang="en-US" sz="1700" i="1">
                              <a:solidFill>
                                <a:schemeClr val="tx2"/>
                              </a:solidFill>
                              <a:latin typeface="Cambria Math" panose="02040503050406030204" pitchFamily="18" charset="0"/>
                              <a:cs typeface="Arial" panose="020B0604020202020204" pitchFamily="34" charset="0"/>
                            </a:rPr>
                          </m:ctrlPr>
                        </m:fPr>
                        <m:num>
                          <m:sSup>
                            <m:sSupPr>
                              <m:ctrlPr>
                                <a:rPr lang="en-US" sz="1700" i="1">
                                  <a:solidFill>
                                    <a:schemeClr val="tx2"/>
                                  </a:solidFill>
                                  <a:latin typeface="Cambria Math" panose="02040503050406030204" pitchFamily="18" charset="0"/>
                                  <a:cs typeface="Arial" panose="020B0604020202020204" pitchFamily="34" charset="0"/>
                                </a:rPr>
                              </m:ctrlPr>
                            </m:sSupPr>
                            <m:e>
                              <m:r>
                                <a:rPr lang="en-US" sz="1700" i="1">
                                  <a:solidFill>
                                    <a:schemeClr val="tx2"/>
                                  </a:solidFill>
                                  <a:latin typeface="Cambria Math" panose="02040503050406030204" pitchFamily="18" charset="0"/>
                                  <a:cs typeface="Arial" panose="020B0604020202020204" pitchFamily="34" charset="0"/>
                                </a:rPr>
                                <m:t>𝑑</m:t>
                              </m:r>
                            </m:e>
                            <m:sup>
                              <m:r>
                                <a:rPr lang="en-US" sz="1700" i="1">
                                  <a:solidFill>
                                    <a:schemeClr val="tx2"/>
                                  </a:solidFill>
                                  <a:latin typeface="Cambria Math" panose="02040503050406030204" pitchFamily="18" charset="0"/>
                                  <a:cs typeface="Arial" panose="020B0604020202020204" pitchFamily="34" charset="0"/>
                                </a:rPr>
                                <m:t>2</m:t>
                              </m:r>
                            </m:sup>
                          </m:sSup>
                          <m:sSub>
                            <m:sSubPr>
                              <m:ctrlPr>
                                <a:rPr lang="en-US" sz="1700" b="1" i="1">
                                  <a:solidFill>
                                    <a:schemeClr val="tx2"/>
                                  </a:solidFill>
                                  <a:latin typeface="Cambria Math" panose="02040503050406030204" pitchFamily="18" charset="0"/>
                                  <a:cs typeface="Arial" panose="020B0604020202020204" pitchFamily="34" charset="0"/>
                                </a:rPr>
                              </m:ctrlPr>
                            </m:sSubPr>
                            <m:e>
                              <m:r>
                                <a:rPr lang="en-US" sz="1700" b="1">
                                  <a:solidFill>
                                    <a:schemeClr val="tx2"/>
                                  </a:solidFill>
                                  <a:latin typeface="Cambria Math" panose="02040503050406030204" pitchFamily="18" charset="0"/>
                                  <a:cs typeface="Arial" panose="020B0604020202020204" pitchFamily="34" charset="0"/>
                                </a:rPr>
                                <m:t>𝐫</m:t>
                              </m:r>
                            </m:e>
                            <m:sub>
                              <m:r>
                                <m:rPr>
                                  <m:sty m:val="p"/>
                                </m:rPr>
                                <a:rPr lang="en-US" sz="1700">
                                  <a:solidFill>
                                    <a:schemeClr val="tx2"/>
                                  </a:solidFill>
                                  <a:latin typeface="Cambria Math" panose="02040503050406030204" pitchFamily="18" charset="0"/>
                                  <a:cs typeface="Arial" panose="020B0604020202020204" pitchFamily="34" charset="0"/>
                                </a:rPr>
                                <m:t>grav</m:t>
                              </m:r>
                            </m:sub>
                          </m:sSub>
                        </m:num>
                        <m:den>
                          <m:r>
                            <a:rPr lang="en-US" sz="1700" i="1">
                              <a:solidFill>
                                <a:schemeClr val="tx2"/>
                              </a:solidFill>
                              <a:latin typeface="Cambria Math" panose="02040503050406030204" pitchFamily="18" charset="0"/>
                              <a:cs typeface="Arial" panose="020B0604020202020204" pitchFamily="34" charset="0"/>
                            </a:rPr>
                            <m:t>𝑑</m:t>
                          </m:r>
                          <m:sSup>
                            <m:sSupPr>
                              <m:ctrlPr>
                                <a:rPr lang="en-US" sz="1700" i="1">
                                  <a:solidFill>
                                    <a:schemeClr val="tx2"/>
                                  </a:solidFill>
                                  <a:latin typeface="Cambria Math" panose="02040503050406030204" pitchFamily="18" charset="0"/>
                                  <a:cs typeface="Arial" panose="020B0604020202020204" pitchFamily="34" charset="0"/>
                                </a:rPr>
                              </m:ctrlPr>
                            </m:sSupPr>
                            <m:e>
                              <m:r>
                                <a:rPr lang="en-US" sz="1700" i="1">
                                  <a:solidFill>
                                    <a:schemeClr val="tx2"/>
                                  </a:solidFill>
                                  <a:latin typeface="Cambria Math" panose="02040503050406030204" pitchFamily="18" charset="0"/>
                                  <a:cs typeface="Arial" panose="020B0604020202020204" pitchFamily="34" charset="0"/>
                                </a:rPr>
                                <m:t>𝑡</m:t>
                              </m:r>
                            </m:e>
                            <m:sup>
                              <m:r>
                                <a:rPr lang="en-US" sz="1700" i="1">
                                  <a:solidFill>
                                    <a:schemeClr val="tx2"/>
                                  </a:solidFill>
                                  <a:latin typeface="Cambria Math" panose="02040503050406030204" pitchFamily="18" charset="0"/>
                                  <a:cs typeface="Arial" panose="020B0604020202020204" pitchFamily="34" charset="0"/>
                                </a:rPr>
                                <m:t>2</m:t>
                              </m:r>
                            </m:sup>
                          </m:sSup>
                        </m:den>
                      </m:f>
                      <m:r>
                        <a:rPr lang="en-US" sz="1700" b="0" i="1">
                          <a:solidFill>
                            <a:schemeClr val="tx2"/>
                          </a:solidFill>
                          <a:latin typeface="Cambria Math" panose="02040503050406030204" pitchFamily="18" charset="0"/>
                          <a:cs typeface="Arial" panose="020B0604020202020204" pitchFamily="34" charset="0"/>
                        </a:rPr>
                        <m:t>+</m:t>
                      </m:r>
                      <m:sSub>
                        <m:sSubPr>
                          <m:ctrlPr>
                            <a:rPr lang="en-US" sz="1700" b="0" i="1">
                              <a:solidFill>
                                <a:schemeClr val="tx2"/>
                              </a:solidFill>
                              <a:latin typeface="Cambria Math" panose="02040503050406030204" pitchFamily="18" charset="0"/>
                              <a:cs typeface="Arial" panose="020B0604020202020204" pitchFamily="34" charset="0"/>
                            </a:rPr>
                          </m:ctrlPr>
                        </m:sSubPr>
                        <m:e>
                          <m:r>
                            <a:rPr lang="en-US" sz="1700" b="1" i="0">
                              <a:solidFill>
                                <a:schemeClr val="tx2"/>
                              </a:solidFill>
                              <a:latin typeface="Cambria Math" panose="02040503050406030204" pitchFamily="18" charset="0"/>
                              <a:cs typeface="Arial" panose="020B0604020202020204" pitchFamily="34" charset="0"/>
                            </a:rPr>
                            <m:t>𝐚</m:t>
                          </m:r>
                        </m:e>
                        <m:sub>
                          <m:r>
                            <m:rPr>
                              <m:sty m:val="p"/>
                            </m:rPr>
                            <a:rPr lang="en-US" sz="1700" b="0" i="0">
                              <a:solidFill>
                                <a:schemeClr val="tx2"/>
                              </a:solidFill>
                              <a:latin typeface="Cambria Math" panose="02040503050406030204" pitchFamily="18" charset="0"/>
                              <a:cs typeface="Arial" panose="020B0604020202020204" pitchFamily="34" charset="0"/>
                            </a:rPr>
                            <m:t>pert</m:t>
                          </m:r>
                        </m:sub>
                      </m:sSub>
                    </m:oMath>
                  </m:oMathPara>
                </a14:m>
                <a:endParaRPr lang="en-US" sz="1700" i="1" dirty="0">
                  <a:solidFill>
                    <a:schemeClr val="tx2"/>
                  </a:solidFill>
                  <a:latin typeface="Arial" panose="020B0604020202020204" pitchFamily="34" charset="0"/>
                  <a:cs typeface="Arial" panose="020B0604020202020204" pitchFamily="34" charset="0"/>
                </a:endParaRPr>
              </a:p>
              <a:p>
                <a:pPr marL="0" indent="0">
                  <a:buNone/>
                </a:pPr>
                <a:endParaRPr lang="en-US" sz="900" i="1" dirty="0">
                  <a:solidFill>
                    <a:schemeClr val="tx2"/>
                  </a:solidFill>
                  <a:latin typeface="Arial" panose="020B0604020202020204" pitchFamily="34" charset="0"/>
                  <a:cs typeface="Arial" panose="020B0604020202020204" pitchFamily="34" charset="0"/>
                </a:endParaRPr>
              </a:p>
              <a:p>
                <a:pPr marL="0" indent="0">
                  <a:buNone/>
                </a:pPr>
                <a:r>
                  <a:rPr lang="en-US" sz="1600" dirty="0">
                    <a:solidFill>
                      <a:schemeClr val="tx2"/>
                    </a:solidFill>
                    <a:latin typeface="Arial" panose="020B0604020202020204" pitchFamily="34" charset="0"/>
                    <a:cs typeface="Arial" panose="020B0604020202020204" pitchFamily="34" charset="0"/>
                  </a:rPr>
                  <a:t>    where is the acceleration due to perturbation effects.</a:t>
                </a:r>
              </a:p>
              <a:p>
                <a:pPr marL="457200" lvl="1" indent="0">
                  <a:buNone/>
                </a:pPr>
                <a:endParaRPr lang="en-US" sz="1700" dirty="0">
                  <a:solidFill>
                    <a:schemeClr val="tx2"/>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B1F340CA-4F5B-6E93-72AA-BDBAE1934EE3}"/>
                  </a:ext>
                </a:extLst>
              </p:cNvPr>
              <p:cNvSpPr>
                <a:spLocks noGrp="1" noRot="1" noChangeAspect="1" noMove="1" noResize="1" noEditPoints="1" noAdjustHandles="1" noChangeArrowheads="1" noChangeShapeType="1" noTextEdit="1"/>
              </p:cNvSpPr>
              <p:nvPr>
                <p:ph idx="1"/>
              </p:nvPr>
            </p:nvSpPr>
            <p:spPr>
              <a:xfrm>
                <a:off x="6090574" y="2421682"/>
                <a:ext cx="5144776" cy="3639289"/>
              </a:xfrm>
              <a:blipFill>
                <a:blip r:embed="rId4"/>
                <a:stretch>
                  <a:fillRect l="-592" t="-4020" r="-237"/>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6" name="Freeform: Shape 15">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Slide Number Placeholder 3">
            <a:extLst>
              <a:ext uri="{FF2B5EF4-FFF2-40B4-BE49-F238E27FC236}">
                <a16:creationId xmlns:a16="http://schemas.microsoft.com/office/drawing/2014/main" id="{71BDC339-AC7A-7965-4160-C17C80D2E3EC}"/>
              </a:ext>
            </a:extLst>
          </p:cNvPr>
          <p:cNvSpPr>
            <a:spLocks noGrp="1"/>
          </p:cNvSpPr>
          <p:nvPr>
            <p:ph type="sldNum" sz="quarter" idx="12"/>
          </p:nvPr>
        </p:nvSpPr>
        <p:spPr>
          <a:xfrm>
            <a:off x="8610600" y="6356350"/>
            <a:ext cx="2743200" cy="365125"/>
          </a:xfrm>
        </p:spPr>
        <p:txBody>
          <a:bodyPr>
            <a:normAutofit/>
          </a:bodyPr>
          <a:lstStyle/>
          <a:p>
            <a:pPr>
              <a:spcAft>
                <a:spcPts val="600"/>
              </a:spcAft>
            </a:pPr>
            <a:fld id="{FFA44557-6723-474F-8BC8-E80F4E6DF2E8}" type="slidenum">
              <a:rPr lang="en-US" smtClean="0"/>
              <a:pPr>
                <a:spcAft>
                  <a:spcPts val="600"/>
                </a:spcAft>
              </a:pPr>
              <a:t>21</a:t>
            </a:fld>
            <a:endParaRPr lang="en-US"/>
          </a:p>
        </p:txBody>
      </p:sp>
    </p:spTree>
    <p:extLst>
      <p:ext uri="{BB962C8B-B14F-4D97-AF65-F5344CB8AC3E}">
        <p14:creationId xmlns:p14="http://schemas.microsoft.com/office/powerpoint/2010/main" val="3181546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44B27A-BDAF-41FB-831E-3BD091303814}"/>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F11564-CC84-9F97-F119-0CDE246AA92F}"/>
              </a:ext>
            </a:extLst>
          </p:cNvPr>
          <p:cNvSpPr>
            <a:spLocks noGrp="1"/>
          </p:cNvSpPr>
          <p:nvPr>
            <p:ph type="title"/>
          </p:nvPr>
        </p:nvSpPr>
        <p:spPr>
          <a:xfrm>
            <a:off x="804672" y="802955"/>
            <a:ext cx="4977976" cy="1454051"/>
          </a:xfrm>
        </p:spPr>
        <p:txBody>
          <a:bodyPr>
            <a:normAutofit/>
          </a:bodyPr>
          <a:lstStyle/>
          <a:p>
            <a:r>
              <a:rPr lang="en-US" sz="3600" dirty="0">
                <a:solidFill>
                  <a:schemeClr val="tx2"/>
                </a:solidFill>
                <a:latin typeface="Arial Bold" panose="020B0704020202020204" pitchFamily="34" charset="0"/>
                <a:cs typeface="Arial Bold" panose="020B0704020202020204" pitchFamily="34" charset="0"/>
              </a:rPr>
              <a:t>Perturbation Forces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515636-0633-31B5-AEF2-69DF5D413080}"/>
                  </a:ext>
                </a:extLst>
              </p:cNvPr>
              <p:cNvSpPr>
                <a:spLocks noGrp="1"/>
              </p:cNvSpPr>
              <p:nvPr>
                <p:ph idx="1"/>
              </p:nvPr>
            </p:nvSpPr>
            <p:spPr>
              <a:xfrm>
                <a:off x="804672" y="2421682"/>
                <a:ext cx="4977578" cy="3639289"/>
              </a:xfrm>
            </p:spPr>
            <p:txBody>
              <a:bodyPr anchor="ctr">
                <a:normAutofit/>
              </a:bodyPr>
              <a:lstStyle/>
              <a:p>
                <a:r>
                  <a:rPr lang="en-US" sz="1800" dirty="0">
                    <a:solidFill>
                      <a:schemeClr val="tx2"/>
                    </a:solidFill>
                    <a:latin typeface="Arial" panose="020B0604020202020204" pitchFamily="34" charset="0"/>
                    <a:cs typeface="Arial" panose="020B0604020202020204" pitchFamily="34" charset="0"/>
                  </a:rPr>
                  <a:t>The expression for the non-gravitational perturbation acceleration is:</a:t>
                </a:r>
              </a:p>
              <a:p>
                <a:endParaRPr lang="en-US" sz="1800" dirty="0">
                  <a:solidFill>
                    <a:schemeClr val="tx2"/>
                  </a:solidFill>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1800" i="1">
                              <a:solidFill>
                                <a:schemeClr val="tx2"/>
                              </a:solidFill>
                              <a:latin typeface="Cambria Math" panose="02040503050406030204" pitchFamily="18" charset="0"/>
                              <a:cs typeface="Arial" panose="020B0604020202020204" pitchFamily="34" charset="0"/>
                            </a:rPr>
                          </m:ctrlPr>
                        </m:sSubPr>
                        <m:e>
                          <m:r>
                            <a:rPr lang="en-US" sz="1800" b="1">
                              <a:solidFill>
                                <a:schemeClr val="tx2"/>
                              </a:solidFill>
                              <a:latin typeface="Cambria Math" panose="02040503050406030204" pitchFamily="18" charset="0"/>
                              <a:cs typeface="Arial" panose="020B0604020202020204" pitchFamily="34" charset="0"/>
                            </a:rPr>
                            <m:t>𝐚</m:t>
                          </m:r>
                        </m:e>
                        <m:sub>
                          <m:r>
                            <m:rPr>
                              <m:sty m:val="p"/>
                            </m:rPr>
                            <a:rPr lang="en-US" sz="1800" b="0" i="0">
                              <a:solidFill>
                                <a:schemeClr val="tx2"/>
                              </a:solidFill>
                              <a:latin typeface="Cambria Math" panose="02040503050406030204" pitchFamily="18" charset="0"/>
                              <a:cs typeface="Arial" panose="020B0604020202020204" pitchFamily="34" charset="0"/>
                            </a:rPr>
                            <m:t>pert</m:t>
                          </m:r>
                        </m:sub>
                      </m:sSub>
                      <m:r>
                        <a:rPr lang="en-US" sz="1800" b="0" i="1">
                          <a:solidFill>
                            <a:schemeClr val="tx2"/>
                          </a:solidFill>
                          <a:latin typeface="Cambria Math" panose="02040503050406030204" pitchFamily="18" charset="0"/>
                          <a:cs typeface="Arial" panose="020B0604020202020204" pitchFamily="34" charset="0"/>
                        </a:rPr>
                        <m:t>=</m:t>
                      </m:r>
                      <m:sSub>
                        <m:sSubPr>
                          <m:ctrlPr>
                            <a:rPr lang="en-US" sz="1800" i="1">
                              <a:solidFill>
                                <a:schemeClr val="tx2"/>
                              </a:solidFill>
                              <a:latin typeface="Cambria Math" panose="02040503050406030204" pitchFamily="18" charset="0"/>
                              <a:cs typeface="Arial" panose="020B0604020202020204" pitchFamily="34" charset="0"/>
                            </a:rPr>
                          </m:ctrlPr>
                        </m:sSubPr>
                        <m:e>
                          <m:r>
                            <a:rPr lang="en-US" sz="1800" b="1">
                              <a:solidFill>
                                <a:schemeClr val="tx2"/>
                              </a:solidFill>
                              <a:latin typeface="Cambria Math" panose="02040503050406030204" pitchFamily="18" charset="0"/>
                              <a:cs typeface="Arial" panose="020B0604020202020204" pitchFamily="34" charset="0"/>
                            </a:rPr>
                            <m:t>𝐚</m:t>
                          </m:r>
                        </m:e>
                        <m:sub>
                          <m:r>
                            <m:rPr>
                              <m:sty m:val="p"/>
                            </m:rPr>
                            <a:rPr lang="en-US" sz="1800" b="0" i="0">
                              <a:solidFill>
                                <a:schemeClr val="tx2"/>
                              </a:solidFill>
                              <a:latin typeface="Cambria Math" panose="02040503050406030204" pitchFamily="18" charset="0"/>
                              <a:cs typeface="Arial" panose="020B0604020202020204" pitchFamily="34" charset="0"/>
                            </a:rPr>
                            <m:t>SRP</m:t>
                          </m:r>
                        </m:sub>
                      </m:sSub>
                      <m:r>
                        <a:rPr lang="en-US" sz="1800" b="0" i="1">
                          <a:solidFill>
                            <a:schemeClr val="tx2"/>
                          </a:solidFill>
                          <a:latin typeface="Cambria Math" panose="02040503050406030204" pitchFamily="18" charset="0"/>
                          <a:cs typeface="Arial" panose="020B0604020202020204" pitchFamily="34" charset="0"/>
                        </a:rPr>
                        <m:t>+</m:t>
                      </m:r>
                      <m:sSub>
                        <m:sSubPr>
                          <m:ctrlPr>
                            <a:rPr lang="en-US" sz="1800" i="1">
                              <a:solidFill>
                                <a:schemeClr val="tx2"/>
                              </a:solidFill>
                              <a:latin typeface="Cambria Math" panose="02040503050406030204" pitchFamily="18" charset="0"/>
                              <a:cs typeface="Arial" panose="020B0604020202020204" pitchFamily="34" charset="0"/>
                            </a:rPr>
                          </m:ctrlPr>
                        </m:sSubPr>
                        <m:e>
                          <m:r>
                            <a:rPr lang="en-US" sz="1800" b="1">
                              <a:solidFill>
                                <a:schemeClr val="tx2"/>
                              </a:solidFill>
                              <a:latin typeface="Cambria Math" panose="02040503050406030204" pitchFamily="18" charset="0"/>
                              <a:cs typeface="Arial" panose="020B0604020202020204" pitchFamily="34" charset="0"/>
                            </a:rPr>
                            <m:t>𝐚</m:t>
                          </m:r>
                        </m:e>
                        <m:sub>
                          <m:r>
                            <m:rPr>
                              <m:sty m:val="p"/>
                            </m:rPr>
                            <a:rPr lang="en-US" sz="1800" b="0" i="0">
                              <a:solidFill>
                                <a:schemeClr val="tx2"/>
                              </a:solidFill>
                              <a:latin typeface="Cambria Math" panose="02040503050406030204" pitchFamily="18" charset="0"/>
                              <a:cs typeface="Arial" panose="020B0604020202020204" pitchFamily="34" charset="0"/>
                            </a:rPr>
                            <m:t>d</m:t>
                          </m:r>
                        </m:sub>
                      </m:sSub>
                      <m:r>
                        <a:rPr lang="en-US" sz="1800" b="0" i="1">
                          <a:solidFill>
                            <a:schemeClr val="tx2"/>
                          </a:solidFill>
                          <a:latin typeface="Cambria Math" panose="02040503050406030204" pitchFamily="18" charset="0"/>
                          <a:cs typeface="Arial" panose="020B0604020202020204" pitchFamily="34" charset="0"/>
                        </a:rPr>
                        <m:t>+</m:t>
                      </m:r>
                      <m:sSub>
                        <m:sSubPr>
                          <m:ctrlPr>
                            <a:rPr lang="en-US" sz="1800" i="1">
                              <a:solidFill>
                                <a:schemeClr val="tx2"/>
                              </a:solidFill>
                              <a:latin typeface="Cambria Math" panose="02040503050406030204" pitchFamily="18" charset="0"/>
                              <a:cs typeface="Arial" panose="020B0604020202020204" pitchFamily="34" charset="0"/>
                            </a:rPr>
                          </m:ctrlPr>
                        </m:sSubPr>
                        <m:e>
                          <m:r>
                            <a:rPr lang="en-US" sz="1800" b="1">
                              <a:solidFill>
                                <a:schemeClr val="tx2"/>
                              </a:solidFill>
                              <a:latin typeface="Cambria Math" panose="02040503050406030204" pitchFamily="18" charset="0"/>
                              <a:cs typeface="Arial" panose="020B0604020202020204" pitchFamily="34" charset="0"/>
                            </a:rPr>
                            <m:t>𝐚</m:t>
                          </m:r>
                        </m:e>
                        <m:sub>
                          <m:r>
                            <m:rPr>
                              <m:sty m:val="p"/>
                            </m:rPr>
                            <a:rPr lang="en-US" sz="1800" b="0" i="0">
                              <a:solidFill>
                                <a:schemeClr val="tx2"/>
                              </a:solidFill>
                              <a:latin typeface="Cambria Math" panose="02040503050406030204" pitchFamily="18" charset="0"/>
                              <a:cs typeface="Arial" panose="020B0604020202020204" pitchFamily="34" charset="0"/>
                            </a:rPr>
                            <m:t>EM</m:t>
                          </m:r>
                        </m:sub>
                      </m:sSub>
                    </m:oMath>
                  </m:oMathPara>
                </a14:m>
                <a:endParaRPr lang="en-US" sz="1800" dirty="0">
                  <a:solidFill>
                    <a:schemeClr val="tx2"/>
                  </a:solidFill>
                  <a:latin typeface="Arial" panose="020B0604020202020204" pitchFamily="34" charset="0"/>
                  <a:cs typeface="Arial" panose="020B0604020202020204" pitchFamily="34" charset="0"/>
                </a:endParaRPr>
              </a:p>
              <a:p>
                <a:pPr lvl="1">
                  <a:buFont typeface="Wingdings" panose="05000000000000000000" pitchFamily="2" charset="2"/>
                  <a:buChar char="§"/>
                </a:pPr>
                <a:endParaRPr lang="en-US" sz="1800" dirty="0">
                  <a:solidFill>
                    <a:schemeClr val="tx2"/>
                  </a:solidFill>
                  <a:latin typeface="Arial" panose="020B0604020202020204" pitchFamily="34" charset="0"/>
                  <a:cs typeface="Arial" panose="020B0604020202020204" pitchFamily="34" charset="0"/>
                </a:endParaRPr>
              </a:p>
              <a:p>
                <a:pPr lvl="1">
                  <a:buFont typeface="Wingdings" panose="05000000000000000000" pitchFamily="2" charset="2"/>
                  <a:buChar char="§"/>
                </a:pPr>
                <a:r>
                  <a:rPr lang="en-US" sz="1800" dirty="0">
                    <a:solidFill>
                      <a:schemeClr val="tx2"/>
                    </a:solidFill>
                    <a:latin typeface="Arial" panose="020B0604020202020204" pitchFamily="34" charset="0"/>
                    <a:cs typeface="Arial" panose="020B0604020202020204" pitchFamily="34" charset="0"/>
                  </a:rPr>
                  <a:t>SRP: solar radiation pressure</a:t>
                </a:r>
              </a:p>
              <a:p>
                <a:pPr lvl="1">
                  <a:buFont typeface="Wingdings" panose="05000000000000000000" pitchFamily="2" charset="2"/>
                  <a:buChar char="§"/>
                </a:pPr>
                <a:r>
                  <a:rPr lang="en-US" sz="1800" dirty="0">
                    <a:solidFill>
                      <a:schemeClr val="tx2"/>
                    </a:solidFill>
                    <a:latin typeface="Arial" panose="020B0604020202020204" pitchFamily="34" charset="0"/>
                    <a:cs typeface="Arial" panose="020B0604020202020204" pitchFamily="34" charset="0"/>
                  </a:rPr>
                  <a:t>d: drag</a:t>
                </a:r>
              </a:p>
              <a:p>
                <a:pPr lvl="1">
                  <a:buFont typeface="Wingdings" panose="05000000000000000000" pitchFamily="2" charset="2"/>
                  <a:buChar char="§"/>
                </a:pPr>
                <a:r>
                  <a:rPr lang="en-US" sz="1800" dirty="0">
                    <a:solidFill>
                      <a:schemeClr val="tx2"/>
                    </a:solidFill>
                    <a:latin typeface="Arial" panose="020B0604020202020204" pitchFamily="34" charset="0"/>
                    <a:cs typeface="Arial" panose="020B0604020202020204" pitchFamily="34" charset="0"/>
                  </a:rPr>
                  <a:t>EM: electromagnetic (neglected)</a:t>
                </a:r>
              </a:p>
            </p:txBody>
          </p:sp>
        </mc:Choice>
        <mc:Fallback xmlns="">
          <p:sp>
            <p:nvSpPr>
              <p:cNvPr id="3" name="Content Placeholder 2">
                <a:extLst>
                  <a:ext uri="{FF2B5EF4-FFF2-40B4-BE49-F238E27FC236}">
                    <a16:creationId xmlns:a16="http://schemas.microsoft.com/office/drawing/2014/main" id="{5B515636-0633-31B5-AEF2-69DF5D413080}"/>
                  </a:ext>
                </a:extLst>
              </p:cNvPr>
              <p:cNvSpPr>
                <a:spLocks noGrp="1" noRot="1" noChangeAspect="1" noMove="1" noResize="1" noEditPoints="1" noAdjustHandles="1" noChangeArrowheads="1" noChangeShapeType="1" noTextEdit="1"/>
              </p:cNvSpPr>
              <p:nvPr>
                <p:ph idx="1"/>
              </p:nvPr>
            </p:nvSpPr>
            <p:spPr>
              <a:xfrm>
                <a:off x="804672" y="2421682"/>
                <a:ext cx="4977578" cy="3639289"/>
              </a:xfrm>
              <a:blipFill>
                <a:blip r:embed="rId2"/>
                <a:stretch>
                  <a:fillRect l="-734"/>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23" name="Freeform: Shape 22">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Graphic 25" descr="Moon">
            <a:extLst>
              <a:ext uri="{FF2B5EF4-FFF2-40B4-BE49-F238E27FC236}">
                <a16:creationId xmlns:a16="http://schemas.microsoft.com/office/drawing/2014/main" id="{4484F7C6-9B74-5BF4-4AC1-1D919EBC1A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1726" y="1629089"/>
            <a:ext cx="3620021" cy="3620021"/>
          </a:xfrm>
          <a:prstGeom prst="rect">
            <a:avLst/>
          </a:prstGeom>
        </p:spPr>
      </p:pic>
      <p:sp>
        <p:nvSpPr>
          <p:cNvPr id="4" name="Slide Number Placeholder 3">
            <a:extLst>
              <a:ext uri="{FF2B5EF4-FFF2-40B4-BE49-F238E27FC236}">
                <a16:creationId xmlns:a16="http://schemas.microsoft.com/office/drawing/2014/main" id="{716FBDB9-F63C-65D1-5DED-C80D110C0CF4}"/>
              </a:ext>
            </a:extLst>
          </p:cNvPr>
          <p:cNvSpPr>
            <a:spLocks noGrp="1"/>
          </p:cNvSpPr>
          <p:nvPr>
            <p:ph type="sldNum" sz="quarter" idx="12"/>
          </p:nvPr>
        </p:nvSpPr>
        <p:spPr>
          <a:xfrm>
            <a:off x="8610600" y="6356350"/>
            <a:ext cx="2743200" cy="365125"/>
          </a:xfrm>
        </p:spPr>
        <p:txBody>
          <a:bodyPr>
            <a:normAutofit/>
          </a:bodyPr>
          <a:lstStyle/>
          <a:p>
            <a:pPr>
              <a:spcAft>
                <a:spcPts val="600"/>
              </a:spcAft>
            </a:pPr>
            <a:fld id="{FFA44557-6723-474F-8BC8-E80F4E6DF2E8}" type="slidenum">
              <a:rPr lang="en-US" smtClean="0"/>
              <a:pPr>
                <a:spcAft>
                  <a:spcPts val="600"/>
                </a:spcAft>
              </a:pPr>
              <a:t>22</a:t>
            </a:fld>
            <a:endParaRPr lang="en-US"/>
          </a:p>
        </p:txBody>
      </p:sp>
    </p:spTree>
    <p:extLst>
      <p:ext uri="{BB962C8B-B14F-4D97-AF65-F5344CB8AC3E}">
        <p14:creationId xmlns:p14="http://schemas.microsoft.com/office/powerpoint/2010/main" val="2051821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4BCC69-C144-291D-9D7A-C3A659BE65D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ACB7F413-2957-ADAD-6710-B395C77798D0}"/>
              </a:ext>
            </a:extLst>
          </p:cNvPr>
          <p:cNvSpPr>
            <a:spLocks noGrp="1"/>
          </p:cNvSpPr>
          <p:nvPr>
            <p:ph type="title"/>
          </p:nvPr>
        </p:nvSpPr>
        <p:spPr>
          <a:xfrm>
            <a:off x="1179226" y="1594707"/>
            <a:ext cx="9833548" cy="1325563"/>
          </a:xfrm>
        </p:spPr>
        <p:txBody>
          <a:bodyPr anchor="b">
            <a:normAutofit/>
          </a:bodyPr>
          <a:lstStyle/>
          <a:p>
            <a:pPr algn="ctr"/>
            <a:r>
              <a:rPr lang="en-US" sz="3600" dirty="0">
                <a:solidFill>
                  <a:schemeClr val="tx2"/>
                </a:solidFill>
                <a:latin typeface="Arial Bold" panose="020B0704020202020204" pitchFamily="34" charset="0"/>
                <a:cs typeface="Arial Bold" panose="020B0704020202020204" pitchFamily="34" charset="0"/>
              </a:rPr>
              <a:t>Perturbation Impact on Dispersion</a:t>
            </a:r>
          </a:p>
        </p:txBody>
      </p:sp>
      <p:grpSp>
        <p:nvGrpSpPr>
          <p:cNvPr id="13" name="Group 12">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4" name="Freeform: Shape 13">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93B5C8F-3F12-016C-310E-AEA045AA968D}"/>
                  </a:ext>
                </a:extLst>
              </p:cNvPr>
              <p:cNvSpPr>
                <a:spLocks noGrp="1"/>
              </p:cNvSpPr>
              <p:nvPr>
                <p:ph idx="1"/>
              </p:nvPr>
            </p:nvSpPr>
            <p:spPr>
              <a:xfrm>
                <a:off x="1179226" y="3329677"/>
                <a:ext cx="9833548" cy="2457269"/>
              </a:xfrm>
            </p:spPr>
            <p:txBody>
              <a:bodyPr>
                <a:normAutofit/>
              </a:bodyPr>
              <a:lstStyle/>
              <a:p>
                <a:r>
                  <a:rPr lang="en-US" sz="1800" dirty="0">
                    <a:solidFill>
                      <a:schemeClr val="tx2"/>
                    </a:solidFill>
                    <a:latin typeface="Arial" panose="020B0604020202020204" pitchFamily="34" charset="0"/>
                    <a:cs typeface="Arial" panose="020B0604020202020204" pitchFamily="34" charset="0"/>
                  </a:rPr>
                  <a:t>The spatial distribution is affected by SRP forces such that:</a:t>
                </a:r>
              </a:p>
              <a:p>
                <a:endParaRPr lang="en-US" sz="100" dirty="0">
                  <a:solidFill>
                    <a:schemeClr val="tx2"/>
                  </a:solidFill>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sz="1800" b="0" i="1">
                          <a:solidFill>
                            <a:schemeClr val="tx2"/>
                          </a:solidFill>
                          <a:latin typeface="Cambria Math" panose="02040503050406030204" pitchFamily="18" charset="0"/>
                          <a:cs typeface="Arial" panose="020B0604020202020204" pitchFamily="34" charset="0"/>
                        </a:rPr>
                        <m:t>𝜎</m:t>
                      </m:r>
                      <m:d>
                        <m:dPr>
                          <m:ctrlPr>
                            <a:rPr lang="en-US" sz="1800" b="0" i="1">
                              <a:solidFill>
                                <a:schemeClr val="tx2"/>
                              </a:solidFill>
                              <a:latin typeface="Cambria Math" panose="02040503050406030204" pitchFamily="18" charset="0"/>
                              <a:cs typeface="Arial" panose="020B0604020202020204" pitchFamily="34" charset="0"/>
                            </a:rPr>
                          </m:ctrlPr>
                        </m:dPr>
                        <m:e>
                          <m:sSub>
                            <m:sSubPr>
                              <m:ctrlPr>
                                <a:rPr lang="en-US" sz="1800" b="0" i="1">
                                  <a:solidFill>
                                    <a:schemeClr val="tx2"/>
                                  </a:solidFill>
                                  <a:latin typeface="Cambria Math" panose="02040503050406030204" pitchFamily="18" charset="0"/>
                                  <a:cs typeface="Arial" panose="020B0604020202020204" pitchFamily="34" charset="0"/>
                                </a:rPr>
                              </m:ctrlPr>
                            </m:sSubPr>
                            <m:e>
                              <m:r>
                                <a:rPr lang="en-US" sz="1800" b="0" i="1">
                                  <a:solidFill>
                                    <a:schemeClr val="tx2"/>
                                  </a:solidFill>
                                  <a:latin typeface="Cambria Math" panose="02040503050406030204" pitchFamily="18" charset="0"/>
                                  <a:cs typeface="Arial" panose="020B0604020202020204" pitchFamily="34" charset="0"/>
                                </a:rPr>
                                <m:t>𝐿</m:t>
                              </m:r>
                            </m:e>
                            <m:sub>
                              <m:r>
                                <m:rPr>
                                  <m:sty m:val="p"/>
                                </m:rPr>
                                <a:rPr lang="en-US" sz="1800" b="0" i="0">
                                  <a:solidFill>
                                    <a:schemeClr val="tx2"/>
                                  </a:solidFill>
                                  <a:latin typeface="Cambria Math" panose="02040503050406030204" pitchFamily="18" charset="0"/>
                                  <a:cs typeface="Arial" panose="020B0604020202020204" pitchFamily="34" charset="0"/>
                                </a:rPr>
                                <m:t>c</m:t>
                              </m:r>
                            </m:sub>
                          </m:sSub>
                          <m:r>
                            <a:rPr lang="en-US" sz="1800" b="0" i="1">
                              <a:solidFill>
                                <a:schemeClr val="tx2"/>
                              </a:solidFill>
                              <a:latin typeface="Cambria Math" panose="02040503050406030204" pitchFamily="18" charset="0"/>
                              <a:cs typeface="Arial" panose="020B0604020202020204" pitchFamily="34" charset="0"/>
                            </a:rPr>
                            <m:t>,</m:t>
                          </m:r>
                          <m:r>
                            <a:rPr lang="en-US" sz="1800" b="0" i="1">
                              <a:solidFill>
                                <a:schemeClr val="tx2"/>
                              </a:solidFill>
                              <a:latin typeface="Cambria Math" panose="02040503050406030204" pitchFamily="18" charset="0"/>
                              <a:cs typeface="Arial" panose="020B0604020202020204" pitchFamily="34" charset="0"/>
                            </a:rPr>
                            <m:t>𝑡</m:t>
                          </m:r>
                        </m:e>
                      </m:d>
                      <m:r>
                        <a:rPr lang="en-US" sz="1800" b="0" i="1">
                          <a:solidFill>
                            <a:schemeClr val="tx2"/>
                          </a:solidFill>
                          <a:latin typeface="Cambria Math" panose="02040503050406030204" pitchFamily="18" charset="0"/>
                          <a:cs typeface="Arial" panose="020B0604020202020204" pitchFamily="34" charset="0"/>
                        </a:rPr>
                        <m:t>=</m:t>
                      </m:r>
                      <m:r>
                        <a:rPr lang="en-US" sz="1800" b="0" i="1">
                          <a:solidFill>
                            <a:schemeClr val="tx2"/>
                          </a:solidFill>
                          <a:latin typeface="Cambria Math" panose="02040503050406030204" pitchFamily="18" charset="0"/>
                          <a:cs typeface="Arial" panose="020B0604020202020204" pitchFamily="34" charset="0"/>
                        </a:rPr>
                        <m:t>𝜎</m:t>
                      </m:r>
                      <m:d>
                        <m:dPr>
                          <m:ctrlPr>
                            <a:rPr lang="en-US" sz="1800" b="0" i="1">
                              <a:solidFill>
                                <a:schemeClr val="tx2"/>
                              </a:solidFill>
                              <a:latin typeface="Cambria Math" panose="02040503050406030204" pitchFamily="18" charset="0"/>
                              <a:cs typeface="Arial" panose="020B0604020202020204" pitchFamily="34" charset="0"/>
                            </a:rPr>
                          </m:ctrlPr>
                        </m:dPr>
                        <m:e>
                          <m:sSub>
                            <m:sSubPr>
                              <m:ctrlPr>
                                <a:rPr lang="en-US" sz="1800" b="0" i="1">
                                  <a:solidFill>
                                    <a:schemeClr val="tx2"/>
                                  </a:solidFill>
                                  <a:latin typeface="Cambria Math" panose="02040503050406030204" pitchFamily="18" charset="0"/>
                                  <a:cs typeface="Arial" panose="020B0604020202020204" pitchFamily="34" charset="0"/>
                                </a:rPr>
                              </m:ctrlPr>
                            </m:sSubPr>
                            <m:e>
                              <m:r>
                                <a:rPr lang="en-US" sz="1800" b="0" i="1">
                                  <a:solidFill>
                                    <a:schemeClr val="tx2"/>
                                  </a:solidFill>
                                  <a:latin typeface="Cambria Math" panose="02040503050406030204" pitchFamily="18" charset="0"/>
                                  <a:cs typeface="Arial" panose="020B0604020202020204" pitchFamily="34" charset="0"/>
                                </a:rPr>
                                <m:t>𝐿</m:t>
                              </m:r>
                            </m:e>
                            <m:sub>
                              <m:r>
                                <m:rPr>
                                  <m:sty m:val="p"/>
                                </m:rPr>
                                <a:rPr lang="en-US" sz="1800" b="0" i="0">
                                  <a:solidFill>
                                    <a:schemeClr val="tx2"/>
                                  </a:solidFill>
                                  <a:latin typeface="Cambria Math" panose="02040503050406030204" pitchFamily="18" charset="0"/>
                                  <a:cs typeface="Arial" panose="020B0604020202020204" pitchFamily="34" charset="0"/>
                                </a:rPr>
                                <m:t>c</m:t>
                              </m:r>
                            </m:sub>
                          </m:sSub>
                          <m:r>
                            <a:rPr lang="en-US" sz="1800" b="0" i="1">
                              <a:solidFill>
                                <a:schemeClr val="tx2"/>
                              </a:solidFill>
                              <a:latin typeface="Cambria Math" panose="02040503050406030204" pitchFamily="18" charset="0"/>
                              <a:cs typeface="Arial" panose="020B0604020202020204" pitchFamily="34" charset="0"/>
                            </a:rPr>
                            <m:t>,0</m:t>
                          </m:r>
                        </m:e>
                      </m:d>
                      <m:r>
                        <a:rPr lang="en-US" sz="1800" b="0" i="1">
                          <a:solidFill>
                            <a:schemeClr val="tx2"/>
                          </a:solidFill>
                          <a:latin typeface="Cambria Math" panose="02040503050406030204" pitchFamily="18" charset="0"/>
                          <a:cs typeface="Arial" panose="020B0604020202020204" pitchFamily="34" charset="0"/>
                        </a:rPr>
                        <m:t>+</m:t>
                      </m:r>
                      <m:r>
                        <a:rPr lang="en-US" sz="1800" b="0" i="1">
                          <a:solidFill>
                            <a:schemeClr val="tx2"/>
                          </a:solidFill>
                          <a:latin typeface="Cambria Math" panose="02040503050406030204" pitchFamily="18" charset="0"/>
                          <a:cs typeface="Arial" panose="020B0604020202020204" pitchFamily="34" charset="0"/>
                        </a:rPr>
                        <m:t>𝛾</m:t>
                      </m:r>
                      <m:r>
                        <a:rPr lang="en-US" sz="1800" b="0" i="1">
                          <a:solidFill>
                            <a:schemeClr val="tx2"/>
                          </a:solidFill>
                          <a:latin typeface="Cambria Math" panose="02040503050406030204" pitchFamily="18" charset="0"/>
                          <a:cs typeface="Arial" panose="020B0604020202020204" pitchFamily="34" charset="0"/>
                        </a:rPr>
                        <m:t>𝑡</m:t>
                      </m:r>
                      <m:sSubSup>
                        <m:sSubSupPr>
                          <m:ctrlPr>
                            <a:rPr lang="en-US" sz="1800" b="0" i="1">
                              <a:solidFill>
                                <a:schemeClr val="tx2"/>
                              </a:solidFill>
                              <a:latin typeface="Cambria Math" panose="02040503050406030204" pitchFamily="18" charset="0"/>
                              <a:cs typeface="Arial" panose="020B0604020202020204" pitchFamily="34" charset="0"/>
                            </a:rPr>
                          </m:ctrlPr>
                        </m:sSubSupPr>
                        <m:e>
                          <m:r>
                            <a:rPr lang="en-US" sz="1800" b="0" i="1">
                              <a:solidFill>
                                <a:schemeClr val="tx2"/>
                              </a:solidFill>
                              <a:latin typeface="Cambria Math" panose="02040503050406030204" pitchFamily="18" charset="0"/>
                              <a:cs typeface="Arial" panose="020B0604020202020204" pitchFamily="34" charset="0"/>
                            </a:rPr>
                            <m:t>𝐿</m:t>
                          </m:r>
                        </m:e>
                        <m:sub>
                          <m:r>
                            <m:rPr>
                              <m:sty m:val="p"/>
                            </m:rPr>
                            <a:rPr lang="en-US" sz="1800" b="0" i="0">
                              <a:solidFill>
                                <a:schemeClr val="tx2"/>
                              </a:solidFill>
                              <a:latin typeface="Cambria Math" panose="02040503050406030204" pitchFamily="18" charset="0"/>
                              <a:cs typeface="Arial" panose="020B0604020202020204" pitchFamily="34" charset="0"/>
                            </a:rPr>
                            <m:t>c</m:t>
                          </m:r>
                        </m:sub>
                        <m:sup>
                          <m:r>
                            <a:rPr lang="en-US" sz="1800" b="0" i="1">
                              <a:solidFill>
                                <a:schemeClr val="tx2"/>
                              </a:solidFill>
                              <a:latin typeface="Cambria Math" panose="02040503050406030204" pitchFamily="18" charset="0"/>
                              <a:cs typeface="Arial" panose="020B0604020202020204" pitchFamily="34" charset="0"/>
                            </a:rPr>
                            <m:t>−</m:t>
                          </m:r>
                          <m:r>
                            <a:rPr lang="en-US" sz="1800" b="0" i="1">
                              <a:solidFill>
                                <a:schemeClr val="tx2"/>
                              </a:solidFill>
                              <a:latin typeface="Cambria Math" panose="02040503050406030204" pitchFamily="18" charset="0"/>
                              <a:cs typeface="Arial" panose="020B0604020202020204" pitchFamily="34" charset="0"/>
                            </a:rPr>
                            <m:t>𝛼</m:t>
                          </m:r>
                        </m:sup>
                      </m:sSubSup>
                    </m:oMath>
                  </m:oMathPara>
                </a14:m>
                <a:endParaRPr lang="en-US" sz="1800" dirty="0">
                  <a:solidFill>
                    <a:schemeClr val="tx2"/>
                  </a:solidFill>
                  <a:latin typeface="Arial" panose="020B0604020202020204" pitchFamily="34" charset="0"/>
                  <a:cs typeface="Arial" panose="020B0604020202020204" pitchFamily="34" charset="0"/>
                </a:endParaRPr>
              </a:p>
              <a:p>
                <a:pPr marL="0" indent="0">
                  <a:buNone/>
                </a:pPr>
                <a:r>
                  <a:rPr lang="en-US" sz="1800" dirty="0">
                    <a:solidFill>
                      <a:schemeClr val="tx2"/>
                    </a:solidFill>
                    <a:latin typeface="Arial" panose="020B0604020202020204" pitchFamily="34" charset="0"/>
                    <a:cs typeface="Arial" panose="020B0604020202020204" pitchFamily="34" charset="0"/>
                  </a:rPr>
                  <a:t>    where </a:t>
                </a:r>
                <a14:m>
                  <m:oMath xmlns:m="http://schemas.openxmlformats.org/officeDocument/2006/math">
                    <m:r>
                      <a:rPr lang="en-US" sz="1800" b="0" i="1">
                        <a:solidFill>
                          <a:schemeClr val="tx2"/>
                        </a:solidFill>
                        <a:latin typeface="Cambria Math" panose="02040503050406030204" pitchFamily="18" charset="0"/>
                        <a:cs typeface="Arial" panose="020B0604020202020204" pitchFamily="34" charset="0"/>
                      </a:rPr>
                      <m:t>𝛾</m:t>
                    </m:r>
                  </m:oMath>
                </a14:m>
                <a:r>
                  <a:rPr lang="en-US" sz="1800" dirty="0">
                    <a:solidFill>
                      <a:schemeClr val="tx2"/>
                    </a:solidFill>
                    <a:latin typeface="Arial" panose="020B0604020202020204" pitchFamily="34" charset="0"/>
                    <a:cs typeface="Arial" panose="020B0604020202020204" pitchFamily="34" charset="0"/>
                  </a:rPr>
                  <a:t> is an empirical parameter.</a:t>
                </a:r>
              </a:p>
              <a:p>
                <a:pPr marL="0" indent="0">
                  <a:buNone/>
                </a:pPr>
                <a:endParaRPr lang="en-US" sz="1800" dirty="0">
                  <a:solidFill>
                    <a:schemeClr val="tx2"/>
                  </a:solidFill>
                  <a:latin typeface="Arial" panose="020B0604020202020204" pitchFamily="34" charset="0"/>
                  <a:cs typeface="Arial" panose="020B0604020202020204" pitchFamily="34" charset="0"/>
                </a:endParaRPr>
              </a:p>
              <a:p>
                <a:r>
                  <a:rPr lang="en-US" sz="1800" dirty="0">
                    <a:solidFill>
                      <a:schemeClr val="tx2"/>
                    </a:solidFill>
                    <a:latin typeface="Arial" panose="020B0604020202020204" pitchFamily="34" charset="0"/>
                    <a:cs typeface="Arial" panose="020B0604020202020204" pitchFamily="34" charset="0"/>
                  </a:rPr>
                  <a:t>The peak radial position, </a:t>
                </a:r>
                <a14:m>
                  <m:oMath xmlns:m="http://schemas.openxmlformats.org/officeDocument/2006/math">
                    <m:r>
                      <a:rPr lang="en-US" sz="1800" b="0" i="1">
                        <a:solidFill>
                          <a:schemeClr val="tx2"/>
                        </a:solidFill>
                        <a:latin typeface="Cambria Math" panose="02040503050406030204" pitchFamily="18" charset="0"/>
                        <a:cs typeface="Arial" panose="020B0604020202020204" pitchFamily="34" charset="0"/>
                      </a:rPr>
                      <m:t>𝜇</m:t>
                    </m:r>
                  </m:oMath>
                </a14:m>
                <a:r>
                  <a:rPr lang="en-US" sz="1800" dirty="0">
                    <a:solidFill>
                      <a:schemeClr val="tx2"/>
                    </a:solidFill>
                    <a:latin typeface="Arial" panose="020B0604020202020204" pitchFamily="34" charset="0"/>
                    <a:cs typeface="Arial" panose="020B0604020202020204" pitchFamily="34" charset="0"/>
                  </a:rPr>
                  <a:t>, is unaffected by perturbations for short timescales.</a:t>
                </a:r>
              </a:p>
            </p:txBody>
          </p:sp>
        </mc:Choice>
        <mc:Fallback>
          <p:sp>
            <p:nvSpPr>
              <p:cNvPr id="3" name="Content Placeholder 2">
                <a:extLst>
                  <a:ext uri="{FF2B5EF4-FFF2-40B4-BE49-F238E27FC236}">
                    <a16:creationId xmlns:a16="http://schemas.microsoft.com/office/drawing/2014/main" id="{293B5C8F-3F12-016C-310E-AEA045AA968D}"/>
                  </a:ext>
                </a:extLst>
              </p:cNvPr>
              <p:cNvSpPr>
                <a:spLocks noGrp="1" noRot="1" noChangeAspect="1" noMove="1" noResize="1" noEditPoints="1" noAdjustHandles="1" noChangeArrowheads="1" noChangeShapeType="1" noTextEdit="1"/>
              </p:cNvSpPr>
              <p:nvPr>
                <p:ph idx="1"/>
              </p:nvPr>
            </p:nvSpPr>
            <p:spPr>
              <a:xfrm>
                <a:off x="1179226" y="3329677"/>
                <a:ext cx="9833548" cy="2457269"/>
              </a:xfrm>
              <a:blipFill>
                <a:blip r:embed="rId2"/>
                <a:stretch>
                  <a:fillRect l="-372" t="-223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F817BB4-CCFF-6283-0BDE-BC93A7633CDD}"/>
              </a:ext>
            </a:extLst>
          </p:cNvPr>
          <p:cNvSpPr>
            <a:spLocks noGrp="1"/>
          </p:cNvSpPr>
          <p:nvPr>
            <p:ph type="sldNum" sz="quarter" idx="12"/>
          </p:nvPr>
        </p:nvSpPr>
        <p:spPr>
          <a:xfrm>
            <a:off x="8610600" y="6356350"/>
            <a:ext cx="2743200" cy="365125"/>
          </a:xfrm>
        </p:spPr>
        <p:txBody>
          <a:bodyPr>
            <a:normAutofit/>
          </a:bodyPr>
          <a:lstStyle/>
          <a:p>
            <a:pPr>
              <a:spcAft>
                <a:spcPts val="600"/>
              </a:spcAft>
            </a:pPr>
            <a:fld id="{FFA44557-6723-474F-8BC8-E80F4E6DF2E8}" type="slidenum">
              <a:rPr lang="en-US" smtClean="0"/>
              <a:pPr>
                <a:spcAft>
                  <a:spcPts val="600"/>
                </a:spcAft>
              </a:pPr>
              <a:t>23</a:t>
            </a:fld>
            <a:endParaRPr lang="en-US"/>
          </a:p>
        </p:txBody>
      </p:sp>
      <p:grpSp>
        <p:nvGrpSpPr>
          <p:cNvPr id="19" name="Group 18">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20" name="Freeform: Shape 19">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51790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0B8D98-CA6D-4834-D1C0-59CD3E3FE16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317F63-82C0-B4A3-A465-1006B667FB85}"/>
              </a:ext>
            </a:extLst>
          </p:cNvPr>
          <p:cNvSpPr>
            <a:spLocks noGrp="1"/>
          </p:cNvSpPr>
          <p:nvPr>
            <p:ph type="title"/>
          </p:nvPr>
        </p:nvSpPr>
        <p:spPr>
          <a:xfrm>
            <a:off x="1285240" y="1050595"/>
            <a:ext cx="8074815" cy="1618489"/>
          </a:xfrm>
        </p:spPr>
        <p:txBody>
          <a:bodyPr anchor="ctr">
            <a:normAutofit/>
          </a:bodyPr>
          <a:lstStyle/>
          <a:p>
            <a:r>
              <a:rPr lang="en-US" sz="5000" dirty="0">
                <a:latin typeface="Arial Bold" panose="020B0704020202020204" pitchFamily="34" charset="0"/>
                <a:cs typeface="Arial Bold" panose="020B0704020202020204" pitchFamily="34" charset="0"/>
              </a:rPr>
              <a:t>Final Mass Density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48A838-A504-DF83-1E3D-AD59C5A49EDE}"/>
                  </a:ext>
                </a:extLst>
              </p:cNvPr>
              <p:cNvSpPr>
                <a:spLocks noGrp="1"/>
              </p:cNvSpPr>
              <p:nvPr>
                <p:ph idx="1"/>
              </p:nvPr>
            </p:nvSpPr>
            <p:spPr>
              <a:xfrm>
                <a:off x="1285240" y="2969469"/>
                <a:ext cx="8074815" cy="2800395"/>
              </a:xfrm>
            </p:spPr>
            <p:txBody>
              <a:bodyPr anchor="t">
                <a:normAutofit/>
              </a:bodyPr>
              <a:lstStyle/>
              <a:p>
                <a:r>
                  <a:rPr lang="en-US" sz="2400" dirty="0">
                    <a:latin typeface="Arial" panose="020B0604020202020204" pitchFamily="34" charset="0"/>
                    <a:cs typeface="Arial" panose="020B0604020202020204" pitchFamily="34" charset="0"/>
                  </a:rPr>
                  <a:t>The Gaussian distribution function with all its mapping is:</a:t>
                </a:r>
              </a:p>
              <a:p>
                <a:endParaRPr lang="en-US" sz="240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cs typeface="Arial" panose="020B0604020202020204" pitchFamily="34" charset="0"/>
                        </a:rPr>
                        <m:t>𝜌</m:t>
                      </m:r>
                      <m:d>
                        <m:dPr>
                          <m:ctrlPr>
                            <a:rPr lang="en-US" sz="2400" b="0" i="1">
                              <a:latin typeface="Cambria Math" panose="02040503050406030204" pitchFamily="18" charset="0"/>
                              <a:cs typeface="Arial" panose="020B0604020202020204" pitchFamily="34" charset="0"/>
                            </a:rPr>
                          </m:ctrlPr>
                        </m:dPr>
                        <m:e>
                          <m:r>
                            <a:rPr lang="en-US" sz="2400" b="0" i="1">
                              <a:latin typeface="Cambria Math" panose="02040503050406030204" pitchFamily="18" charset="0"/>
                              <a:cs typeface="Arial" panose="020B0604020202020204" pitchFamily="34" charset="0"/>
                            </a:rPr>
                            <m:t>𝑟</m:t>
                          </m:r>
                          <m:r>
                            <a:rPr lang="en-US" sz="2400" b="0" i="1">
                              <a:latin typeface="Cambria Math" panose="02040503050406030204" pitchFamily="18" charset="0"/>
                              <a:cs typeface="Arial" panose="020B0604020202020204" pitchFamily="34" charset="0"/>
                            </a:rPr>
                            <m:t>, </m:t>
                          </m:r>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𝐿</m:t>
                              </m:r>
                            </m:e>
                            <m:sub>
                              <m:r>
                                <m:rPr>
                                  <m:sty m:val="p"/>
                                </m:rPr>
                                <a:rPr lang="en-US" sz="2400" b="0" i="0">
                                  <a:latin typeface="Cambria Math" panose="02040503050406030204" pitchFamily="18" charset="0"/>
                                  <a:cs typeface="Arial" panose="020B0604020202020204" pitchFamily="34" charset="0"/>
                                </a:rPr>
                                <m:t>c</m:t>
                              </m:r>
                            </m:sub>
                          </m:sSub>
                          <m:r>
                            <a:rPr lang="en-US" sz="2400" b="0" i="1">
                              <a:latin typeface="Cambria Math" panose="02040503050406030204" pitchFamily="18" charset="0"/>
                              <a:cs typeface="Arial" panose="020B0604020202020204" pitchFamily="34" charset="0"/>
                            </a:rPr>
                            <m:t>, </m:t>
                          </m:r>
                          <m:r>
                            <a:rPr lang="en-US" sz="2400" b="0" i="1">
                              <a:latin typeface="Cambria Math" panose="02040503050406030204" pitchFamily="18" charset="0"/>
                              <a:cs typeface="Arial" panose="020B0604020202020204" pitchFamily="34" charset="0"/>
                            </a:rPr>
                            <m:t>𝑡</m:t>
                          </m:r>
                        </m:e>
                      </m:d>
                      <m:r>
                        <a:rPr lang="en-US" sz="2400" b="0" i="1">
                          <a:latin typeface="Cambria Math" panose="02040503050406030204" pitchFamily="18" charset="0"/>
                          <a:cs typeface="Arial" panose="020B0604020202020204" pitchFamily="34" charset="0"/>
                        </a:rPr>
                        <m:t>=</m:t>
                      </m:r>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𝜌</m:t>
                          </m:r>
                        </m:e>
                        <m:sub>
                          <m:r>
                            <a:rPr lang="en-US" sz="2400" b="0" i="1">
                              <a:latin typeface="Cambria Math" panose="02040503050406030204" pitchFamily="18" charset="0"/>
                              <a:cs typeface="Arial" panose="020B0604020202020204" pitchFamily="34" charset="0"/>
                            </a:rPr>
                            <m:t>0</m:t>
                          </m:r>
                        </m:sub>
                      </m:sSub>
                      <m:d>
                        <m:dPr>
                          <m:ctrlPr>
                            <a:rPr lang="en-US" sz="2400" b="0" i="1">
                              <a:latin typeface="Cambria Math" panose="02040503050406030204" pitchFamily="18" charset="0"/>
                              <a:cs typeface="Arial" panose="020B0604020202020204" pitchFamily="34" charset="0"/>
                            </a:rPr>
                          </m:ctrlPr>
                        </m:dPr>
                        <m:e>
                          <m:sSub>
                            <m:sSubPr>
                              <m:ctrlPr>
                                <a:rPr lang="en-US" sz="2400" i="1">
                                  <a:latin typeface="Cambria Math" panose="02040503050406030204" pitchFamily="18" charset="0"/>
                                  <a:cs typeface="Arial" panose="020B0604020202020204" pitchFamily="34" charset="0"/>
                                </a:rPr>
                              </m:ctrlPr>
                            </m:sSubPr>
                            <m:e>
                              <m:r>
                                <a:rPr lang="en-US" sz="2400" i="1">
                                  <a:latin typeface="Cambria Math" panose="02040503050406030204" pitchFamily="18" charset="0"/>
                                  <a:cs typeface="Arial" panose="020B0604020202020204" pitchFamily="34" charset="0"/>
                                </a:rPr>
                                <m:t>𝐿</m:t>
                              </m:r>
                            </m:e>
                            <m:sub>
                              <m:r>
                                <m:rPr>
                                  <m:sty m:val="p"/>
                                </m:rPr>
                                <a:rPr lang="en-US" sz="2400">
                                  <a:latin typeface="Cambria Math" panose="02040503050406030204" pitchFamily="18" charset="0"/>
                                  <a:cs typeface="Arial" panose="020B0604020202020204" pitchFamily="34" charset="0"/>
                                </a:rPr>
                                <m:t>c</m:t>
                              </m:r>
                            </m:sub>
                          </m:sSub>
                          <m:r>
                            <a:rPr lang="en-US" sz="2400" b="0" i="1">
                              <a:latin typeface="Cambria Math" panose="02040503050406030204" pitchFamily="18" charset="0"/>
                              <a:cs typeface="Arial" panose="020B0604020202020204" pitchFamily="34" charset="0"/>
                            </a:rPr>
                            <m:t>,</m:t>
                          </m:r>
                          <m:r>
                            <a:rPr lang="en-US" sz="2400" b="0" i="1">
                              <a:latin typeface="Cambria Math" panose="02040503050406030204" pitchFamily="18" charset="0"/>
                              <a:cs typeface="Arial" panose="020B0604020202020204" pitchFamily="34" charset="0"/>
                            </a:rPr>
                            <m:t>𝑡</m:t>
                          </m:r>
                        </m:e>
                      </m:d>
                      <m:r>
                        <a:rPr lang="en-US" sz="2400" b="0" i="1" smtClean="0">
                          <a:latin typeface="Cambria Math" panose="02040503050406030204" pitchFamily="18" charset="0"/>
                          <a:cs typeface="Arial" panose="020B0604020202020204" pitchFamily="34" charset="0"/>
                        </a:rPr>
                        <m:t>⋅</m:t>
                      </m:r>
                      <m:r>
                        <m:rPr>
                          <m:sty m:val="p"/>
                        </m:rPr>
                        <a:rPr lang="en-US" sz="2400" b="0" i="0" smtClean="0">
                          <a:latin typeface="Cambria Math" panose="02040503050406030204" pitchFamily="18" charset="0"/>
                          <a:cs typeface="Arial" panose="020B0604020202020204" pitchFamily="34" charset="0"/>
                        </a:rPr>
                        <m:t>exp</m:t>
                      </m:r>
                      <m:d>
                        <m:dPr>
                          <m:begChr m:val="["/>
                          <m:endChr m:val="]"/>
                          <m:ctrlPr>
                            <a:rPr lang="en-US" sz="2400" b="0" i="1">
                              <a:latin typeface="Cambria Math" panose="02040503050406030204" pitchFamily="18" charset="0"/>
                              <a:cs typeface="Arial" panose="020B0604020202020204" pitchFamily="34" charset="0"/>
                            </a:rPr>
                          </m:ctrlPr>
                        </m:dPr>
                        <m:e>
                          <m:r>
                            <a:rPr lang="en-US" sz="2400" b="0" i="1">
                              <a:latin typeface="Cambria Math" panose="02040503050406030204" pitchFamily="18" charset="0"/>
                              <a:cs typeface="Arial" panose="020B0604020202020204" pitchFamily="34" charset="0"/>
                            </a:rPr>
                            <m:t>−</m:t>
                          </m:r>
                          <m:f>
                            <m:fPr>
                              <m:ctrlPr>
                                <a:rPr lang="en-US" sz="2400" b="0" i="1">
                                  <a:latin typeface="Cambria Math" panose="02040503050406030204" pitchFamily="18" charset="0"/>
                                  <a:cs typeface="Arial" panose="020B0604020202020204" pitchFamily="34" charset="0"/>
                                </a:rPr>
                              </m:ctrlPr>
                            </m:fPr>
                            <m:num>
                              <m:r>
                                <a:rPr lang="en-US" sz="2400" b="0" i="1">
                                  <a:latin typeface="Cambria Math" panose="02040503050406030204" pitchFamily="18" charset="0"/>
                                  <a:cs typeface="Arial" panose="020B0604020202020204" pitchFamily="34" charset="0"/>
                                </a:rPr>
                                <m:t>1</m:t>
                              </m:r>
                            </m:num>
                            <m:den>
                              <m:r>
                                <a:rPr lang="en-US" sz="2400" b="0" i="1">
                                  <a:latin typeface="Cambria Math" panose="02040503050406030204" pitchFamily="18" charset="0"/>
                                  <a:cs typeface="Arial" panose="020B0604020202020204" pitchFamily="34" charset="0"/>
                                </a:rPr>
                                <m:t>2</m:t>
                              </m:r>
                            </m:den>
                          </m:f>
                          <m:sSup>
                            <m:sSupPr>
                              <m:ctrlPr>
                                <a:rPr lang="en-US" sz="2400" b="0" i="1">
                                  <a:latin typeface="Cambria Math" panose="02040503050406030204" pitchFamily="18" charset="0"/>
                                  <a:cs typeface="Arial" panose="020B0604020202020204" pitchFamily="34" charset="0"/>
                                </a:rPr>
                              </m:ctrlPr>
                            </m:sSupPr>
                            <m:e>
                              <m:d>
                                <m:dPr>
                                  <m:ctrlPr>
                                    <a:rPr lang="en-US" sz="2400" b="0" i="1">
                                      <a:latin typeface="Cambria Math" panose="02040503050406030204" pitchFamily="18" charset="0"/>
                                      <a:cs typeface="Arial" panose="020B0604020202020204" pitchFamily="34" charset="0"/>
                                    </a:rPr>
                                  </m:ctrlPr>
                                </m:dPr>
                                <m:e>
                                  <m:f>
                                    <m:fPr>
                                      <m:ctrlPr>
                                        <a:rPr lang="en-US" sz="2400" b="0" i="1">
                                          <a:latin typeface="Cambria Math" panose="02040503050406030204" pitchFamily="18" charset="0"/>
                                          <a:cs typeface="Arial" panose="020B0604020202020204" pitchFamily="34" charset="0"/>
                                        </a:rPr>
                                      </m:ctrlPr>
                                    </m:fPr>
                                    <m:num>
                                      <m:r>
                                        <a:rPr lang="en-US" sz="2400" i="1">
                                          <a:latin typeface="Cambria Math" panose="02040503050406030204" pitchFamily="18" charset="0"/>
                                          <a:cs typeface="Arial" panose="020B0604020202020204" pitchFamily="34" charset="0"/>
                                        </a:rPr>
                                        <m:t>𝑟</m:t>
                                      </m:r>
                                      <m:r>
                                        <a:rPr lang="en-US" sz="2400" i="1">
                                          <a:latin typeface="Cambria Math" panose="02040503050406030204" pitchFamily="18" charset="0"/>
                                          <a:cs typeface="Arial" panose="020B0604020202020204" pitchFamily="34" charset="0"/>
                                        </a:rPr>
                                        <m:t> −</m:t>
                                      </m:r>
                                      <m:r>
                                        <a:rPr lang="en-US" sz="2400" i="1">
                                          <a:latin typeface="Cambria Math" panose="02040503050406030204" pitchFamily="18" charset="0"/>
                                          <a:cs typeface="Arial" panose="020B0604020202020204" pitchFamily="34" charset="0"/>
                                        </a:rPr>
                                        <m:t>𝜇</m:t>
                                      </m:r>
                                      <m:sSub>
                                        <m:sSubPr>
                                          <m:ctrlPr>
                                            <a:rPr lang="en-US" sz="2400" i="1">
                                              <a:latin typeface="Cambria Math" panose="02040503050406030204" pitchFamily="18" charset="0"/>
                                              <a:cs typeface="Arial" panose="020B0604020202020204" pitchFamily="34" charset="0"/>
                                            </a:rPr>
                                          </m:ctrlPr>
                                        </m:sSubPr>
                                        <m:e>
                                          <m:d>
                                            <m:dPr>
                                              <m:ctrlPr>
                                                <a:rPr lang="en-US" sz="2400" i="1">
                                                  <a:latin typeface="Cambria Math" panose="02040503050406030204" pitchFamily="18" charset="0"/>
                                                  <a:cs typeface="Arial" panose="020B0604020202020204" pitchFamily="34" charset="0"/>
                                                </a:rPr>
                                              </m:ctrlPr>
                                            </m:dPr>
                                            <m:e>
                                              <m:sSub>
                                                <m:sSubPr>
                                                  <m:ctrlPr>
                                                    <a:rPr lang="en-US" sz="2400" i="1">
                                                      <a:latin typeface="Cambria Math" panose="02040503050406030204" pitchFamily="18" charset="0"/>
                                                      <a:cs typeface="Arial" panose="020B0604020202020204" pitchFamily="34" charset="0"/>
                                                    </a:rPr>
                                                  </m:ctrlPr>
                                                </m:sSubPr>
                                                <m:e>
                                                  <m:r>
                                                    <a:rPr lang="en-US" sz="2400" i="1">
                                                      <a:latin typeface="Cambria Math" panose="02040503050406030204" pitchFamily="18" charset="0"/>
                                                      <a:cs typeface="Arial" panose="020B0604020202020204" pitchFamily="34" charset="0"/>
                                                    </a:rPr>
                                                    <m:t>𝐿</m:t>
                                                  </m:r>
                                                </m:e>
                                                <m:sub>
                                                  <m:r>
                                                    <m:rPr>
                                                      <m:sty m:val="p"/>
                                                    </m:rPr>
                                                    <a:rPr lang="en-US" sz="2400">
                                                      <a:latin typeface="Cambria Math" panose="02040503050406030204" pitchFamily="18" charset="0"/>
                                                      <a:cs typeface="Arial" panose="020B0604020202020204" pitchFamily="34" charset="0"/>
                                                    </a:rPr>
                                                    <m:t>c</m:t>
                                                  </m:r>
                                                </m:sub>
                                              </m:sSub>
                                            </m:e>
                                          </m:d>
                                          <m:r>
                                            <a:rPr lang="en-US" sz="2400" i="1">
                                              <a:latin typeface="Cambria Math" panose="02040503050406030204" pitchFamily="18" charset="0"/>
                                              <a:cs typeface="Arial" panose="020B0604020202020204" pitchFamily="34" charset="0"/>
                                            </a:rPr>
                                            <m:t>𝑅</m:t>
                                          </m:r>
                                        </m:e>
                                        <m:sub>
                                          <m:r>
                                            <m:rPr>
                                              <m:sty m:val="p"/>
                                            </m:rPr>
                                            <a:rPr lang="en-US" sz="2400">
                                              <a:latin typeface="Cambria Math" panose="02040503050406030204" pitchFamily="18" charset="0"/>
                                              <a:cs typeface="Arial" panose="020B0604020202020204" pitchFamily="34" charset="0"/>
                                            </a:rPr>
                                            <m:t>c</m:t>
                                          </m:r>
                                        </m:sub>
                                      </m:sSub>
                                      <m:r>
                                        <a:rPr lang="en-US" sz="2400" i="1">
                                          <a:latin typeface="Cambria Math" panose="02040503050406030204" pitchFamily="18" charset="0"/>
                                          <a:cs typeface="Arial" panose="020B0604020202020204" pitchFamily="34" charset="0"/>
                                        </a:rPr>
                                        <m:t>(</m:t>
                                      </m:r>
                                      <m:r>
                                        <a:rPr lang="en-US" sz="2400" i="1">
                                          <a:latin typeface="Cambria Math" panose="02040503050406030204" pitchFamily="18" charset="0"/>
                                          <a:cs typeface="Arial" panose="020B0604020202020204" pitchFamily="34" charset="0"/>
                                        </a:rPr>
                                        <m:t>𝑡</m:t>
                                      </m:r>
                                      <m:r>
                                        <a:rPr lang="en-US" sz="2400" i="1">
                                          <a:latin typeface="Cambria Math" panose="02040503050406030204" pitchFamily="18" charset="0"/>
                                          <a:cs typeface="Arial" panose="020B0604020202020204" pitchFamily="34" charset="0"/>
                                        </a:rPr>
                                        <m:t>)</m:t>
                                      </m:r>
                                    </m:num>
                                    <m:den>
                                      <m:r>
                                        <a:rPr lang="en-US" sz="2400" b="0" i="1">
                                          <a:latin typeface="Cambria Math" panose="02040503050406030204" pitchFamily="18" charset="0"/>
                                          <a:cs typeface="Arial" panose="020B0604020202020204" pitchFamily="34" charset="0"/>
                                        </a:rPr>
                                        <m:t>𝜎</m:t>
                                      </m:r>
                                      <m:d>
                                        <m:dPr>
                                          <m:ctrlPr>
                                            <a:rPr lang="en-US" sz="2400" b="0" i="1">
                                              <a:latin typeface="Cambria Math" panose="02040503050406030204" pitchFamily="18" charset="0"/>
                                              <a:cs typeface="Arial" panose="020B0604020202020204" pitchFamily="34" charset="0"/>
                                            </a:rPr>
                                          </m:ctrlPr>
                                        </m:dPr>
                                        <m:e>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𝐿</m:t>
                                              </m:r>
                                            </m:e>
                                            <m:sub>
                                              <m:r>
                                                <m:rPr>
                                                  <m:sty m:val="p"/>
                                                </m:rPr>
                                                <a:rPr lang="en-US" sz="2400" b="0" i="0">
                                                  <a:latin typeface="Cambria Math" panose="02040503050406030204" pitchFamily="18" charset="0"/>
                                                  <a:cs typeface="Arial" panose="020B0604020202020204" pitchFamily="34" charset="0"/>
                                                </a:rPr>
                                                <m:t>c</m:t>
                                              </m:r>
                                            </m:sub>
                                          </m:sSub>
                                          <m:r>
                                            <a:rPr lang="en-US" sz="2400" b="0" i="1">
                                              <a:latin typeface="Cambria Math" panose="02040503050406030204" pitchFamily="18" charset="0"/>
                                              <a:cs typeface="Arial" panose="020B0604020202020204" pitchFamily="34" charset="0"/>
                                            </a:rPr>
                                            <m:t>,</m:t>
                                          </m:r>
                                          <m:r>
                                            <a:rPr lang="en-US" sz="2400" b="0" i="1">
                                              <a:latin typeface="Cambria Math" panose="02040503050406030204" pitchFamily="18" charset="0"/>
                                              <a:cs typeface="Arial" panose="020B0604020202020204" pitchFamily="34" charset="0"/>
                                            </a:rPr>
                                            <m:t>𝑡</m:t>
                                          </m:r>
                                        </m:e>
                                      </m:d>
                                      <m:sSub>
                                        <m:sSubPr>
                                          <m:ctrlPr>
                                            <a:rPr lang="en-US" sz="2400" b="0" i="1">
                                              <a:latin typeface="Cambria Math" panose="02040503050406030204" pitchFamily="18" charset="0"/>
                                              <a:cs typeface="Arial" panose="020B0604020202020204" pitchFamily="34" charset="0"/>
                                            </a:rPr>
                                          </m:ctrlPr>
                                        </m:sSubPr>
                                        <m:e>
                                          <m:r>
                                            <a:rPr lang="en-US" sz="2400" b="0" i="1">
                                              <a:latin typeface="Cambria Math" panose="02040503050406030204" pitchFamily="18" charset="0"/>
                                              <a:cs typeface="Arial" panose="020B0604020202020204" pitchFamily="34" charset="0"/>
                                            </a:rPr>
                                            <m:t>𝑅</m:t>
                                          </m:r>
                                        </m:e>
                                        <m:sub>
                                          <m:r>
                                            <m:rPr>
                                              <m:sty m:val="p"/>
                                            </m:rPr>
                                            <a:rPr lang="en-US" sz="2400" b="0" i="0">
                                              <a:latin typeface="Cambria Math" panose="02040503050406030204" pitchFamily="18" charset="0"/>
                                              <a:cs typeface="Arial" panose="020B0604020202020204" pitchFamily="34" charset="0"/>
                                            </a:rPr>
                                            <m:t>c</m:t>
                                          </m:r>
                                        </m:sub>
                                      </m:sSub>
                                      <m:r>
                                        <a:rPr lang="en-US" sz="2400" b="0" i="1">
                                          <a:latin typeface="Cambria Math" panose="02040503050406030204" pitchFamily="18" charset="0"/>
                                          <a:cs typeface="Arial" panose="020B0604020202020204" pitchFamily="34" charset="0"/>
                                        </a:rPr>
                                        <m:t>(</m:t>
                                      </m:r>
                                      <m:r>
                                        <a:rPr lang="en-US" sz="2400" b="0" i="1">
                                          <a:latin typeface="Cambria Math" panose="02040503050406030204" pitchFamily="18" charset="0"/>
                                          <a:cs typeface="Arial" panose="020B0604020202020204" pitchFamily="34" charset="0"/>
                                        </a:rPr>
                                        <m:t>𝑡</m:t>
                                      </m:r>
                                      <m:r>
                                        <a:rPr lang="en-US" sz="2400" b="0" i="1">
                                          <a:latin typeface="Cambria Math" panose="02040503050406030204" pitchFamily="18" charset="0"/>
                                          <a:cs typeface="Arial" panose="020B0604020202020204" pitchFamily="34" charset="0"/>
                                        </a:rPr>
                                        <m:t>)</m:t>
                                      </m:r>
                                    </m:den>
                                  </m:f>
                                </m:e>
                              </m:d>
                            </m:e>
                            <m:sup>
                              <m:r>
                                <a:rPr lang="en-US" sz="2400" b="0" i="1">
                                  <a:latin typeface="Cambria Math" panose="02040503050406030204" pitchFamily="18" charset="0"/>
                                  <a:cs typeface="Arial" panose="020B0604020202020204" pitchFamily="34" charset="0"/>
                                </a:rPr>
                                <m:t>2</m:t>
                              </m:r>
                            </m:sup>
                          </m:sSup>
                        </m:e>
                      </m:d>
                    </m:oMath>
                  </m:oMathPara>
                </a14:m>
                <a:endParaRPr lang="en-US" sz="24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C548A838-A504-DF83-1E3D-AD59C5A49EDE}"/>
                  </a:ext>
                </a:extLst>
              </p:cNvPr>
              <p:cNvSpPr>
                <a:spLocks noGrp="1" noRot="1" noChangeAspect="1" noMove="1" noResize="1" noEditPoints="1" noAdjustHandles="1" noChangeArrowheads="1" noChangeShapeType="1" noTextEdit="1"/>
              </p:cNvSpPr>
              <p:nvPr>
                <p:ph idx="1"/>
              </p:nvPr>
            </p:nvSpPr>
            <p:spPr>
              <a:xfrm>
                <a:off x="1285240" y="2969469"/>
                <a:ext cx="8074815" cy="2800395"/>
              </a:xfrm>
              <a:blipFill>
                <a:blip r:embed="rId2"/>
                <a:stretch>
                  <a:fillRect l="-1057" t="-2826" r="-12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59948E4-F359-2700-9041-09F5E90855BB}"/>
              </a:ext>
            </a:extLst>
          </p:cNvPr>
          <p:cNvSpPr>
            <a:spLocks noGrp="1"/>
          </p:cNvSpPr>
          <p:nvPr>
            <p:ph type="sldNum" sz="quarter" idx="12"/>
          </p:nvPr>
        </p:nvSpPr>
        <p:spPr>
          <a:xfrm>
            <a:off x="9683496" y="4892040"/>
            <a:ext cx="1673352" cy="1005840"/>
          </a:xfrm>
        </p:spPr>
        <p:txBody>
          <a:bodyPr>
            <a:normAutofit/>
          </a:bodyPr>
          <a:lstStyle/>
          <a:p>
            <a:pPr>
              <a:lnSpc>
                <a:spcPct val="90000"/>
              </a:lnSpc>
              <a:spcAft>
                <a:spcPts val="600"/>
              </a:spcAft>
            </a:pPr>
            <a:fld id="{FFA44557-6723-474F-8BC8-E80F4E6DF2E8}" type="slidenum">
              <a:rPr lang="en-US" sz="6600">
                <a:solidFill>
                  <a:srgbClr val="FFFFFF"/>
                </a:solidFill>
              </a:rPr>
              <a:pPr>
                <a:lnSpc>
                  <a:spcPct val="90000"/>
                </a:lnSpc>
                <a:spcAft>
                  <a:spcPts val="600"/>
                </a:spcAft>
              </a:pPr>
              <a:t>24</a:t>
            </a:fld>
            <a:endParaRPr lang="en-US" sz="6600">
              <a:solidFill>
                <a:srgbClr val="FFFFFF"/>
              </a:solidFill>
            </a:endParaRPr>
          </a:p>
        </p:txBody>
      </p:sp>
    </p:spTree>
    <p:extLst>
      <p:ext uri="{BB962C8B-B14F-4D97-AF65-F5344CB8AC3E}">
        <p14:creationId xmlns:p14="http://schemas.microsoft.com/office/powerpoint/2010/main" val="704645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CA10D9-B9DF-E6CF-89E2-ACFDCB7D34C4}"/>
            </a:ext>
          </a:extLst>
        </p:cNvPr>
        <p:cNvGrpSpPr/>
        <p:nvPr/>
      </p:nvGrpSpPr>
      <p:grpSpPr>
        <a:xfrm>
          <a:off x="0" y="0"/>
          <a:ext cx="0" cy="0"/>
          <a:chOff x="0" y="0"/>
          <a:chExt cx="0" cy="0"/>
        </a:xfrm>
      </p:grpSpPr>
      <p:sp>
        <p:nvSpPr>
          <p:cNvPr id="362" name="Rectangle 361">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4" name="Oval 363">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6" name="Oval 365">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368" name="Oval 367">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938B0F6-4580-8A4E-2920-E8883F6962E5}"/>
              </a:ext>
            </a:extLst>
          </p:cNvPr>
          <p:cNvSpPr>
            <a:spLocks noGrp="1"/>
          </p:cNvSpPr>
          <p:nvPr>
            <p:ph type="title"/>
          </p:nvPr>
        </p:nvSpPr>
        <p:spPr>
          <a:xfrm>
            <a:off x="3614880" y="788552"/>
            <a:ext cx="5204489" cy="3160593"/>
          </a:xfrm>
        </p:spPr>
        <p:txBody>
          <a:bodyPr vert="horz" lIns="91440" tIns="45720" rIns="91440" bIns="45720" rtlCol="0" anchor="b">
            <a:normAutofit/>
          </a:bodyPr>
          <a:lstStyle/>
          <a:p>
            <a:pPr algn="ctr"/>
            <a:r>
              <a:rPr lang="en-US" sz="6500" b="0" kern="1200" dirty="0">
                <a:solidFill>
                  <a:schemeClr val="bg1"/>
                </a:solidFill>
                <a:effectLst/>
                <a:latin typeface="Chiller" panose="04020404031007020602" pitchFamily="82" charset="0"/>
              </a:rPr>
              <a:t>The End</a:t>
            </a:r>
            <a:br>
              <a:rPr lang="en-US" sz="5400" b="0" kern="1200" dirty="0">
                <a:solidFill>
                  <a:schemeClr val="bg1"/>
                </a:solidFill>
                <a:effectLst/>
                <a:latin typeface="+mj-lt"/>
                <a:ea typeface="+mj-ea"/>
                <a:cs typeface="+mj-cs"/>
              </a:rPr>
            </a:br>
            <a:endParaRPr lang="en-US" sz="5400" kern="1200" dirty="0">
              <a:solidFill>
                <a:schemeClr val="bg1"/>
              </a:solidFill>
              <a:latin typeface="+mj-lt"/>
              <a:ea typeface="+mj-ea"/>
              <a:cs typeface="+mj-cs"/>
            </a:endParaRPr>
          </a:p>
        </p:txBody>
      </p:sp>
      <p:sp>
        <p:nvSpPr>
          <p:cNvPr id="370"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72"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374"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375" name="Freeform: Shape 374">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376" name="Freeform: Shape 375">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378" name="Oval 377">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0" name="Oval 379">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82"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383" name="Freeform: Shape 382">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84" name="Freeform: Shape 383">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85" name="Freeform: Shape 384">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86" name="Freeform: Shape 385">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87" name="Freeform: Shape 386">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88" name="Freeform: Shape 387">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89" name="Freeform: Shape 388">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90" name="Freeform: Shape 389">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91" name="Freeform: Shape 390">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4" name="Freeform: Shape 393">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5" name="Freeform: Shape 394">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96" name="Freeform: Shape 395">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7" name="Freeform: Shape 396">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98" name="Freeform: Shape 397">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99" name="Freeform: Shape 398">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0" name="Freeform: Shape 399">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1" name="Freeform: Shape 400">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2" name="Freeform: Shape 401">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03" name="Freeform: Shape 402">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4" name="Freeform: Shape 403">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05" name="Freeform: Shape 404">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6" name="Freeform: Shape 405">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7" name="Freeform: Shape 406">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8" name="Freeform: Shape 407">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9" name="Freeform: Shape 408">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10" name="Freeform: Shape 409">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1" name="Freeform: Shape 410">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12" name="Freeform: Shape 411">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13" name="Freeform: Shape 412">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14" name="Freeform: Shape 413">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15" name="Freeform: Shape 414">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16" name="Freeform: Shape 415">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17" name="Freeform: Shape 416">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18" name="Freeform: Shape 417">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19" name="Freeform: Shape 418">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0" name="Freeform: Shape 419">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1" name="Freeform: Shape 420">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2" name="Freeform: Shape 421">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3" name="Freeform: Shape 422">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4" name="Freeform: Shape 423">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5" name="Freeform: Shape 424">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26" name="Freeform: Shape 425">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7" name="Freeform: Shape 426">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8" name="Freeform: Shape 427">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9" name="Freeform: Shape 428">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30" name="Freeform: Shape 429">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31" name="Freeform: Shape 430">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32" name="Freeform: Shape 431">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64" name="Freeform: Shape 463">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465" name="Freeform: Shape 464">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4" name="Freeform: Shape 513">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6" name="Freeform: Shape 515">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17" name="Freeform: Shape 516">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18" name="Freeform: Shape 517">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519" name="Freeform: Shape 518">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20" name="Freeform: Shape 519">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521" name="Freeform: Shape 520">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22" name="Freeform: Shape 521">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23" name="Freeform: Shape 522">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24" name="Freeform: Shape 523">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25" name="Freeform: Shape 524">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31" name="Freeform: Shape 530">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43" name="Freeform: Shape 542">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4" name="Freeform: Shape 543">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45" name="Freeform: Shape 544">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6" name="Freeform: Shape 545">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7" name="Freeform: Shape 546">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8" name="Freeform: Shape 547">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549" name="Freeform: Shape 548">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0" name="Freeform: Shape 549">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551" name="Freeform: Shape 550">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2" name="Slide Number Placeholder 1">
            <a:extLst>
              <a:ext uri="{FF2B5EF4-FFF2-40B4-BE49-F238E27FC236}">
                <a16:creationId xmlns:a16="http://schemas.microsoft.com/office/drawing/2014/main" id="{65BCDE84-FB23-31C4-4A1F-9C5F49A162B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FFA44557-6723-474F-8BC8-E80F4E6DF2E8}" type="slidenum">
              <a:rPr lang="en-US">
                <a:solidFill>
                  <a:schemeClr val="bg1"/>
                </a:solidFill>
              </a:rPr>
              <a:pPr>
                <a:spcAft>
                  <a:spcPts val="600"/>
                </a:spcAft>
              </a:pPr>
              <a:t>25</a:t>
            </a:fld>
            <a:endParaRPr lang="en-US">
              <a:solidFill>
                <a:schemeClr val="bg1"/>
              </a:solidFill>
            </a:endParaRPr>
          </a:p>
        </p:txBody>
      </p:sp>
    </p:spTree>
    <p:extLst>
      <p:ext uri="{BB962C8B-B14F-4D97-AF65-F5344CB8AC3E}">
        <p14:creationId xmlns:p14="http://schemas.microsoft.com/office/powerpoint/2010/main" val="202483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687</TotalTime>
  <Words>763</Words>
  <Application>Microsoft Office PowerPoint</Application>
  <PresentationFormat>Widescreen</PresentationFormat>
  <Paragraphs>156</Paragraphs>
  <Slides>25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Aptos Display</vt:lpstr>
      <vt:lpstr>Arial</vt:lpstr>
      <vt:lpstr>Arial Black</vt:lpstr>
      <vt:lpstr>Arial Bold</vt:lpstr>
      <vt:lpstr>Cambria Math</vt:lpstr>
      <vt:lpstr>Chiller</vt:lpstr>
      <vt:lpstr>Wingdings</vt:lpstr>
      <vt:lpstr>Office Theme</vt:lpstr>
      <vt:lpstr>Gaussian Distribution of PID Cloud Fragments</vt:lpstr>
      <vt:lpstr>Motivation</vt:lpstr>
      <vt:lpstr>Presentation Outline</vt:lpstr>
      <vt:lpstr>I.   Packing Density Model</vt:lpstr>
      <vt:lpstr>PID Cloud Formation</vt:lpstr>
      <vt:lpstr>Solid Sphere vs. PID Cloud</vt:lpstr>
      <vt:lpstr>Packing Density &amp; Mass Conservation</vt:lpstr>
      <vt:lpstr>Packing Density &amp; Mass Conservation</vt:lpstr>
      <vt:lpstr>II.   Spatial Distribution Considerations and Fragment Size</vt:lpstr>
      <vt:lpstr>Caveats of Packing Density Model</vt:lpstr>
      <vt:lpstr>II.2   Gaussian Distribution</vt:lpstr>
      <vt:lpstr>Postulates</vt:lpstr>
      <vt:lpstr>Normal Distribution Function</vt:lpstr>
      <vt:lpstr>II.2   Size Dependency</vt:lpstr>
      <vt:lpstr>Characteristic Length</vt:lpstr>
      <vt:lpstr>Size Dependency of Parameters</vt:lpstr>
      <vt:lpstr>III.   Time Evolution of Debris Cloud </vt:lpstr>
      <vt:lpstr>Transition from Sphere</vt:lpstr>
      <vt:lpstr>Temporal Evolution of ρ_0 </vt:lpstr>
      <vt:lpstr>IV.   Orbital Mechanics</vt:lpstr>
      <vt:lpstr>Gravitational Acceleration</vt:lpstr>
      <vt:lpstr>Perturbation Forces</vt:lpstr>
      <vt:lpstr>Perturbation Impact on Dispersion</vt:lpstr>
      <vt:lpstr>Final Mass Density</vt:lpstr>
      <vt:lpstr>The End </vt:lpstr>
    </vt:vector>
  </TitlesOfParts>
  <Company>The Boeing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Modjtahedzadeh (US), Kamyar</dc:creator>
  <cp:lastModifiedBy>Modjtahedzadeh (US), Kamyar</cp:lastModifiedBy>
  <cp:revision>138</cp:revision>
  <dcterms:created xsi:type="dcterms:W3CDTF">2025-04-30T16:50:28Z</dcterms:created>
  <dcterms:modified xsi:type="dcterms:W3CDTF">2025-05-02T14:44:24Z</dcterms:modified>
</cp:coreProperties>
</file>